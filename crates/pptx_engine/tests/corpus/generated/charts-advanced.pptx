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/>
              <a:t>Revenue and operating margin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FY20</c:v>
                </c:pt>
                <c:pt idx="1">
                  <c:v>FY21</c:v>
                </c:pt>
                <c:pt idx="2">
                  <c:v>FY22</c:v>
                </c:pt>
                <c:pt idx="3">
                  <c:v>FY23</c:v>
                </c:pt>
                <c:pt idx="4">
                  <c:v>FY24</c:v>
                </c:pt>
              </c:strCache>
            </c:strRef>
          </c:cat>
          <c:val>
            <c:numRef>
              <c:f>Sheet1!$B$2:$B$6</c:f>
              <c:numCache>
                <c:formatCode>0.00</c:formatCode>
                <c:ptCount val="5"/>
                <c:pt idx="0">
                  <c:v>88</c:v>
                </c:pt>
                <c:pt idx="1">
                  <c:v>97</c:v>
                </c:pt>
                <c:pt idx="2">
                  <c:v>104</c:v>
                </c:pt>
                <c:pt idx="3">
                  <c:v>118</c:v>
                </c:pt>
                <c:pt idx="4">
                  <c:v>132</c:v>
                </c:pt>
              </c:numCache>
            </c:numRef>
          </c:val>
        </c:ser>
        <c:axId val="2226939960"/>
        <c:axId val="2180972856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Operating margin</c:v>
                </c:pt>
              </c:strCache>
            </c:strRef>
          </c:tx>
          <c:spPr>
            <a:ln w="31750" cap="rnd">
              <a:solidFill>
                <a:srgbClr val="ED7D31"/>
              </a:solidFill>
              <a:round/>
            </a:ln>
          </c:spPr>
          <c:marker>
            <c:symbol val="circle"/>
            <c:size val="7"/>
          </c:marker>
          <c:cat>
            <c:strRef>
              <c:f>Sheet1!$A$2:$A$6</c:f>
              <c:strCache>
                <c:ptCount val="5"/>
                <c:pt idx="0">
                  <c:v>FY20</c:v>
                </c:pt>
                <c:pt idx="1">
                  <c:v>FY21</c:v>
                </c:pt>
                <c:pt idx="2">
                  <c:v>FY22</c:v>
                </c:pt>
                <c:pt idx="3">
                  <c:v>FY23</c:v>
                </c:pt>
                <c:pt idx="4">
                  <c:v>FY24</c:v>
                </c:pt>
              </c:strCache>
            </c:strRef>
          </c:cat>
          <c:val>
            <c:numRef>
              <c:f>Sheet1!$C$2:$C$6</c:f>
              <c:numCache>
                <c:formatCode>0.00</c:formatCode>
                <c:ptCount val="5"/>
                <c:pt idx="0">
                  <c:v>0.18</c:v>
                </c:pt>
                <c:pt idx="1">
                  <c:v>0.2</c:v>
                </c:pt>
                <c:pt idx="2">
                  <c:v>0.19</c:v>
                </c:pt>
                <c:pt idx="3">
                  <c:v>0.22</c:v>
                </c:pt>
                <c:pt idx="4">
                  <c:v>0.25</c:v>
                </c:pt>
              </c:numCache>
            </c:numRef>
          </c:val>
          <c:smooth val="0"/>
        </c:ser>
        <c:marker val="1"/>
        <c:axId val="50020001"/>
        <c:axId val="50020002"/>
      </c:lineChart>
      <c:catAx>
        <c:axId val="2226939960"/>
        <c:scaling>
          <c:orientation val="minMax"/>
        </c:scaling>
        <c:delete val="0"/>
        <c:axPos val="b"/>
        <c:majorTickMark val="out"/>
        <c:minorTickMark val="none"/>
        <c:tickLblPos val="nextTo"/>
        <c:crossAx val="2180972856"/>
        <c:crosses val="autoZero"/>
        <c:auto val="1"/>
        <c:lblAlgn val="ctr"/>
        <c:lblOffset val="100"/>
        <c:noMultiLvlLbl val="0"/>
      </c:catAx>
      <c:valAx>
        <c:axId val="2180972856"/>
        <c:scaling/>
        <c:delete val="0"/>
        <c:axPos val="l"/>
        <c:majorGridlines/>
        <c:majorTickMark val="out"/>
        <c:minorTickMark val="none"/>
        <c:tickLblPos val="nextTo"/>
        <c:crossAx val="2226939960"/>
        <c:crosses val="autoZero"/>
      </c:valAx>
      <c:catAx>
        <c:axId val="50020001"/>
        <c:scaling>
          <c:orientation val="minMax"/>
        </c:scaling>
        <c:delete val="1"/>
        <c:axPos val="b"/>
        <c:majorTickMark val="out"/>
        <c:minorTickMark val="none"/>
        <c:tickLblPos val="nextTo"/>
        <c:crossAx val="50020002"/>
        <c:crosses val="autoZero"/>
        <c:auto val="1"/>
        <c:lblAlgn val="ctr"/>
        <c:lblOffset val="100"/>
        <c:noMultiLvlLbl val="0"/>
      </c:catAx>
      <c:valAx>
        <c:axId val="50020002"/>
        <c:scaling>
          <c:orientation val="minMax"/>
        </c:scaling>
        <c:delete val="0"/>
        <c:axPos val="r"/>
        <c:numFmt formatCode="0%" sourceLinked="0"/>
        <c:majorTickMark val="out"/>
        <c:minorTickMark val="none"/>
        <c:tickLblPos val="nextTo"/>
        <c:crossAx val="50020001"/>
        <c:crosses val="max"/>
        <c:crossBetween val="between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400"/>
              <a:t>Plan vs actual (XY)</a:t>
            </a:r>
          </a:p>
        </c:rich>
      </c:tx>
      <c:layout/>
      <c:overlay val="0"/>
    </c:title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xVal>
            <c:numRef>
              <c:f>Sheet1!$A$2:$A$6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numCache>
            </c:numRef>
          </c:xVal>
          <c:yVal>
            <c:numRef>
              <c:f>Sheet1!$B$2:$B$6</c:f>
              <c:numCache>
                <c:formatCode>General</c:formatCode>
                <c:ptCount val="5"/>
                <c:pt idx="0">
                  <c:v>2.0</c:v>
                </c:pt>
                <c:pt idx="1">
                  <c:v>2.8</c:v>
                </c:pt>
                <c:pt idx="2">
                  <c:v>3.1</c:v>
                </c:pt>
                <c:pt idx="3">
                  <c:v>4.4</c:v>
                </c:pt>
                <c:pt idx="4">
                  <c:v>5.0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Sheet1!$B$8</c:f>
              <c:strCache>
                <c:ptCount val="1"/>
                <c:pt idx="0">
                  <c:v>Actual</c:v>
                </c:pt>
              </c:strCache>
            </c:strRef>
          </c:tx>
          <c:xVal>
            <c:numRef>
              <c:f>Sheet1!$A$9:$A$13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numCache>
            </c:numRef>
          </c:xVal>
          <c:yVal>
            <c:numRef>
              <c:f>Sheet1!$B$9:$B$13</c:f>
              <c:numCache>
                <c:formatCode>General</c:formatCode>
                <c:ptCount val="5"/>
                <c:pt idx="0">
                  <c:v>1.7</c:v>
                </c:pt>
                <c:pt idx="1">
                  <c:v>3.1</c:v>
                </c:pt>
                <c:pt idx="2">
                  <c:v>3.0</c:v>
                </c:pt>
                <c:pt idx="3">
                  <c:v>4.9</c:v>
                </c:pt>
                <c:pt idx="4">
                  <c:v>5.6</c:v>
                </c:pt>
              </c:numCache>
            </c:numRef>
          </c:yVal>
          <c:smooth val="0"/>
        </c:ser>
        <c:axId val="2166026424"/>
        <c:axId val="2165323384"/>
      </c:scatterChart>
      <c:valAx>
        <c:axId val="216602642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2165323384"/>
        <c:crosses val="autoZero"/>
        <c:crossBetween val="midCat"/>
      </c:valAx>
      <c:valAx>
        <c:axId val="2165323384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2166026424"/>
        <c:crosses val="autoZero"/>
        <c:crossBetween val="midCat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400"/>
              <a:t>Growth vs margin (bubble)</a:t>
            </a:r>
          </a:p>
        </c:rich>
      </c:tx>
      <c:layout/>
      <c:overlay val="0"/>
    </c:title>
    <c:autoTitleDeleted val="0"/>
    <c:plotArea>
      <c:layout/>
      <c:bubbl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Segments</c:v>
                </c:pt>
              </c:strCache>
            </c:strRef>
          </c:tx>
          <c:invertIfNegative val="0"/>
          <c:xVal>
            <c:numRef>
              <c:f>Sheet1!$A$2:$A$5</c:f>
              <c:numCache>
                <c:formatCode>General</c:formatCode>
                <c:ptCount val="4"/>
                <c:pt idx="0">
                  <c:v>5</c:v>
                </c:pt>
                <c:pt idx="1">
                  <c:v>9</c:v>
                </c:pt>
                <c:pt idx="2">
                  <c:v>14</c:v>
                </c:pt>
                <c:pt idx="3">
                  <c:v>18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12</c:v>
                </c:pt>
                <c:pt idx="1">
                  <c:v>18</c:v>
                </c:pt>
                <c:pt idx="2">
                  <c:v>9</c:v>
                </c:pt>
                <c:pt idx="3">
                  <c:v>22</c:v>
                </c:pt>
              </c:numCache>
            </c:numRef>
          </c:yVal>
          <c:bubbleSize>
            <c:numRef>
              <c:f>Sheet1!$C$2:$C$5</c:f>
              <c:numCache>
                <c:formatCode>General</c:formatCode>
                <c:ptCount val="4"/>
                <c:pt idx="0">
                  <c:v>30</c:v>
                </c:pt>
                <c:pt idx="1">
                  <c:v>60</c:v>
                </c:pt>
                <c:pt idx="2">
                  <c:v>20</c:v>
                </c:pt>
                <c:pt idx="3">
                  <c:v>80</c:v>
                </c:pt>
              </c:numCache>
            </c:numRef>
          </c:bubbleSize>
          <c:bubble3D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bubbleScale val="100"/>
        <c:showNegBubbles val="0"/>
        <c:axId val="2179247224"/>
        <c:axId val="2179243736"/>
      </c:bubbleChart>
      <c:valAx>
        <c:axId val="217924722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2179243736"/>
        <c:crosses val="autoZero"/>
        <c:crossBetween val="midCat"/>
      </c:valAx>
      <c:valAx>
        <c:axId val="217924373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2179247224"/>
        <c:crosses val="autoZero"/>
        <c:crossBetween val="midCat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title>
      <c:tx>
        <c:rich>
          <a:bodyPr/>
          <a:lstStyle/>
          <a:p>
            <a:r>
              <a:rPr sz="1400"/>
              <a:t>Scorecard</a:t>
            </a:r>
          </a:p>
        </c:rich>
      </c:tx>
      <c:layout/>
      <c:overlay val="0"/>
    </c:title>
    <c:autoTitleDeleted val="0"/>
    <c:plotArea>
      <c:layout/>
      <c:radarChart>
        <c:radarStyle val="fill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Liquidity</c:v>
                </c:pt>
                <c:pt idx="1">
                  <c:v>Leverage</c:v>
                </c:pt>
                <c:pt idx="2">
                  <c:v>Growth</c:v>
                </c:pt>
                <c:pt idx="3">
                  <c:v>Margin</c:v>
                </c:pt>
                <c:pt idx="4">
                  <c:v>Efficiency</c:v>
                </c:pt>
              </c:strCache>
            </c:strRef>
          </c:cat>
          <c:val>
            <c:numRef>
              <c:f>Sheet1!$B$2:$B$6</c:f>
              <c:numCache>
                <c:formatCode>#,##0</c:formatCode>
                <c:ptCount val="5"/>
                <c:pt idx="0">
                  <c:v>4</c:v>
                </c:pt>
                <c:pt idx="1">
                  <c:v>3</c:v>
                </c:pt>
                <c:pt idx="2">
                  <c:v>5</c:v>
                </c:pt>
                <c:pt idx="3">
                  <c:v>4</c:v>
                </c:pt>
                <c:pt idx="4">
                  <c:v>2</c:v>
                </c:pt>
              </c:numCache>
            </c:numRef>
          </c:val>
        </c:ser>
        <c:axId val="2073612648"/>
        <c:axId val="2182195080"/>
      </c:radarChart>
      <c:catAx>
        <c:axId val="2073612648"/>
        <c:scaling>
          <c:orientation val="minMax"/>
        </c:scaling>
        <c:delete val="0"/>
        <c:axPos val="b"/>
        <c:majorGridlines/>
        <c:numFmt formatCode="m/d/yy" sourceLinked="1"/>
        <c:majorTickMark val="out"/>
        <c:minorTickMark val="none"/>
        <c:tickLblPos val="nextTo"/>
        <c:crossAx val="2182195080"/>
        <c:crosses val="autoZero"/>
        <c:auto val="1"/>
        <c:lblAlgn val="ctr"/>
        <c:lblOffset val="100"/>
        <c:noMultiLvlLbl val="0"/>
      </c:catAx>
      <c:valAx>
        <c:axId val="2182195080"/>
        <c:scaling>
          <c:orientation val="minMax"/>
        </c:scaling>
        <c:delete val="0"/>
        <c:axPos val="l"/>
        <c:majorGridlines/>
        <c:numFmt formatCode="General" sourceLinked="1"/>
        <c:majorTickMark val="cross"/>
        <c:minorTickMark val="none"/>
        <c:tickLblPos val="nextTo"/>
        <c:crossAx val="2073612648"/>
        <c:crosses val="autoZero"/>
        <c:crossBetween val="between"/>
      </c:valAx>
    </c:plotArea>
    <c:legend>
      <c:legendPos val="b"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/>
              <a:t>Revenue by geography</a:t>
            </a:r>
          </a:p>
        </c:rich>
      </c:tx>
      <c:layout/>
      <c:overlay val="0"/>
    </c:title>
    <c:autoTitleDeleted val="0"/>
    <c:plotArea>
      <c:barChart>
        <c:barDir val="bar"/>
        <c:grouping val="percentStacked"/>
        <c:ser>
          <c:idx val="0"/>
          <c:order val="0"/>
          <c:tx>
            <c:strRef>
              <c:f>Sheet1!$B$1</c:f>
              <c:strCache>
                <c:ptCount val="1"/>
                <c:pt idx="0">
                  <c:v>Domestic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60</c:v>
                </c:pt>
                <c:pt idx="1">
                  <c:v>55</c:v>
                </c:pt>
                <c:pt idx="2">
                  <c:v>52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Europe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</c:strCache>
            </c:strRef>
          </c:cat>
          <c:val>
            <c:numRef>
              <c:f>Sheet1!$C$2:$C$4</c:f>
              <c:numCache>
                <c:formatCode>#,##0</c:formatCode>
                <c:ptCount val="3"/>
                <c:pt idx="0">
                  <c:v>25</c:v>
                </c:pt>
                <c:pt idx="1">
                  <c:v>28</c:v>
                </c:pt>
                <c:pt idx="2">
                  <c:v>30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Asia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</c:strCache>
            </c:strRef>
          </c:cat>
          <c:val>
            <c:numRef>
              <c:f>Sheet1!$D$2:$D$4</c:f>
              <c:numCache>
                <c:formatCode>#,##0</c:formatCode>
                <c:ptCount val="3"/>
                <c:pt idx="0">
                  <c:v>15</c:v>
                </c:pt>
                <c:pt idx="1">
                  <c:v>17</c:v>
                </c:pt>
                <c:pt idx="2">
                  <c:v>18</c:v>
                </c:pt>
              </c:numCache>
            </c:numRef>
          </c:val>
        </c:ser>
        <c:overlap val="100"/>
        <c:axId val="2226939960"/>
        <c:axId val="2180972856"/>
      </c:barChart>
      <c:catAx>
        <c:axId val="2226939960"/>
        <c:scaling>
          <c:orientation val="minMax"/>
        </c:scaling>
        <c:delete val="0"/>
        <c:axPos val="l"/>
        <c:majorTickMark val="out"/>
        <c:minorTickMark val="none"/>
        <c:tickLblPos val="nextTo"/>
        <c:crossAx val="2180972856"/>
        <c:crosses val="autoZero"/>
        <c:auto val="1"/>
        <c:lblAlgn val="ctr"/>
        <c:lblOffset val="100"/>
        <c:noMultiLvlLbl val="0"/>
      </c:catAx>
      <c:valAx>
        <c:axId val="2180972856"/>
        <c:scaling/>
        <c:delete val="0"/>
        <c:axPos val="b"/>
        <c:majorGridlines/>
        <c:majorTickMark val="out"/>
        <c:minorTickMark val="none"/>
        <c:tickLblPos val="nextTo"/>
        <c:crossAx val="2226939960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400"/>
              <a:t>Exploded pie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explosion val="25"/>
          <c:cat>
            <c:strRef>
              <c:f>Sheet1!$A$2:$A$5</c: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</c:strCache>
            </c:strRef>
          </c:cat>
          <c:val>
            <c:numRef>
              <c:f>Sheet1!$B$2:$B$5</c:f>
              <c:numCache>
                <c:formatCode>#,##0</c:formatCode>
                <c:ptCount val="4"/>
                <c:pt idx="0">
                  <c:v>40</c:v>
                </c:pt>
                <c:pt idx="1">
                  <c:v>30</c:v>
                </c:pt>
                <c:pt idx="2">
                  <c:v>20</c:v>
                </c:pt>
                <c:pt idx="3">
                  <c:v>10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/>
              <a:t>EBITDA bridge ($M)</a:t>
            </a:r>
          </a:p>
        </c:rich>
      </c:tx>
      <c:layout/>
      <c:overlay val="0"/>
    </c:title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f>Sheet1!$A$2:$A$8</c:f>
              <c:strCache>
                <c:ptCount val="7"/>
                <c:pt idx="0">
                  <c:v>FY23 EBITDA</c:v>
                </c:pt>
                <c:pt idx="1">
                  <c:v>Volume</c:v>
                </c:pt>
                <c:pt idx="2">
                  <c:v>Price</c:v>
                </c:pt>
                <c:pt idx="3">
                  <c:v>Mix</c:v>
                </c:pt>
                <c:pt idx="4">
                  <c:v>Costs</c:v>
                </c:pt>
                <c:pt idx="5">
                  <c:v>FX</c:v>
                </c:pt>
                <c:pt idx="6">
                  <c:v>FY24 EBITDA</c:v>
                </c:pt>
              </c:strCache>
            </c:strRef>
          </c:cat>
          <c:val>
            <c:numRef>
              <c:f>Sheet1!$B$2:$B$8</c:f>
              <c:numCache>
                <c:formatCode>0.0</c:formatCode>
                <c:ptCount val="7"/>
                <c:pt idx="0">
                  <c:v>0</c:v>
                </c:pt>
                <c:pt idx="1">
                  <c:v>30.0</c:v>
                </c:pt>
                <c:pt idx="2">
                  <c:v>34.5</c:v>
                </c:pt>
                <c:pt idx="3">
                  <c:v>35.2</c:v>
                </c:pt>
                <c:pt idx="4">
                  <c:v>34.0</c:v>
                </c:pt>
                <c:pt idx="5">
                  <c:v>33.4</c:v>
                </c:pt>
                <c:pt idx="6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Increase</c:v>
                </c:pt>
              </c:strCache>
            </c:strRef>
          </c:tx>
          <c:spPr>
            <a:solidFill>
              <a:srgbClr val="70AD47"/>
            </a:solidFill>
          </c:spPr>
          <c:cat>
            <c:strRef>
              <c:f>Sheet1!$A$2:$A$8</c:f>
              <c:strCache>
                <c:ptCount val="7"/>
                <c:pt idx="0">
                  <c:v>FY23 EBITDA</c:v>
                </c:pt>
                <c:pt idx="1">
                  <c:v>Volume</c:v>
                </c:pt>
                <c:pt idx="2">
                  <c:v>Price</c:v>
                </c:pt>
                <c:pt idx="3">
                  <c:v>Mix</c:v>
                </c:pt>
                <c:pt idx="4">
                  <c:v>Costs</c:v>
                </c:pt>
                <c:pt idx="5">
                  <c:v>FX</c:v>
                </c:pt>
                <c:pt idx="6">
                  <c:v>FY24 EBITDA</c:v>
                </c:pt>
              </c:strCache>
            </c:strRef>
          </c:cat>
          <c:val>
            <c:numRef>
              <c:f>Sheet1!$C$2:$C$8</c:f>
              <c:numCache>
                <c:formatCode>0.0</c:formatCode>
                <c:ptCount val="7"/>
                <c:pt idx="0">
                  <c:v>0</c:v>
                </c:pt>
                <c:pt idx="1">
                  <c:v>4.5</c:v>
                </c:pt>
                <c:pt idx="2">
                  <c:v>2.5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Decrease</c:v>
                </c:pt>
              </c:strCache>
            </c:strRef>
          </c:tx>
          <c:spPr>
            <a:solidFill>
              <a:srgbClr val="C00000"/>
            </a:solidFill>
          </c:spPr>
          <c:cat>
            <c:strRef>
              <c:f>Sheet1!$A$2:$A$8</c:f>
              <c:strCache>
                <c:ptCount val="7"/>
                <c:pt idx="0">
                  <c:v>FY23 EBITDA</c:v>
                </c:pt>
                <c:pt idx="1">
                  <c:v>Volume</c:v>
                </c:pt>
                <c:pt idx="2">
                  <c:v>Price</c:v>
                </c:pt>
                <c:pt idx="3">
                  <c:v>Mix</c:v>
                </c:pt>
                <c:pt idx="4">
                  <c:v>Costs</c:v>
                </c:pt>
                <c:pt idx="5">
                  <c:v>FX</c:v>
                </c:pt>
                <c:pt idx="6">
                  <c:v>FY24 EBITDA</c:v>
                </c:pt>
              </c:strCache>
            </c:strRef>
          </c:cat>
          <c:val>
            <c:numRef>
              <c:f>Sheet1!$D$2:$D$8</c:f>
              <c:numCache>
                <c:formatCode>0.0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1.8</c:v>
                </c:pt>
                <c:pt idx="4">
                  <c:v>1.2</c:v>
                </c:pt>
                <c:pt idx="5">
                  <c:v>0.6</c:v>
                </c:pt>
                <c:pt idx="6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2F5597"/>
            </a:solidFill>
          </c:spPr>
          <c:cat>
            <c:strRef>
              <c:f>Sheet1!$A$2:$A$8</c:f>
              <c:strCache>
                <c:ptCount val="7"/>
                <c:pt idx="0">
                  <c:v>FY23 EBITDA</c:v>
                </c:pt>
                <c:pt idx="1">
                  <c:v>Volume</c:v>
                </c:pt>
                <c:pt idx="2">
                  <c:v>Price</c:v>
                </c:pt>
                <c:pt idx="3">
                  <c:v>Mix</c:v>
                </c:pt>
                <c:pt idx="4">
                  <c:v>Costs</c:v>
                </c:pt>
                <c:pt idx="5">
                  <c:v>FX</c:v>
                </c:pt>
                <c:pt idx="6">
                  <c:v>FY24 EBITDA</c:v>
                </c:pt>
              </c:strCache>
            </c:strRef>
          </c:cat>
          <c:val>
            <c:numRef>
              <c:f>Sheet1!$E$2:$E$8</c:f>
              <c:numCache>
                <c:formatCode>0.0</c:formatCode>
                <c:ptCount val="7"/>
                <c:pt idx="0">
                  <c:v>30.0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33.4</c:v>
                </c:pt>
              </c:numCache>
            </c:numRef>
          </c:val>
        </c:ser>
        <c:gapWidth val="60"/>
        <c:overlap val="100"/>
        <c:axId val="2226939960"/>
        <c:axId val="2180972856"/>
      </c:barChart>
      <c:catAx>
        <c:axId val="2226939960"/>
        <c:scaling>
          <c:orientation val="minMax"/>
        </c:scaling>
        <c:delete val="0"/>
        <c:axPos val="b"/>
        <c:majorTickMark val="out"/>
        <c:minorTickMark val="none"/>
        <c:tickLblPos val="nextTo"/>
        <c:crossAx val="2180972856"/>
        <c:crosses val="autoZero"/>
        <c:auto val="1"/>
        <c:lblAlgn val="ctr"/>
        <c:lblOffset val="100"/>
        <c:noMultiLvlLbl val="0"/>
      </c:catAx>
      <c:valAx>
        <c:axId val="2180972856"/>
        <c:scaling/>
        <c:delete val="0"/>
        <c:axPos val="l"/>
        <c:majorGridlines/>
        <c:majorTickMark val="out"/>
        <c:minorTickMark val="none"/>
        <c:tickLblPos val="nextTo"/>
        <c:crossAx val="2226939960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Relationship Id="rId4" Type="http://schemas.openxmlformats.org/officeDocument/2006/relationships/chart" Target="../charts/char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5.xml"/><Relationship Id="rId3" Type="http://schemas.openxmlformats.org/officeDocument/2006/relationships/chart" Target="../charts/char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Combo chart with secondary axis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80160"/>
          <a:ext cx="822960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Scatter, bubble and radar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82880" y="1280160"/>
          <a:ext cx="301752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108960" y="1280160"/>
          <a:ext cx="2926080" cy="51206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035040" y="1280160"/>
          <a:ext cx="2926080" cy="512064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100% stacked bar and exploded pie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274320" y="1280160"/>
          <a:ext cx="475488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120640" y="1280160"/>
          <a:ext cx="3749039" cy="51206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Waterfall (stacked columns with invisible base)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80160"/>
          <a:ext cx="822960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Application>pptx_engine corpus generator (python-pptx 1.0.2)</Application>
  <PresentationFormat>On-screen Show (4:3)</PresentationFormat>
  <Slides>4</Slides>
  <Notes>0</Notes>
  <HiddenSlides>0</HiddenSlides>
  <MMClips>0</MMClips>
  <ScaleCrop>false</ScaleCrop>
  <LinksUpToDate>false</LinksUpToDate>
  <SharedDoc>false</SharedDoc>
  <HyperlinksChanged>false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Charts: combo (secondary axis), scatter, bubble, radar, 100% stacked, waterfall</dc:title>
  <dc:subject>pptx_engine test corpus</dc:subject>
  <dc:creator>pptx_engine corpus generator</dc:creator>
  <cp:keywords>chart, combo-chart, secondary-axis, scatter-chart, bubble-chart, radar-chart</cp:keywords>
  <dc:description>Bar+line combo with a secondary percentage axis (XML-injected), XY scatter with lines, bubble, filled radar, 100% stacked bars, exploded pie, and a waterfall built from a stacked column with an invisible base series.</dc:description>
  <cp:lastModifiedBy>pptx_engine corpus generator</cp:lastModifiedBy>
  <cp:revision>1</cp:revision>
  <dcterms:created xsi:type="dcterms:W3CDTF">2024-01-01T00:00:00Z</dcterms:created>
  <dcterms:modified xsi:type="dcterms:W3CDTF">2024-01-01T00:00:00Z</dcterms:modified>
</cp:coreProperties>
</file>