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Merged cells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 gridSpan="3">
                  <a:txBody>
                    <a:bodyPr/>
                    <a:lstStyle/>
                    <a:p>
                      <a:r>
                        <a:t>gridSpan=3 (header)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r0c4</a:t>
                      </a:r>
                    </a:p>
                  </a:txBody>
                  <a:tcPr/>
                </a:tc>
              </a:tr>
              <a:tr h="731520">
                <a:tc rowSpan="3">
                  <a:txBody>
                    <a:bodyPr/>
                    <a:lstStyle/>
                    <a:p>
                      <a:r>
                        <a:t>rowSpan=3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</a:tr>
              <a:tr h="7315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t>2x2 block (gridSpan+rowSpan)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</a:tr>
              <a:tr h="7315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r4c0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last row span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457200" y="5212080"/>
            <a:ext cx="822960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100" dirty="0">
                <a:solidFill>
                  <a:srgbClr val="404040"/>
                </a:solidFill>
              </a:rPr>
              <a:t>Medium Style 2 - Accent 1 with firstRow + bandRow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Borders: per edge, dashed, double, diagonal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3pt red box</a:t>
                      </a:r>
                      <a:endParaRPr lang="en-US" dirty="0"/>
                    </a:p>
                  </a:txBody>
                  <a:tcPr anchor="ctr">
                    <a:lnL w="38100">
                      <a:solidFill>
                        <a:srgbClr val="C00000"/>
                      </a:solidFill>
                    </a:lnL>
                    <a:lnR w="38100">
                      <a:solidFill>
                        <a:srgbClr val="C00000"/>
                      </a:solidFill>
                    </a:lnR>
                    <a:lnT w="38100">
                      <a:solidFill>
                        <a:srgbClr val="C00000"/>
                      </a:solidFill>
                    </a:lnT>
                    <a:lnB w="381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dashed T/B</a:t>
                      </a:r>
                      <a:endParaRPr lang="en-US" dirty="0"/>
                    </a:p>
                  </a:txBody>
                  <a:tcPr anchor="ctr">
                    <a:lnT w="12700">
                      <a:solidFill>
                        <a:srgbClr val="0070C0"/>
                      </a:solidFill>
                      <a:prstDash val="dash"/>
                    </a:lnT>
                    <a:lnB w="12700">
                      <a:solidFill>
                        <a:srgbClr val="0070C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double bottom</a:t>
                      </a:r>
                      <a:endParaRPr lang="en-US" dirty="0"/>
                    </a:p>
                  </a:txBody>
                  <a:tcPr anchor="ctr">
                    <a:lnB w="57150" cmpd="dbl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both diagonals</a:t>
                      </a:r>
                      <a:endParaRPr lang="en-US" dirty="0"/>
                    </a:p>
                  </a:txBody>
                  <a:tcPr anchor="ctr">
                    <a:lnTlToBr w="12700">
                      <a:solidFill>
                        <a:srgbClr val="7F7F7F"/>
                      </a:solidFill>
                    </a:lnTlToBr>
                    <a:lnBlToTr w="12700">
                      <a:solidFill>
                        <a:srgbClr val="7F7F7F"/>
                      </a:solidFill>
                    </a:lnBlToTr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thick left / none right</a:t>
                      </a:r>
                      <a:endParaRPr lang="en-US" dirty="0"/>
                    </a:p>
                  </a:txBody>
                  <a:tcPr anchor="ctr">
                    <a:lnL w="76200">
                      <a:solidFill>
                        <a:srgbClr val="00B050"/>
                      </a:solidFill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dotted/dash-dot</a:t>
                      </a:r>
                      <a:endParaRPr lang="en-US" dirty="0"/>
                    </a:p>
                  </a:txBody>
                  <a:tcPr anchor="ctr">
                    <a:lnT w="25400">
                      <a:solidFill>
                        <a:srgbClr val="7030A0"/>
                      </a:solidFill>
                      <a:prstDash val="sysDot"/>
                    </a:lnT>
                    <a:lnB w="25400">
                      <a:solidFill>
                        <a:srgbClr val="7030A0"/>
                      </a:solidFill>
                      <a:prstDash val="lgDashDot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single diagonal</a:t>
                      </a:r>
                      <a:endParaRPr lang="en-US" dirty="0"/>
                    </a:p>
                  </a:txBody>
                  <a:tcPr anchor="ctr">
                    <a:lnTlToBr w="25400">
                      <a:solidFill>
                        <a:srgbClr val="C00000"/>
                      </a:solidFill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hairline box</a:t>
                      </a:r>
                      <a:endParaRPr lang="en-US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3pt red box</a:t>
                      </a:r>
                      <a:endParaRPr lang="en-US" dirty="0"/>
                    </a:p>
                  </a:txBody>
                  <a:tcPr anchor="ctr">
                    <a:lnL w="38100">
                      <a:solidFill>
                        <a:srgbClr val="C00000"/>
                      </a:solidFill>
                    </a:lnL>
                    <a:lnR w="38100">
                      <a:solidFill>
                        <a:srgbClr val="C00000"/>
                      </a:solidFill>
                    </a:lnR>
                    <a:lnT w="38100">
                      <a:solidFill>
                        <a:srgbClr val="C00000"/>
                      </a:solidFill>
                    </a:lnT>
                    <a:lnB w="38100">
                      <a:solidFill>
                        <a:srgbClr val="C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dashed T/B</a:t>
                      </a:r>
                      <a:endParaRPr lang="en-US" dirty="0"/>
                    </a:p>
                  </a:txBody>
                  <a:tcPr anchor="ctr">
                    <a:lnT w="12700">
                      <a:solidFill>
                        <a:srgbClr val="0070C0"/>
                      </a:solidFill>
                      <a:prstDash val="dash"/>
                    </a:lnT>
                    <a:lnB w="12700">
                      <a:solidFill>
                        <a:srgbClr val="0070C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double bottom</a:t>
                      </a:r>
                      <a:endParaRPr lang="en-US" dirty="0"/>
                    </a:p>
                  </a:txBody>
                  <a:tcPr anchor="ctr">
                    <a:lnB w="57150" cmpd="dbl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both diagonals</a:t>
                      </a:r>
                      <a:endParaRPr lang="en-US" dirty="0"/>
                    </a:p>
                  </a:txBody>
                  <a:tcPr anchor="ctr">
                    <a:lnTlToBr w="12700">
                      <a:solidFill>
                        <a:srgbClr val="7F7F7F"/>
                      </a:solidFill>
                    </a:lnTlToBr>
                    <a:lnBlToTr w="12700">
                      <a:solidFill>
                        <a:srgbClr val="7F7F7F"/>
                      </a:solidFill>
                    </a:lnBlToTr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thick left / none right</a:t>
                      </a:r>
                      <a:endParaRPr lang="en-US" dirty="0"/>
                    </a:p>
                  </a:txBody>
                  <a:tcPr anchor="ctr">
                    <a:lnL w="76200">
                      <a:solidFill>
                        <a:srgbClr val="00B050"/>
                      </a:solidFill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dotted/dash-dot</a:t>
                      </a:r>
                      <a:endParaRPr lang="en-US" dirty="0"/>
                    </a:p>
                  </a:txBody>
                  <a:tcPr anchor="ctr">
                    <a:lnT w="25400">
                      <a:solidFill>
                        <a:srgbClr val="7030A0"/>
                      </a:solidFill>
                      <a:prstDash val="sysDot"/>
                    </a:lnT>
                    <a:lnB w="25400">
                      <a:solidFill>
                        <a:srgbClr val="7030A0"/>
                      </a:solidFill>
                      <a:prstDash val="lgDashDot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single diagonal</a:t>
                      </a:r>
                      <a:endParaRPr lang="en-US" dirty="0"/>
                    </a:p>
                  </a:txBody>
                  <a:tcPr anchor="ctr">
                    <a:lnTlToBr w="25400">
                      <a:solidFill>
                        <a:srgbClr val="C00000"/>
                      </a:solidFill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hairline box</a:t>
                      </a:r>
                      <a:endParaRPr lang="en-US" dirty="0"/>
                    </a:p>
                  </a:txBody>
                  <a:tcPr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Cell fills, margins, anchors and text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754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5849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solid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gradient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gradFill>
                      <a:gsLst>
                        <a:gs pos="0">
                          <a:srgbClr val="DEEBF7"/>
                        </a:gs>
                        <a:gs pos="100000">
                          <a:srgbClr val="2F5597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pattern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pattFill prst="ltUpDiag">
                      <a:fgClr>
                        <a:srgbClr val="BFBFBF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noFill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noFill/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lang="en-US" sz="1100" dirty="0"/>
                        <a:t>anchor=t margins=(0.05, 0.05, 0.05, 0.05)</a:t>
                      </a:r>
                      <a:endParaRPr lang="en-US" dirty="0"/>
                    </a:p>
                  </a:txBody>
                  <a:tcPr anchor="t" marL="45720" marR="45720" marT="45720" marB="45720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anchor=ctr margins=(0.3, 0.1, 0.3, 0.1)</a:t>
                      </a:r>
                      <a:endParaRPr lang="en-US" dirty="0"/>
                    </a:p>
                  </a:txBody>
                  <a:tcPr anchor="ctr" marL="274320" marR="91440" marT="274320" marB="91440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anchor=b margins=(0, 0, 0, 0)</a:t>
                      </a:r>
                      <a:endParaRPr lang="en-US" dirty="0"/>
                    </a:p>
                  </a:txBody>
                  <a:tcPr anchor="b" marL="0" marR="0" marT="0" marB="0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anchor=ctr margins=(0.6, 0.4, 0.1, 0.1)</a:t>
                      </a:r>
                      <a:endParaRPr lang="en-US" dirty="0"/>
                    </a:p>
                  </a:txBody>
                  <a:tcPr anchor="ctr" marL="548640" marR="365760" marT="91440" marB="91440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lang="en-US" sz="1400" dirty="0"/>
                        <a:t>vert270 cell</a:t>
                      </a:r>
                      <a:endParaRPr lang="en-US" dirty="0"/>
                    </a:p>
                  </a:txBody>
                  <a:tcPr anchor="ctr" vert="vert270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Bold </a:t>
                      </a:r>
                      <a:r>
                        <a:rPr lang="en-US" sz="1400" i="1" dirty="0"/>
                        <a:t>italic </a:t>
                      </a:r>
                      <a:r>
                        <a:rPr lang="en-US" sz="1400" dirty="0">
                          <a:solidFill>
                            <a:srgbClr val="C00000"/>
                          </a:solidFill>
                        </a:rPr>
                        <a:t>red</a:t>
                      </a:r>
                      <a:endParaRPr lang="en-US" dirty="0"/>
                    </a:p>
                    <a:p>
                      <a:pPr algn="r"/>
                      <a:r>
                        <a:rPr lang="en-US" sz="1200" dirty="0"/>
                        <a:t>• second paragraph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/>
                        <a:t>Long text wraps inside the cell: Revenue grew 12% year over year while operating costs stayed flat.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Courier New"/>
                        </a:rPr>
                        <a:t>1,234.56</a:t>
                      </a:r>
                      <a:endParaRPr lang="en-US" dirty="0"/>
                    </a:p>
                  </a:txBody>
                  <a:tcPr anchor="b">
                    <a:lnL w="12700">
                      <a:solidFill>
                        <a:srgbClr val="404040"/>
                      </a:solidFill>
                    </a:lnL>
                    <a:lnR w="12700">
                      <a:solidFill>
                        <a:srgbClr val="404040"/>
                      </a:solidFill>
                    </a:lnR>
                    <a:lnT w="12700">
                      <a:solidFill>
                        <a:srgbClr val="404040"/>
                      </a:solidFill>
                    </a:lnT>
                    <a:lnB w="12700">
                      <a:solidFill>
                        <a:srgbClr val="40404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Tables: merged cells, borders, fills, margins, alignment</dc:title>
  <dc:subject>pptx_engine test corpus</dc:subject>
  <dc:creator>pptx_engine corpus generator</dc:creator>
  <cp:keywords>table, merged-cells, cell-borders, cell-fills</cp:keywords>
  <dc:description>Tables with gridSpan/rowSpan/hMerge/vMerge merges, per-edge borders (widths, dashes, colors, double), diagonal borders, cell fills (solid/gradient/pattern), cell margins, vertical anchors, vertical cell text and rich text in cells.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