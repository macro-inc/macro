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7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Q3 FY23</c:v>
                </c:pt>
                <c:pt idx="1">
                  <c:v>Q4 FY23</c:v>
                </c:pt>
                <c:pt idx="2">
                  <c:v>Q1 FY24</c:v>
                </c:pt>
                <c:pt idx="3">
                  <c:v>Q2 FY24</c:v>
                </c:pt>
                <c:pt idx="4">
                  <c:v>Q3 FY24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118.2</c:v>
                </c:pt>
                <c:pt idx="1">
                  <c:v>121</c:v>
                </c:pt>
                <c:pt idx="2">
                  <c:v>124.9</c:v>
                </c:pt>
                <c:pt idx="3">
                  <c:v>128.3</c:v>
                </c:pt>
                <c:pt idx="4">
                  <c:v>132.4</c:v>
                </c:pt>
              </c:numCache>
            </c:numRef>
          </c:val>
        </c:ser>
        <c:gapWidth val="150"/>
        <c:overlap val="0"/>
        <c:axId val="50010001"/>
        <c:axId val="50010002"/>
      </c:barChart>
      <c:lineChart>
        <c:grouping val="standard"/>
        <c:varyColors val="0"/>
        <c:ser>
          <c:idx val="1"/>
          <c:order val="1"/>
          <c:tx>
            <c:strRef>
              <c:f>label 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ed7d31"/>
            </a:solidFill>
            <a:ln cap="rnd" w="31680">
              <a:solidFill>
                <a:srgbClr val="ed7d31"/>
              </a:solidFill>
              <a:round/>
            </a:ln>
          </c:spPr>
          <c:marker>
            <c:symbol val="circle"/>
            <c:size val="7"/>
            <c:spPr>
              <a:solidFill>
                <a:srgbClr val="ed7d31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Q3 FY23</c:v>
                </c:pt>
                <c:pt idx="1">
                  <c:v>Q4 FY23</c:v>
                </c:pt>
                <c:pt idx="2">
                  <c:v>Q1 FY24</c:v>
                </c:pt>
                <c:pt idx="3">
                  <c:v>Q2 FY24</c:v>
                </c:pt>
                <c:pt idx="4">
                  <c:v>Q3 FY24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0.217</c:v>
                </c:pt>
                <c:pt idx="1">
                  <c:v>0.221</c:v>
                </c:pt>
                <c:pt idx="2">
                  <c:v>0.236</c:v>
                </c:pt>
                <c:pt idx="3">
                  <c:v>0.244</c:v>
                </c:pt>
                <c:pt idx="4">
                  <c:v>0.255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0010003"/>
        <c:axId val="50010004"/>
      </c:lineChart>
      <c:catAx>
        <c:axId val="50010001"/>
        <c:scaling>
          <c:orientation val="minMax"/>
        </c:scaling>
        <c:delete val="0"/>
        <c:axPos val="b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0.0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0010001"/>
        <c:crosses val="autoZero"/>
        <c:crossBetween val="between"/>
      </c:valAx>
      <c:catAx>
        <c:axId val="50010003"/>
        <c:scaling>
          <c:orientation val="minMax"/>
        </c:scaling>
        <c:delete val="1"/>
        <c:axPos val="t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0010004"/>
        <c:auto val="1"/>
        <c:lblAlgn val="ctr"/>
        <c:lblOffset val="100"/>
        <c:noMultiLvlLbl val="0"/>
      </c:catAx>
      <c:valAx>
        <c:axId val="5001000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0010003"/>
        <c:crosses val="max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400" spc="-1" strike="noStrike">
                <a:solidFill>
                  <a:srgbClr val="000000"/>
                </a:solidFill>
                <a:latin typeface="Calibri"/>
              </a:defRPr>
            </a:pPr>
            <a:r>
              <a:rPr b="1" sz="1400" spc="-1" strike="noStrike">
                <a:solidFill>
                  <a:srgbClr val="000000"/>
                </a:solidFill>
                <a:latin typeface="Calibri"/>
              </a:rPr>
              <a:t>Revenue by segment ($M)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f81b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c0504d"/>
              </a:solidFill>
              <a:ln w="0">
                <a:noFill/>
              </a:ln>
            </c:spPr>
          </c:dPt>
          <c:dPt>
            <c:idx val="2"/>
            <c:spPr>
              <a:solidFill>
                <a:srgbClr val="9bbb59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Product</c:v>
                </c:pt>
                <c:pt idx="1">
                  <c:v>Subscription</c:v>
                </c:pt>
                <c:pt idx="2">
                  <c:v>Services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84.2</c:v>
                </c:pt>
                <c:pt idx="1">
                  <c:v>41.9</c:v>
                </c:pt>
                <c:pt idx="2">
                  <c:v>6.3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Q3 FY23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Opex</c:v>
                </c:pt>
                <c:pt idx="5">
                  <c:v>FX</c:v>
                </c:pt>
                <c:pt idx="6">
                  <c:v>Q3 FY24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</c:v>
                </c:pt>
                <c:pt idx="1">
                  <c:v>30</c:v>
                </c:pt>
                <c:pt idx="2">
                  <c:v>34.5</c:v>
                </c:pt>
                <c:pt idx="3">
                  <c:v>35.2</c:v>
                </c:pt>
                <c:pt idx="4">
                  <c:v>34</c:v>
                </c:pt>
                <c:pt idx="5">
                  <c:v>33.4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Up</c:v>
                </c:pt>
              </c:strCache>
            </c:strRef>
          </c:tx>
          <c:spPr>
            <a:solidFill>
              <a:srgbClr val="70ad47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Q3 FY23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Opex</c:v>
                </c:pt>
                <c:pt idx="5">
                  <c:v>FX</c:v>
                </c:pt>
                <c:pt idx="6">
                  <c:v>Q3 FY24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0</c:v>
                </c:pt>
                <c:pt idx="1">
                  <c:v>4.5</c:v>
                </c:pt>
                <c:pt idx="2">
                  <c:v>2.5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Down</c:v>
                </c:pt>
              </c:strCache>
            </c:strRef>
          </c:tx>
          <c:spPr>
            <a:solidFill>
              <a:srgbClr val="c0000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Q3 FY23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Opex</c:v>
                </c:pt>
                <c:pt idx="5">
                  <c:v>FX</c:v>
                </c:pt>
                <c:pt idx="6">
                  <c:v>Q3 FY24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1.8</c:v>
                </c:pt>
                <c:pt idx="4">
                  <c:v>1.2</c:v>
                </c:pt>
                <c:pt idx="5">
                  <c:v>0.6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4e7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Q3 FY23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Opex</c:v>
                </c:pt>
                <c:pt idx="5">
                  <c:v>FX</c:v>
                </c:pt>
                <c:pt idx="6">
                  <c:v>Q3 FY24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7"/>
                <c:pt idx="0">
                  <c:v>30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33.4</c:v>
                </c:pt>
              </c:numCache>
            </c:numRef>
          </c:val>
        </c:ser>
        <c:gapWidth val="50"/>
        <c:overlap val="10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0.0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5001000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A9E55-7FB6-5969-90C9-7E95FBBA0C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39D52-9B43-539B-A22C-5567BE1A52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CDD0FA-F24A-5613-88B9-017747077E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C4E33C-2DFE-5728-AD67-6ED75837E7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C555389-1757-50C0-BDBE-0554834614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6B46FFB-C01F-597D-9C7A-365FEF109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8CB3BB5-2650-5165-AAE1-A2964F327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493DF51-9E39-5F99-973C-3FB367FF50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DE1DD7D-93E2-56C6-9359-78A8D4C0AC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E8B1D38-0D91-5386-A3E3-6BD37D42F1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442D62-2F9F-5EB1-9B1A-41C1343C3B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9E99C7-6A43-5426-A5E7-096D7AC001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5D15E-D1EB-50E5-B665-B0EDD157C3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FCFAAE-9CDD-5FFC-8993-E131C82705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C49812-BA5E-5720-BF9A-8111983AAC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37D260-8D95-5179-B643-961256E3CD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310201-D2F2-5212-97C1-CD1B39D0D8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D8F29E-D42A-53D5-8A47-C85E926450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B29156-0386-5B7F-9726-B23AF0FA10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ECF0B8-2AD6-599A-B332-AF2E6A4B80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28631-BB5F-53CD-B9B7-743CD7485F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Q3 FY2024 Earnings Review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Northwind Analytics, Inc. — October 2024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Accent band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2e75b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Logo" descr="Logo"/>
          <p:cNvPicPr/>
          <p:nvPr/>
        </p:nvPicPr>
        <p:blipFill>
          <a:blip r:embed="rId1"/>
          <a:stretch/>
        </p:blipFill>
        <p:spPr>
          <a:xfrm>
            <a:off x="5394960" y="640080"/>
            <a:ext cx="1371240" cy="137124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3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BA0D18-1311-5CE7-9633-10C9F4406A4F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Agenda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4f81bd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Highlights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4f81bd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Financial results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4f81bd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Segment performance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4f81bd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Outlook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4f81bd"/>
              </a:buClr>
              <a:buFont typeface="OpenSymbo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Appendix: reconciliations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3"/>
          <p:cNvSpPr>
            <a:spLocks noGrp="1"/>
          </p:cNvSpPr>
          <p:nvPr>
            <p:ph type="dt" idx="3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9D566B8-6DB4-53A5-81A6-36BF58CE123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Quarter at a glance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84" name="roundRect 5"/>
          <p:cNvSpPr/>
          <p:nvPr/>
        </p:nvSpPr>
        <p:spPr>
          <a:xfrm>
            <a:off x="548640" y="1828800"/>
            <a:ext cx="2559960" cy="2742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9d9d9"/>
            </a:solidFill>
            <a:round/>
          </a:ln>
          <a:effectLst>
            <a:outerShdw dist="38160" dir="5400000" blurRad="10152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f4e79"/>
                </a:solidFill>
                <a:latin typeface="Calibri"/>
              </a:rPr>
              <a:t>$132.4M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95959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riangle 6"/>
          <p:cNvSpPr/>
          <p:nvPr/>
        </p:nvSpPr>
        <p:spPr>
          <a:xfrm>
            <a:off x="1371600" y="3931920"/>
            <a:ext cx="228240" cy="200880"/>
          </a:xfrm>
          <a:prstGeom prst="triangle">
            <a:avLst>
              <a:gd name="adj" fmla="val 50000"/>
            </a:avLst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1645920" y="3858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70ad47"/>
                </a:solidFill>
                <a:latin typeface="Calibri"/>
              </a:rPr>
              <a:t>+12.0% YoY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Rect 8"/>
          <p:cNvSpPr/>
          <p:nvPr/>
        </p:nvSpPr>
        <p:spPr>
          <a:xfrm>
            <a:off x="3383280" y="1828800"/>
            <a:ext cx="2559960" cy="2742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9d9d9"/>
            </a:solidFill>
            <a:round/>
          </a:ln>
          <a:effectLst>
            <a:outerShdw dist="38160" dir="5400000" blurRad="10152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f4e79"/>
                </a:solidFill>
                <a:latin typeface="Calibri"/>
              </a:rPr>
              <a:t>76.5%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95959"/>
                </a:solidFill>
                <a:latin typeface="Calibri"/>
              </a:rPr>
              <a:t>Gross margin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riangle 9"/>
          <p:cNvSpPr/>
          <p:nvPr/>
        </p:nvSpPr>
        <p:spPr>
          <a:xfrm>
            <a:off x="4206240" y="3931920"/>
            <a:ext cx="228240" cy="200880"/>
          </a:xfrm>
          <a:prstGeom prst="triangle">
            <a:avLst>
              <a:gd name="adj" fmla="val 50000"/>
            </a:avLst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4480560" y="3858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70ad47"/>
                </a:solidFill>
                <a:latin typeface="Calibri"/>
              </a:rPr>
              <a:t>+1.4 pts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Rect 11"/>
          <p:cNvSpPr/>
          <p:nvPr/>
        </p:nvSpPr>
        <p:spPr>
          <a:xfrm>
            <a:off x="6217920" y="1828800"/>
            <a:ext cx="2559960" cy="2742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9d9d9"/>
            </a:solidFill>
            <a:round/>
          </a:ln>
          <a:effectLst>
            <a:outerShdw dist="38160" dir="5400000" blurRad="10152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f4e79"/>
                </a:solidFill>
                <a:latin typeface="Calibri"/>
              </a:rPr>
              <a:t>$33.7M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95959"/>
                </a:solidFill>
                <a:latin typeface="Calibri"/>
              </a:rPr>
              <a:t>Operating income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riangle 12"/>
          <p:cNvSpPr/>
          <p:nvPr/>
        </p:nvSpPr>
        <p:spPr>
          <a:xfrm>
            <a:off x="7040880" y="3931920"/>
            <a:ext cx="228240" cy="200880"/>
          </a:xfrm>
          <a:prstGeom prst="triangle">
            <a:avLst>
              <a:gd name="adj" fmla="val 50000"/>
            </a:avLst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7315200" y="3858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70ad47"/>
                </a:solidFill>
                <a:latin typeface="Calibri"/>
              </a:rPr>
              <a:t>+31.6% YoY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Rect 14"/>
          <p:cNvSpPr/>
          <p:nvPr/>
        </p:nvSpPr>
        <p:spPr>
          <a:xfrm>
            <a:off x="9052560" y="1828800"/>
            <a:ext cx="2559960" cy="2742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9d9d9"/>
            </a:solidFill>
            <a:round/>
          </a:ln>
          <a:effectLst>
            <a:outerShdw dist="38160" dir="5400000" blurRad="10152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f4e79"/>
                </a:solidFill>
                <a:latin typeface="Calibri"/>
              </a:rPr>
              <a:t>$(4.1)M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95959"/>
                </a:solidFill>
                <a:latin typeface="Calibri"/>
              </a:rPr>
              <a:t>Free cash 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riangle 15"/>
          <p:cNvSpPr/>
          <p:nvPr/>
        </p:nvSpPr>
        <p:spPr>
          <a:xfrm flipV="1">
            <a:off x="9875520" y="3931920"/>
            <a:ext cx="228240" cy="200880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16"/>
          <p:cNvSpPr/>
          <p:nvPr/>
        </p:nvSpPr>
        <p:spPr>
          <a:xfrm>
            <a:off x="10149840" y="3858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-$9.8M YoY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548640" y="5577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7f7f7f"/>
                </a:solidFill>
                <a:latin typeface="Calibri"/>
              </a:rPr>
              <a:t>Free cash flow excludes a one-time $12.0M tax payment. Margins are non-GAAP; see appendix for reconciliations.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dt" idx="3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46BEA58-1E4E-5166-A29A-455AF4FC9AD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Revenue and operating margin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1" name="Chart 4"/>
          <p:cNvGraphicFramePr/>
          <p:nvPr/>
        </p:nvGraphicFramePr>
        <p:xfrm>
          <a:off x="548640" y="1371600"/>
          <a:ext cx="749772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" name="TextBox 6"/>
          <p:cNvSpPr/>
          <p:nvPr/>
        </p:nvSpPr>
        <p:spPr>
          <a:xfrm>
            <a:off x="8321040" y="1463040"/>
            <a:ext cx="33829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4e79"/>
                </a:solidFill>
                <a:latin typeface="Calibri"/>
              </a:rPr>
              <a:t>Highlights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60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Fifth consecutive quarter of growth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60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Subscription mix reached 32%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60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Margin expansion from pricing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60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Opex held flat sequentially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548640" y="59436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7f7f7f"/>
                </a:solidFill>
                <a:latin typeface="Calibri"/>
              </a:rPr>
              <a:t>Operating margin plotted on the secondary axis.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968E6B0-1423-57F7-A4BF-61EA32E3352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Consolidated statement of operations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8" name="Table 4"/>
          <p:cNvGraphicFramePr/>
          <p:nvPr/>
        </p:nvGraphicFramePr>
        <p:xfrm>
          <a:off x="2194560" y="1051560"/>
          <a:ext cx="7771320" cy="4791960"/>
        </p:xfrm>
        <a:graphic>
          <a:graphicData uri="http://schemas.openxmlformats.org/drawingml/2006/table">
            <a:tbl>
              <a:tblPr/>
              <a:tblGrid>
                <a:gridCol w="4041360"/>
                <a:gridCol w="1321200"/>
                <a:gridCol w="1321200"/>
                <a:gridCol w="1087920"/>
              </a:tblGrid>
              <a:tr h="182880">
                <a:tc>
                  <a:txBody>
                    <a:bodyPr lIns="45720" rIns="45720" tIns="9000" bIns="9000"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(in thousands, except per share)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9000" bIns="9000" anchor="b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FY2024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9000" bIns="9000" anchor="b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FY2023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9000" bIns="9000" anchor="b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% chg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i="1" lang="en-US" sz="800" spc="-1" strike="noStrike" u="sng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Revenue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Product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84,210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76,532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10.0%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Subscription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41,880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33,015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26.9%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Services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6,310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8,702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(27.5%)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revenue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132,400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118,249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12.0%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i="1" lang="en-US" sz="800" spc="-1" strike="noStrike" u="sng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Cost of revenue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Product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(36,115)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(34,020)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(6.2%)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Subscription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(12,904)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(10,867)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(18.7%)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Services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(6,881)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(6,413)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(7.3%)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cost of revenue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(55,900)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(51,300)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(9.0%)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Gross profit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76,500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66,949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14.3%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i="1" lang="en-US" sz="800" spc="-1" strike="noStrike" u="sng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Operating expenses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Research and development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(18,204)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(16,877)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(7.9%)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Sales and marketing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(15,993)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(15,120)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(5.8%)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General and administrative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(8,603)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(8,102)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(6.2%)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Restructuring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(1,250)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100.0%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operating expenses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(42,800)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(41,349)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(3.5%)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Operating income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33,700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25,600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31.6%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Interest expense, net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(1,215)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(1,480)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17.9%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Other income (expense)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342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(95)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460.0%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Income before income taxes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32,827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24,025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36.6%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marL="137160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Provision for income taxes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(6,894)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(4,805)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(43.5%)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Net income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25,933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19,220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34.9%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lIns="45720" rIns="45720" t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Diluted EPS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$ 1.27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$ 0.94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0" bIns="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35.1%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9" name="PlaceHolder 2"/>
          <p:cNvSpPr>
            <a:spLocks noGrp="1"/>
          </p:cNvSpPr>
          <p:nvPr>
            <p:ph type="dt" idx="3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838C875-4D72-5D2D-9EC6-1C87AA3A947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Segment performance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3" name="Chart 4"/>
          <p:cNvGraphicFramePr/>
          <p:nvPr/>
        </p:nvGraphicFramePr>
        <p:xfrm>
          <a:off x="548640" y="1280160"/>
          <a:ext cx="475452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Table 5"/>
          <p:cNvGraphicFramePr/>
          <p:nvPr/>
        </p:nvGraphicFramePr>
        <p:xfrm>
          <a:off x="5760720" y="1737360"/>
          <a:ext cx="5851800" cy="21942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YoY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Product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84.2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10.0%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57%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Subscription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41.9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26.9%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81%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Services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(27.5%)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c00000"/>
                          </a:solidFill>
                          <a:latin typeface="Calibri"/>
                        </a:rPr>
                        <a:t>(9%)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15" name="PlaceHolder 2"/>
          <p:cNvSpPr>
            <a:spLocks noGrp="1"/>
          </p:cNvSpPr>
          <p:nvPr>
            <p:ph type="dt" idx="3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4482E66-283A-506F-82AB-E43D35065CF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EBITDA bridge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9" name="Chart 4"/>
          <p:cNvGraphicFramePr/>
          <p:nvPr/>
        </p:nvGraphicFramePr>
        <p:xfrm>
          <a:off x="548640" y="1280160"/>
          <a:ext cx="1097244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0" name="PlaceHolder 2"/>
          <p:cNvSpPr>
            <a:spLocks noGrp="1"/>
          </p:cNvSpPr>
          <p:nvPr>
            <p:ph type="dt" idx="4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38E96B6-3792-5F59-966E-C20354C1196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Notes and disclaimers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Top bar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Logo" descr="Logo"/>
          <p:cNvPicPr/>
          <p:nvPr/>
        </p:nvPicPr>
        <p:blipFill>
          <a:blip r:embed="rId1"/>
          <a:stretch/>
        </p:blipFill>
        <p:spPr>
          <a:xfrm>
            <a:off x="11384280" y="61722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4" name="TextBox 5"/>
          <p:cNvSpPr/>
          <p:nvPr/>
        </p:nvSpPr>
        <p:spPr>
          <a:xfrm>
            <a:off x="548640" y="1371600"/>
            <a:ext cx="11063880" cy="4388760"/>
          </a:xfrm>
          <a:prstGeom prst="rect">
            <a:avLst/>
          </a:prstGeom>
          <a:noFill/>
          <a:ln w="648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pc="-1" strike="noStrike">
                <a:solidFill>
                  <a:srgbClr val="404040"/>
                </a:solidFill>
                <a:latin typeface="Calibri"/>
              </a:rPr>
              <a:t>(1) Non-GAAP measures exclude stock-based compensation, amortization of acquired intangibles and restructuring.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pc="-1" strike="noStrike">
                <a:solidFill>
                  <a:srgbClr val="404040"/>
                </a:solidFill>
                <a:latin typeface="Calibri"/>
              </a:rPr>
              <a:t>(2) Free cash flow is net cash provided by operating activities less capital expenditures.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pc="-1" strike="noStrike">
                <a:solidFill>
                  <a:srgbClr val="404040"/>
                </a:solidFill>
                <a:latin typeface="Calibri"/>
              </a:rPr>
              <a:t>(3) Segment margins are before unallocated corporate costs.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pc="-1" strike="noStrike">
                <a:solidFill>
                  <a:srgbClr val="404040"/>
                </a:solidFill>
                <a:latin typeface="Calibri"/>
              </a:rPr>
              <a:t>(4) Prior periods were reclassified to conform to the current presentation.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pc="-1" strike="noStrike">
                <a:solidFill>
                  <a:srgbClr val="404040"/>
                </a:solidFill>
                <a:latin typeface="Calibri"/>
              </a:rPr>
              <a:t>(5) All figures are fictional and exist only to exercise rendering of small type.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dt" idx="4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October 24, 2024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Northwind Analytics · Q3 FY2024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9956874-8ADC-5CB1-9450-8AEB6715A0C7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round trip of kitchen-sink-financial</dc:title>
  <dc:subject>pptx_engine test corpus</dc:subject>
  <dc:creator>pptx_engine corpus generator</dc:creator>
  <cp:keywords>libreoffice-export</cp:keywords>
  <dc:description>LibreOffice 24.2 round trip (pptx -&gt; odp -&gt; pptx) of generated/kitchen-sink-financial.pptx, giving LibreOffice-written PresentationML/DrawingML for the same content.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8</vt:r8>
  </property>
</Properties>
</file>