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Pattern fills 1-27</a:t>
            </a:r>
          </a:p>
        </p:txBody>
      </p:sp>
      <p:sp>
        <p:nvSpPr>
          <p:cNvPr id="3" name="rect 3"/>
          <p:cNvSpPr/>
          <p:nvPr/>
        </p:nvSpPr>
        <p:spPr>
          <a:xfrm>
            <a:off x="274320" y="1280160"/>
            <a:ext cx="1133856" cy="1005840"/>
          </a:xfrm>
          <a:prstGeom prst="rect">
            <a:avLst/>
          </a:prstGeom>
          <a:pattFill prst="pct5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274320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pct5</a:t>
            </a:r>
            <a:endParaRPr lang="en-US" dirty="0"/>
          </a:p>
        </p:txBody>
      </p:sp>
      <p:sp>
        <p:nvSpPr>
          <p:cNvPr id="5" name="rect 5"/>
          <p:cNvSpPr/>
          <p:nvPr/>
        </p:nvSpPr>
        <p:spPr>
          <a:xfrm>
            <a:off x="1517904" y="1280160"/>
            <a:ext cx="1133856" cy="1005840"/>
          </a:xfrm>
          <a:prstGeom prst="rect">
            <a:avLst/>
          </a:prstGeom>
          <a:pattFill prst="pct10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517904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pct10</a:t>
            </a:r>
            <a:endParaRPr lang="en-US" dirty="0"/>
          </a:p>
        </p:txBody>
      </p:sp>
      <p:sp>
        <p:nvSpPr>
          <p:cNvPr id="7" name="rect 7"/>
          <p:cNvSpPr/>
          <p:nvPr/>
        </p:nvSpPr>
        <p:spPr>
          <a:xfrm>
            <a:off x="2761488" y="1280160"/>
            <a:ext cx="1133856" cy="1005840"/>
          </a:xfrm>
          <a:prstGeom prst="rect">
            <a:avLst/>
          </a:prstGeom>
          <a:pattFill prst="pct20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761488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pct20</a:t>
            </a:r>
            <a:endParaRPr lang="en-US" dirty="0"/>
          </a:p>
        </p:txBody>
      </p:sp>
      <p:sp>
        <p:nvSpPr>
          <p:cNvPr id="9" name="rect 9"/>
          <p:cNvSpPr/>
          <p:nvPr/>
        </p:nvSpPr>
        <p:spPr>
          <a:xfrm>
            <a:off x="4005072" y="1280160"/>
            <a:ext cx="1133856" cy="1005840"/>
          </a:xfrm>
          <a:prstGeom prst="rect">
            <a:avLst/>
          </a:prstGeom>
          <a:pattFill prst="pct25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005072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pct25</a:t>
            </a:r>
            <a:endParaRPr lang="en-US" dirty="0"/>
          </a:p>
        </p:txBody>
      </p:sp>
      <p:sp>
        <p:nvSpPr>
          <p:cNvPr id="11" name="rect 11"/>
          <p:cNvSpPr/>
          <p:nvPr/>
        </p:nvSpPr>
        <p:spPr>
          <a:xfrm>
            <a:off x="5248656" y="1280160"/>
            <a:ext cx="1133856" cy="1005840"/>
          </a:xfrm>
          <a:prstGeom prst="rect">
            <a:avLst/>
          </a:prstGeom>
          <a:pattFill prst="pct30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248656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pct30</a:t>
            </a:r>
            <a:endParaRPr lang="en-US" dirty="0"/>
          </a:p>
        </p:txBody>
      </p:sp>
      <p:sp>
        <p:nvSpPr>
          <p:cNvPr id="13" name="rect 13"/>
          <p:cNvSpPr/>
          <p:nvPr/>
        </p:nvSpPr>
        <p:spPr>
          <a:xfrm>
            <a:off x="6492240" y="1280160"/>
            <a:ext cx="1133856" cy="1005840"/>
          </a:xfrm>
          <a:prstGeom prst="rect">
            <a:avLst/>
          </a:prstGeom>
          <a:pattFill prst="pct40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92240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pct40</a:t>
            </a:r>
            <a:endParaRPr lang="en-US" dirty="0"/>
          </a:p>
        </p:txBody>
      </p:sp>
      <p:sp>
        <p:nvSpPr>
          <p:cNvPr id="15" name="rect 15"/>
          <p:cNvSpPr/>
          <p:nvPr/>
        </p:nvSpPr>
        <p:spPr>
          <a:xfrm>
            <a:off x="7735824" y="1280160"/>
            <a:ext cx="1133856" cy="1005840"/>
          </a:xfrm>
          <a:prstGeom prst="rect">
            <a:avLst/>
          </a:prstGeom>
          <a:pattFill prst="pct50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735824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pct50</a:t>
            </a:r>
            <a:endParaRPr lang="en-US" dirty="0"/>
          </a:p>
        </p:txBody>
      </p:sp>
      <p:sp>
        <p:nvSpPr>
          <p:cNvPr id="17" name="rect 17"/>
          <p:cNvSpPr/>
          <p:nvPr/>
        </p:nvSpPr>
        <p:spPr>
          <a:xfrm>
            <a:off x="274320" y="2651760"/>
            <a:ext cx="1133856" cy="1005840"/>
          </a:xfrm>
          <a:prstGeom prst="rect">
            <a:avLst/>
          </a:prstGeom>
          <a:pattFill prst="pct60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74320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pct60</a:t>
            </a:r>
            <a:endParaRPr lang="en-US" dirty="0"/>
          </a:p>
        </p:txBody>
      </p:sp>
      <p:sp>
        <p:nvSpPr>
          <p:cNvPr id="19" name="rect 19"/>
          <p:cNvSpPr/>
          <p:nvPr/>
        </p:nvSpPr>
        <p:spPr>
          <a:xfrm>
            <a:off x="1517904" y="2651760"/>
            <a:ext cx="1133856" cy="1005840"/>
          </a:xfrm>
          <a:prstGeom prst="rect">
            <a:avLst/>
          </a:prstGeom>
          <a:pattFill prst="pct70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517904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pct70</a:t>
            </a:r>
            <a:endParaRPr lang="en-US" dirty="0"/>
          </a:p>
        </p:txBody>
      </p:sp>
      <p:sp>
        <p:nvSpPr>
          <p:cNvPr id="21" name="rect 21"/>
          <p:cNvSpPr/>
          <p:nvPr/>
        </p:nvSpPr>
        <p:spPr>
          <a:xfrm>
            <a:off x="2761488" y="2651760"/>
            <a:ext cx="1133856" cy="1005840"/>
          </a:xfrm>
          <a:prstGeom prst="rect">
            <a:avLst/>
          </a:prstGeom>
          <a:pattFill prst="pct75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761488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pct75</a:t>
            </a:r>
            <a:endParaRPr lang="en-US" dirty="0"/>
          </a:p>
        </p:txBody>
      </p:sp>
      <p:sp>
        <p:nvSpPr>
          <p:cNvPr id="23" name="rect 23"/>
          <p:cNvSpPr/>
          <p:nvPr/>
        </p:nvSpPr>
        <p:spPr>
          <a:xfrm>
            <a:off x="4005072" y="2651760"/>
            <a:ext cx="1133856" cy="1005840"/>
          </a:xfrm>
          <a:prstGeom prst="rect">
            <a:avLst/>
          </a:prstGeom>
          <a:pattFill prst="pct80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005072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pct80</a:t>
            </a:r>
            <a:endParaRPr lang="en-US" dirty="0"/>
          </a:p>
        </p:txBody>
      </p:sp>
      <p:sp>
        <p:nvSpPr>
          <p:cNvPr id="25" name="rect 25"/>
          <p:cNvSpPr/>
          <p:nvPr/>
        </p:nvSpPr>
        <p:spPr>
          <a:xfrm>
            <a:off x="5248656" y="2651760"/>
            <a:ext cx="1133856" cy="1005840"/>
          </a:xfrm>
          <a:prstGeom prst="rect">
            <a:avLst/>
          </a:prstGeom>
          <a:pattFill prst="pct90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248656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pct90</a:t>
            </a:r>
            <a:endParaRPr lang="en-US" dirty="0"/>
          </a:p>
        </p:txBody>
      </p:sp>
      <p:sp>
        <p:nvSpPr>
          <p:cNvPr id="27" name="rect 27"/>
          <p:cNvSpPr/>
          <p:nvPr/>
        </p:nvSpPr>
        <p:spPr>
          <a:xfrm>
            <a:off x="6492240" y="2651760"/>
            <a:ext cx="1133856" cy="1005840"/>
          </a:xfrm>
          <a:prstGeom prst="rect">
            <a:avLst/>
          </a:prstGeom>
          <a:pattFill prst="horz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492240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horz</a:t>
            </a:r>
            <a:endParaRPr lang="en-US" dirty="0"/>
          </a:p>
        </p:txBody>
      </p:sp>
      <p:sp>
        <p:nvSpPr>
          <p:cNvPr id="29" name="rect 29"/>
          <p:cNvSpPr/>
          <p:nvPr/>
        </p:nvSpPr>
        <p:spPr>
          <a:xfrm>
            <a:off x="7735824" y="2651760"/>
            <a:ext cx="1133856" cy="1005840"/>
          </a:xfrm>
          <a:prstGeom prst="rect">
            <a:avLst/>
          </a:prstGeom>
          <a:pattFill prst="vert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735824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vert</a:t>
            </a:r>
            <a:endParaRPr lang="en-US" dirty="0"/>
          </a:p>
        </p:txBody>
      </p:sp>
      <p:sp>
        <p:nvSpPr>
          <p:cNvPr id="31" name="rect 31"/>
          <p:cNvSpPr/>
          <p:nvPr/>
        </p:nvSpPr>
        <p:spPr>
          <a:xfrm>
            <a:off x="274320" y="4023360"/>
            <a:ext cx="1133856" cy="1005840"/>
          </a:xfrm>
          <a:prstGeom prst="rect">
            <a:avLst/>
          </a:prstGeom>
          <a:pattFill prst="ltHorz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74320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ltHorz</a:t>
            </a:r>
            <a:endParaRPr lang="en-US" dirty="0"/>
          </a:p>
        </p:txBody>
      </p:sp>
      <p:sp>
        <p:nvSpPr>
          <p:cNvPr id="33" name="rect 33"/>
          <p:cNvSpPr/>
          <p:nvPr/>
        </p:nvSpPr>
        <p:spPr>
          <a:xfrm>
            <a:off x="1517904" y="4023360"/>
            <a:ext cx="1133856" cy="1005840"/>
          </a:xfrm>
          <a:prstGeom prst="rect">
            <a:avLst/>
          </a:prstGeom>
          <a:pattFill prst="ltVert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517904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ltVert</a:t>
            </a:r>
            <a:endParaRPr lang="en-US" dirty="0"/>
          </a:p>
        </p:txBody>
      </p:sp>
      <p:sp>
        <p:nvSpPr>
          <p:cNvPr id="35" name="rect 35"/>
          <p:cNvSpPr/>
          <p:nvPr/>
        </p:nvSpPr>
        <p:spPr>
          <a:xfrm>
            <a:off x="2761488" y="4023360"/>
            <a:ext cx="1133856" cy="1005840"/>
          </a:xfrm>
          <a:prstGeom prst="rect">
            <a:avLst/>
          </a:prstGeom>
          <a:pattFill prst="dkHorz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2761488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dkHorz</a:t>
            </a:r>
            <a:endParaRPr lang="en-US" dirty="0"/>
          </a:p>
        </p:txBody>
      </p:sp>
      <p:sp>
        <p:nvSpPr>
          <p:cNvPr id="37" name="rect 37"/>
          <p:cNvSpPr/>
          <p:nvPr/>
        </p:nvSpPr>
        <p:spPr>
          <a:xfrm>
            <a:off x="4005072" y="4023360"/>
            <a:ext cx="1133856" cy="1005840"/>
          </a:xfrm>
          <a:prstGeom prst="rect">
            <a:avLst/>
          </a:prstGeom>
          <a:pattFill prst="dkVert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005072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dkVert</a:t>
            </a:r>
            <a:endParaRPr lang="en-US" dirty="0"/>
          </a:p>
        </p:txBody>
      </p:sp>
      <p:sp>
        <p:nvSpPr>
          <p:cNvPr id="39" name="rect 39"/>
          <p:cNvSpPr/>
          <p:nvPr/>
        </p:nvSpPr>
        <p:spPr>
          <a:xfrm>
            <a:off x="5248656" y="4023360"/>
            <a:ext cx="1133856" cy="1005840"/>
          </a:xfrm>
          <a:prstGeom prst="rect">
            <a:avLst/>
          </a:prstGeom>
          <a:pattFill prst="narHorz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5248656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narHorz</a:t>
            </a:r>
            <a:endParaRPr lang="en-US" dirty="0"/>
          </a:p>
        </p:txBody>
      </p:sp>
      <p:sp>
        <p:nvSpPr>
          <p:cNvPr id="41" name="rect 41"/>
          <p:cNvSpPr/>
          <p:nvPr/>
        </p:nvSpPr>
        <p:spPr>
          <a:xfrm>
            <a:off x="6492240" y="4023360"/>
            <a:ext cx="1133856" cy="1005840"/>
          </a:xfrm>
          <a:prstGeom prst="rect">
            <a:avLst/>
          </a:prstGeom>
          <a:pattFill prst="narVert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492240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narVert</a:t>
            </a:r>
            <a:endParaRPr lang="en-US" dirty="0"/>
          </a:p>
        </p:txBody>
      </p:sp>
      <p:sp>
        <p:nvSpPr>
          <p:cNvPr id="43" name="rect 43"/>
          <p:cNvSpPr/>
          <p:nvPr/>
        </p:nvSpPr>
        <p:spPr>
          <a:xfrm>
            <a:off x="7735824" y="4023360"/>
            <a:ext cx="1133856" cy="1005840"/>
          </a:xfrm>
          <a:prstGeom prst="rect">
            <a:avLst/>
          </a:prstGeom>
          <a:pattFill prst="dashHorz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735824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dashHorz</a:t>
            </a:r>
            <a:endParaRPr lang="en-US" dirty="0"/>
          </a:p>
        </p:txBody>
      </p:sp>
      <p:sp>
        <p:nvSpPr>
          <p:cNvPr id="45" name="rect 45"/>
          <p:cNvSpPr/>
          <p:nvPr/>
        </p:nvSpPr>
        <p:spPr>
          <a:xfrm>
            <a:off x="274320" y="5394960"/>
            <a:ext cx="1133856" cy="1005840"/>
          </a:xfrm>
          <a:prstGeom prst="rect">
            <a:avLst/>
          </a:prstGeom>
          <a:pattFill prst="dashVert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274320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dashVert</a:t>
            </a:r>
            <a:endParaRPr lang="en-US" dirty="0"/>
          </a:p>
        </p:txBody>
      </p:sp>
      <p:sp>
        <p:nvSpPr>
          <p:cNvPr id="47" name="rect 47"/>
          <p:cNvSpPr/>
          <p:nvPr/>
        </p:nvSpPr>
        <p:spPr>
          <a:xfrm>
            <a:off x="1517904" y="5394960"/>
            <a:ext cx="1133856" cy="1005840"/>
          </a:xfrm>
          <a:prstGeom prst="rect">
            <a:avLst/>
          </a:prstGeom>
          <a:pattFill prst="cross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1517904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cross</a:t>
            </a:r>
            <a:endParaRPr lang="en-US" dirty="0"/>
          </a:p>
        </p:txBody>
      </p:sp>
      <p:sp>
        <p:nvSpPr>
          <p:cNvPr id="49" name="rect 49"/>
          <p:cNvSpPr/>
          <p:nvPr/>
        </p:nvSpPr>
        <p:spPr>
          <a:xfrm>
            <a:off x="2761488" y="5394960"/>
            <a:ext cx="1133856" cy="1005840"/>
          </a:xfrm>
          <a:prstGeom prst="rect">
            <a:avLst/>
          </a:prstGeom>
          <a:pattFill prst="dnDi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2761488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dnDiag</a:t>
            </a:r>
            <a:endParaRPr lang="en-US" dirty="0"/>
          </a:p>
        </p:txBody>
      </p:sp>
      <p:sp>
        <p:nvSpPr>
          <p:cNvPr id="51" name="rect 51"/>
          <p:cNvSpPr/>
          <p:nvPr/>
        </p:nvSpPr>
        <p:spPr>
          <a:xfrm>
            <a:off x="4005072" y="5394960"/>
            <a:ext cx="1133856" cy="1005840"/>
          </a:xfrm>
          <a:prstGeom prst="rect">
            <a:avLst/>
          </a:prstGeom>
          <a:pattFill prst="upDi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005072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upDiag</a:t>
            </a:r>
            <a:endParaRPr lang="en-US" dirty="0"/>
          </a:p>
        </p:txBody>
      </p:sp>
      <p:sp>
        <p:nvSpPr>
          <p:cNvPr id="53" name="rect 53"/>
          <p:cNvSpPr/>
          <p:nvPr/>
        </p:nvSpPr>
        <p:spPr>
          <a:xfrm>
            <a:off x="5248656" y="5394960"/>
            <a:ext cx="1133856" cy="1005840"/>
          </a:xfrm>
          <a:prstGeom prst="rect">
            <a:avLst/>
          </a:prstGeom>
          <a:pattFill prst="ltDnDi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248656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ltDnDiag</a:t>
            </a:r>
            <a:endParaRPr lang="en-US" dirty="0"/>
          </a:p>
        </p:txBody>
      </p:sp>
      <p:sp>
        <p:nvSpPr>
          <p:cNvPr id="55" name="rect 55"/>
          <p:cNvSpPr/>
          <p:nvPr/>
        </p:nvSpPr>
        <p:spPr>
          <a:xfrm>
            <a:off x="6492240" y="5394960"/>
            <a:ext cx="1133856" cy="1005840"/>
          </a:xfrm>
          <a:prstGeom prst="rect">
            <a:avLst/>
          </a:prstGeom>
          <a:pattFill prst="ltUpDi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492240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ltUpDiag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Pattern fills 28-54</a:t>
            </a:r>
          </a:p>
        </p:txBody>
      </p:sp>
      <p:sp>
        <p:nvSpPr>
          <p:cNvPr id="3" name="rect 3"/>
          <p:cNvSpPr/>
          <p:nvPr/>
        </p:nvSpPr>
        <p:spPr>
          <a:xfrm>
            <a:off x="274320" y="1280160"/>
            <a:ext cx="1133856" cy="1005840"/>
          </a:xfrm>
          <a:prstGeom prst="rect">
            <a:avLst/>
          </a:prstGeom>
          <a:pattFill prst="dkDnDi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274320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dkDnDiag</a:t>
            </a:r>
            <a:endParaRPr lang="en-US" dirty="0"/>
          </a:p>
        </p:txBody>
      </p:sp>
      <p:sp>
        <p:nvSpPr>
          <p:cNvPr id="5" name="rect 5"/>
          <p:cNvSpPr/>
          <p:nvPr/>
        </p:nvSpPr>
        <p:spPr>
          <a:xfrm>
            <a:off x="1517904" y="1280160"/>
            <a:ext cx="1133856" cy="1005840"/>
          </a:xfrm>
          <a:prstGeom prst="rect">
            <a:avLst/>
          </a:prstGeom>
          <a:pattFill prst="dkUpDi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517904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dkUpDiag</a:t>
            </a:r>
            <a:endParaRPr lang="en-US" dirty="0"/>
          </a:p>
        </p:txBody>
      </p:sp>
      <p:sp>
        <p:nvSpPr>
          <p:cNvPr id="7" name="rect 7"/>
          <p:cNvSpPr/>
          <p:nvPr/>
        </p:nvSpPr>
        <p:spPr>
          <a:xfrm>
            <a:off x="2761488" y="1280160"/>
            <a:ext cx="1133856" cy="1005840"/>
          </a:xfrm>
          <a:prstGeom prst="rect">
            <a:avLst/>
          </a:prstGeom>
          <a:pattFill prst="wdDnDi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761488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wdDnDiag</a:t>
            </a:r>
            <a:endParaRPr lang="en-US" dirty="0"/>
          </a:p>
        </p:txBody>
      </p:sp>
      <p:sp>
        <p:nvSpPr>
          <p:cNvPr id="9" name="rect 9"/>
          <p:cNvSpPr/>
          <p:nvPr/>
        </p:nvSpPr>
        <p:spPr>
          <a:xfrm>
            <a:off x="4005072" y="1280160"/>
            <a:ext cx="1133856" cy="1005840"/>
          </a:xfrm>
          <a:prstGeom prst="rect">
            <a:avLst/>
          </a:prstGeom>
          <a:pattFill prst="wdUpDi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005072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wdUpDiag</a:t>
            </a:r>
            <a:endParaRPr lang="en-US" dirty="0"/>
          </a:p>
        </p:txBody>
      </p:sp>
      <p:sp>
        <p:nvSpPr>
          <p:cNvPr id="11" name="rect 11"/>
          <p:cNvSpPr/>
          <p:nvPr/>
        </p:nvSpPr>
        <p:spPr>
          <a:xfrm>
            <a:off x="5248656" y="1280160"/>
            <a:ext cx="1133856" cy="1005840"/>
          </a:xfrm>
          <a:prstGeom prst="rect">
            <a:avLst/>
          </a:prstGeom>
          <a:pattFill prst="dashDnDi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248656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dashDnDiag</a:t>
            </a:r>
            <a:endParaRPr lang="en-US" dirty="0"/>
          </a:p>
        </p:txBody>
      </p:sp>
      <p:sp>
        <p:nvSpPr>
          <p:cNvPr id="13" name="rect 13"/>
          <p:cNvSpPr/>
          <p:nvPr/>
        </p:nvSpPr>
        <p:spPr>
          <a:xfrm>
            <a:off x="6492240" y="1280160"/>
            <a:ext cx="1133856" cy="1005840"/>
          </a:xfrm>
          <a:prstGeom prst="rect">
            <a:avLst/>
          </a:prstGeom>
          <a:pattFill prst="dashUpDi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92240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dashUpDiag</a:t>
            </a:r>
            <a:endParaRPr lang="en-US" dirty="0"/>
          </a:p>
        </p:txBody>
      </p:sp>
      <p:sp>
        <p:nvSpPr>
          <p:cNvPr id="15" name="rect 15"/>
          <p:cNvSpPr/>
          <p:nvPr/>
        </p:nvSpPr>
        <p:spPr>
          <a:xfrm>
            <a:off x="7735824" y="1280160"/>
            <a:ext cx="1133856" cy="1005840"/>
          </a:xfrm>
          <a:prstGeom prst="rect">
            <a:avLst/>
          </a:prstGeom>
          <a:pattFill prst="diagCross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735824" y="22860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diagCross</a:t>
            </a:r>
            <a:endParaRPr lang="en-US" dirty="0"/>
          </a:p>
        </p:txBody>
      </p:sp>
      <p:sp>
        <p:nvSpPr>
          <p:cNvPr id="17" name="rect 17"/>
          <p:cNvSpPr/>
          <p:nvPr/>
        </p:nvSpPr>
        <p:spPr>
          <a:xfrm>
            <a:off x="274320" y="2651760"/>
            <a:ext cx="1133856" cy="1005840"/>
          </a:xfrm>
          <a:prstGeom prst="rect">
            <a:avLst/>
          </a:prstGeom>
          <a:pattFill prst="smCheck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74320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smCheck</a:t>
            </a:r>
            <a:endParaRPr lang="en-US" dirty="0"/>
          </a:p>
        </p:txBody>
      </p:sp>
      <p:sp>
        <p:nvSpPr>
          <p:cNvPr id="19" name="rect 19"/>
          <p:cNvSpPr/>
          <p:nvPr/>
        </p:nvSpPr>
        <p:spPr>
          <a:xfrm>
            <a:off x="1517904" y="2651760"/>
            <a:ext cx="1133856" cy="1005840"/>
          </a:xfrm>
          <a:prstGeom prst="rect">
            <a:avLst/>
          </a:prstGeom>
          <a:pattFill prst="lgCheck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517904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lgCheck</a:t>
            </a:r>
            <a:endParaRPr lang="en-US" dirty="0"/>
          </a:p>
        </p:txBody>
      </p:sp>
      <p:sp>
        <p:nvSpPr>
          <p:cNvPr id="21" name="rect 21"/>
          <p:cNvSpPr/>
          <p:nvPr/>
        </p:nvSpPr>
        <p:spPr>
          <a:xfrm>
            <a:off x="2761488" y="2651760"/>
            <a:ext cx="1133856" cy="1005840"/>
          </a:xfrm>
          <a:prstGeom prst="rect">
            <a:avLst/>
          </a:prstGeom>
          <a:pattFill prst="smGrid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761488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smGrid</a:t>
            </a:r>
            <a:endParaRPr lang="en-US" dirty="0"/>
          </a:p>
        </p:txBody>
      </p:sp>
      <p:sp>
        <p:nvSpPr>
          <p:cNvPr id="23" name="rect 23"/>
          <p:cNvSpPr/>
          <p:nvPr/>
        </p:nvSpPr>
        <p:spPr>
          <a:xfrm>
            <a:off x="4005072" y="2651760"/>
            <a:ext cx="1133856" cy="1005840"/>
          </a:xfrm>
          <a:prstGeom prst="rect">
            <a:avLst/>
          </a:prstGeom>
          <a:pattFill prst="lgGrid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005072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lgGrid</a:t>
            </a:r>
            <a:endParaRPr lang="en-US" dirty="0"/>
          </a:p>
        </p:txBody>
      </p:sp>
      <p:sp>
        <p:nvSpPr>
          <p:cNvPr id="25" name="rect 25"/>
          <p:cNvSpPr/>
          <p:nvPr/>
        </p:nvSpPr>
        <p:spPr>
          <a:xfrm>
            <a:off x="5248656" y="2651760"/>
            <a:ext cx="1133856" cy="1005840"/>
          </a:xfrm>
          <a:prstGeom prst="rect">
            <a:avLst/>
          </a:prstGeom>
          <a:pattFill prst="dotGrid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248656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dotGrid</a:t>
            </a:r>
            <a:endParaRPr lang="en-US" dirty="0"/>
          </a:p>
        </p:txBody>
      </p:sp>
      <p:sp>
        <p:nvSpPr>
          <p:cNvPr id="27" name="rect 27"/>
          <p:cNvSpPr/>
          <p:nvPr/>
        </p:nvSpPr>
        <p:spPr>
          <a:xfrm>
            <a:off x="6492240" y="2651760"/>
            <a:ext cx="1133856" cy="1005840"/>
          </a:xfrm>
          <a:prstGeom prst="rect">
            <a:avLst/>
          </a:prstGeom>
          <a:pattFill prst="smConfetti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492240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smConfetti</a:t>
            </a:r>
            <a:endParaRPr lang="en-US" dirty="0"/>
          </a:p>
        </p:txBody>
      </p:sp>
      <p:sp>
        <p:nvSpPr>
          <p:cNvPr id="29" name="rect 29"/>
          <p:cNvSpPr/>
          <p:nvPr/>
        </p:nvSpPr>
        <p:spPr>
          <a:xfrm>
            <a:off x="7735824" y="2651760"/>
            <a:ext cx="1133856" cy="1005840"/>
          </a:xfrm>
          <a:prstGeom prst="rect">
            <a:avLst/>
          </a:prstGeom>
          <a:pattFill prst="lgConfetti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735824" y="36576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lgConfetti</a:t>
            </a:r>
            <a:endParaRPr lang="en-US" dirty="0"/>
          </a:p>
        </p:txBody>
      </p:sp>
      <p:sp>
        <p:nvSpPr>
          <p:cNvPr id="31" name="rect 31"/>
          <p:cNvSpPr/>
          <p:nvPr/>
        </p:nvSpPr>
        <p:spPr>
          <a:xfrm>
            <a:off x="274320" y="4023360"/>
            <a:ext cx="1133856" cy="1005840"/>
          </a:xfrm>
          <a:prstGeom prst="rect">
            <a:avLst/>
          </a:prstGeom>
          <a:pattFill prst="horzBrick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74320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horzBrick</a:t>
            </a:r>
            <a:endParaRPr lang="en-US" dirty="0"/>
          </a:p>
        </p:txBody>
      </p:sp>
      <p:sp>
        <p:nvSpPr>
          <p:cNvPr id="33" name="rect 33"/>
          <p:cNvSpPr/>
          <p:nvPr/>
        </p:nvSpPr>
        <p:spPr>
          <a:xfrm>
            <a:off x="1517904" y="4023360"/>
            <a:ext cx="1133856" cy="1005840"/>
          </a:xfrm>
          <a:prstGeom prst="rect">
            <a:avLst/>
          </a:prstGeom>
          <a:pattFill prst="diagBrick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517904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diagBrick</a:t>
            </a:r>
            <a:endParaRPr lang="en-US" dirty="0"/>
          </a:p>
        </p:txBody>
      </p:sp>
      <p:sp>
        <p:nvSpPr>
          <p:cNvPr id="35" name="rect 35"/>
          <p:cNvSpPr/>
          <p:nvPr/>
        </p:nvSpPr>
        <p:spPr>
          <a:xfrm>
            <a:off x="2761488" y="4023360"/>
            <a:ext cx="1133856" cy="1005840"/>
          </a:xfrm>
          <a:prstGeom prst="rect">
            <a:avLst/>
          </a:prstGeom>
          <a:pattFill prst="solidDmnd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2761488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solidDmnd</a:t>
            </a:r>
            <a:endParaRPr lang="en-US" dirty="0"/>
          </a:p>
        </p:txBody>
      </p:sp>
      <p:sp>
        <p:nvSpPr>
          <p:cNvPr id="37" name="rect 37"/>
          <p:cNvSpPr/>
          <p:nvPr/>
        </p:nvSpPr>
        <p:spPr>
          <a:xfrm>
            <a:off x="4005072" y="4023360"/>
            <a:ext cx="1133856" cy="1005840"/>
          </a:xfrm>
          <a:prstGeom prst="rect">
            <a:avLst/>
          </a:prstGeom>
          <a:pattFill prst="openDmnd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005072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openDmnd</a:t>
            </a:r>
            <a:endParaRPr lang="en-US" dirty="0"/>
          </a:p>
        </p:txBody>
      </p:sp>
      <p:sp>
        <p:nvSpPr>
          <p:cNvPr id="39" name="rect 39"/>
          <p:cNvSpPr/>
          <p:nvPr/>
        </p:nvSpPr>
        <p:spPr>
          <a:xfrm>
            <a:off x="5248656" y="4023360"/>
            <a:ext cx="1133856" cy="1005840"/>
          </a:xfrm>
          <a:prstGeom prst="rect">
            <a:avLst/>
          </a:prstGeom>
          <a:pattFill prst="dotDmnd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5248656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dotDmnd</a:t>
            </a:r>
            <a:endParaRPr lang="en-US" dirty="0"/>
          </a:p>
        </p:txBody>
      </p:sp>
      <p:sp>
        <p:nvSpPr>
          <p:cNvPr id="41" name="rect 41"/>
          <p:cNvSpPr/>
          <p:nvPr/>
        </p:nvSpPr>
        <p:spPr>
          <a:xfrm>
            <a:off x="6492240" y="4023360"/>
            <a:ext cx="1133856" cy="1005840"/>
          </a:xfrm>
          <a:prstGeom prst="rect">
            <a:avLst/>
          </a:prstGeom>
          <a:pattFill prst="plaid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492240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plaid</a:t>
            </a:r>
            <a:endParaRPr lang="en-US" dirty="0"/>
          </a:p>
        </p:txBody>
      </p:sp>
      <p:sp>
        <p:nvSpPr>
          <p:cNvPr id="43" name="rect 43"/>
          <p:cNvSpPr/>
          <p:nvPr/>
        </p:nvSpPr>
        <p:spPr>
          <a:xfrm>
            <a:off x="7735824" y="4023360"/>
            <a:ext cx="1133856" cy="1005840"/>
          </a:xfrm>
          <a:prstGeom prst="rect">
            <a:avLst/>
          </a:prstGeom>
          <a:pattFill prst="sphere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735824" y="50292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sphere</a:t>
            </a:r>
            <a:endParaRPr lang="en-US" dirty="0"/>
          </a:p>
        </p:txBody>
      </p:sp>
      <p:sp>
        <p:nvSpPr>
          <p:cNvPr id="45" name="rect 45"/>
          <p:cNvSpPr/>
          <p:nvPr/>
        </p:nvSpPr>
        <p:spPr>
          <a:xfrm>
            <a:off x="274320" y="5394960"/>
            <a:ext cx="1133856" cy="1005840"/>
          </a:xfrm>
          <a:prstGeom prst="rect">
            <a:avLst/>
          </a:prstGeom>
          <a:pattFill prst="weave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274320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weave</a:t>
            </a:r>
            <a:endParaRPr lang="en-US" dirty="0"/>
          </a:p>
        </p:txBody>
      </p:sp>
      <p:sp>
        <p:nvSpPr>
          <p:cNvPr id="47" name="rect 47"/>
          <p:cNvSpPr/>
          <p:nvPr/>
        </p:nvSpPr>
        <p:spPr>
          <a:xfrm>
            <a:off x="1517904" y="5394960"/>
            <a:ext cx="1133856" cy="1005840"/>
          </a:xfrm>
          <a:prstGeom prst="rect">
            <a:avLst/>
          </a:prstGeom>
          <a:pattFill prst="divot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1517904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divot</a:t>
            </a:r>
            <a:endParaRPr lang="en-US" dirty="0"/>
          </a:p>
        </p:txBody>
      </p:sp>
      <p:sp>
        <p:nvSpPr>
          <p:cNvPr id="49" name="rect 49"/>
          <p:cNvSpPr/>
          <p:nvPr/>
        </p:nvSpPr>
        <p:spPr>
          <a:xfrm>
            <a:off x="2761488" y="5394960"/>
            <a:ext cx="1133856" cy="1005840"/>
          </a:xfrm>
          <a:prstGeom prst="rect">
            <a:avLst/>
          </a:prstGeom>
          <a:pattFill prst="shingle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2761488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shingle</a:t>
            </a:r>
            <a:endParaRPr lang="en-US" dirty="0"/>
          </a:p>
        </p:txBody>
      </p:sp>
      <p:sp>
        <p:nvSpPr>
          <p:cNvPr id="51" name="rect 51"/>
          <p:cNvSpPr/>
          <p:nvPr/>
        </p:nvSpPr>
        <p:spPr>
          <a:xfrm>
            <a:off x="4005072" y="5394960"/>
            <a:ext cx="1133856" cy="1005840"/>
          </a:xfrm>
          <a:prstGeom prst="rect">
            <a:avLst/>
          </a:prstGeom>
          <a:pattFill prst="wave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005072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wave</a:t>
            </a:r>
            <a:endParaRPr lang="en-US" dirty="0"/>
          </a:p>
        </p:txBody>
      </p:sp>
      <p:sp>
        <p:nvSpPr>
          <p:cNvPr id="53" name="rect 53"/>
          <p:cNvSpPr/>
          <p:nvPr/>
        </p:nvSpPr>
        <p:spPr>
          <a:xfrm>
            <a:off x="5248656" y="5394960"/>
            <a:ext cx="1133856" cy="1005840"/>
          </a:xfrm>
          <a:prstGeom prst="rect">
            <a:avLst/>
          </a:prstGeom>
          <a:pattFill prst="trellis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248656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trellis</a:t>
            </a:r>
            <a:endParaRPr lang="en-US" dirty="0"/>
          </a:p>
        </p:txBody>
      </p:sp>
      <p:sp>
        <p:nvSpPr>
          <p:cNvPr id="55" name="rect 55"/>
          <p:cNvSpPr/>
          <p:nvPr/>
        </p:nvSpPr>
        <p:spPr>
          <a:xfrm>
            <a:off x="6492240" y="5394960"/>
            <a:ext cx="1133856" cy="1005840"/>
          </a:xfrm>
          <a:prstGeom prst="rect">
            <a:avLst/>
          </a:prstGeom>
          <a:pattFill prst="zigZag">
            <a:fgClr>
              <a:srgbClr val="1F4E79"/>
            </a:fgClr>
            <a:bgClr>
              <a:srgbClr val="DEEBF7"/>
            </a:bgClr>
          </a:pattFill>
          <a:ln w="9525">
            <a:solidFill>
              <a:srgbClr val="1F4E79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492240" y="6400800"/>
            <a:ext cx="1133856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zigZag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Picture fills</a:t>
            </a:r>
          </a:p>
        </p:txBody>
      </p:sp>
      <p:sp>
        <p:nvSpPr>
          <p:cNvPr id="3" name="rect 3"/>
          <p:cNvSpPr/>
          <p:nvPr/>
        </p:nvSpPr>
        <p:spPr>
          <a:xfrm>
            <a:off x="365760" y="1371600"/>
            <a:ext cx="1931670" cy="20574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2700">
            <a:solidFill>
              <a:srgbClr val="404040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365760" y="3447288"/>
            <a:ext cx="1931670" cy="30175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stretch</a:t>
            </a:r>
            <a:endParaRPr lang="en-US" dirty="0"/>
          </a:p>
        </p:txBody>
      </p:sp>
      <p:sp>
        <p:nvSpPr>
          <p:cNvPr id="5" name="rect 5"/>
          <p:cNvSpPr/>
          <p:nvPr/>
        </p:nvSpPr>
        <p:spPr>
          <a:xfrm>
            <a:off x="2526030" y="1371600"/>
            <a:ext cx="1931670" cy="2057400"/>
          </a:xfrm>
          <a:prstGeom prst="rect">
            <a:avLst/>
          </a:prstGeom>
          <a:blipFill rotWithShape="1">
            <a:blip r:embed="rId2"/>
            <a:srcRect l="25000" t="25000"/>
            <a:stretch>
              <a:fillRect/>
            </a:stretch>
          </a:blipFill>
          <a:ln w="12700">
            <a:solidFill>
              <a:srgbClr val="40404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2526030" y="3447288"/>
            <a:ext cx="1931670" cy="30175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stretch + srcRect</a:t>
            </a:r>
            <a:endParaRPr lang="en-US" dirty="0"/>
          </a:p>
        </p:txBody>
      </p:sp>
      <p:sp>
        <p:nvSpPr>
          <p:cNvPr id="7" name="rect 7"/>
          <p:cNvSpPr/>
          <p:nvPr/>
        </p:nvSpPr>
        <p:spPr>
          <a:xfrm>
            <a:off x="4686300" y="1371600"/>
            <a:ext cx="1931670" cy="2057400"/>
          </a:xfrm>
          <a:prstGeom prst="rect">
            <a:avLst/>
          </a:prstGeom>
          <a:blipFill rotWithShape="1">
            <a:blip r:embed="rId3"/>
            <a:tile tx="0" ty="0" sx="100000" sy="100000" flip="none" algn="tl"/>
          </a:blipFill>
          <a:ln w="12700">
            <a:solidFill>
              <a:srgbClr val="404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686300" y="3447288"/>
            <a:ext cx="1931670" cy="30175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tile 100%</a:t>
            </a:r>
            <a:endParaRPr lang="en-US" dirty="0"/>
          </a:p>
        </p:txBody>
      </p:sp>
      <p:sp>
        <p:nvSpPr>
          <p:cNvPr id="9" name="rect 9"/>
          <p:cNvSpPr/>
          <p:nvPr/>
        </p:nvSpPr>
        <p:spPr>
          <a:xfrm>
            <a:off x="6846570" y="1371600"/>
            <a:ext cx="1931670" cy="2057400"/>
          </a:xfrm>
          <a:prstGeom prst="rect">
            <a:avLst/>
          </a:prstGeom>
          <a:blipFill rotWithShape="1">
            <a:blip r:embed="rId3"/>
            <a:tile tx="0" ty="0" sx="50000" sy="50000" flip="xy" algn="ctr"/>
          </a:blipFill>
          <a:ln w="12700">
            <a:solidFill>
              <a:srgbClr val="40404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846570" y="3447288"/>
            <a:ext cx="1931670" cy="30175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tile 50% flip xy</a:t>
            </a:r>
            <a:endParaRPr lang="en-US" dirty="0"/>
          </a:p>
        </p:txBody>
      </p:sp>
      <p:sp>
        <p:nvSpPr>
          <p:cNvPr id="11" name="ellipse 11"/>
          <p:cNvSpPr/>
          <p:nvPr/>
        </p:nvSpPr>
        <p:spPr>
          <a:xfrm>
            <a:off x="365760" y="4114800"/>
            <a:ext cx="1931670" cy="205740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>
            <a:solidFill>
              <a:srgbClr val="40404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65760" y="6190488"/>
            <a:ext cx="1931670" cy="30175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ellipse stretch</a:t>
            </a:r>
            <a:endParaRPr lang="en-US" dirty="0"/>
          </a:p>
        </p:txBody>
      </p:sp>
      <p:sp>
        <p:nvSpPr>
          <p:cNvPr id="13" name="star5 13"/>
          <p:cNvSpPr/>
          <p:nvPr/>
        </p:nvSpPr>
        <p:spPr>
          <a:xfrm>
            <a:off x="2526030" y="4114800"/>
            <a:ext cx="1931670" cy="2057400"/>
          </a:xfrm>
          <a:prstGeom prst="star5">
            <a:avLst/>
          </a:prstGeom>
          <a:blipFill rotWithShape="1">
            <a:blip r:embed="rId2"/>
            <a:stretch>
              <a:fillRect/>
            </a:stretch>
          </a:blipFill>
          <a:ln w="12700">
            <a:solidFill>
              <a:srgbClr val="40404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526030" y="6190488"/>
            <a:ext cx="1931670" cy="30175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star5 stretch</a:t>
            </a:r>
            <a:endParaRPr lang="en-US" dirty="0"/>
          </a:p>
        </p:txBody>
      </p:sp>
      <p:sp>
        <p:nvSpPr>
          <p:cNvPr id="15" name="heart 15"/>
          <p:cNvSpPr/>
          <p:nvPr/>
        </p:nvSpPr>
        <p:spPr>
          <a:xfrm>
            <a:off x="4686300" y="4114800"/>
            <a:ext cx="1931670" cy="2057400"/>
          </a:xfrm>
          <a:prstGeom prst="heart">
            <a:avLst/>
          </a:prstGeom>
          <a:blipFill rotWithShape="1">
            <a:blip r:embed="rId3"/>
            <a:tile tx="91440" ty="182880" sx="75000" sy="75000" algn="br"/>
          </a:blipFill>
          <a:ln w="12700">
            <a:solidFill>
              <a:srgbClr val="40404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686300" y="6190488"/>
            <a:ext cx="1931670" cy="30175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heart tile offset</a:t>
            </a:r>
            <a:endParaRPr lang="en-US" dirty="0"/>
          </a:p>
        </p:txBody>
      </p:sp>
      <p:sp>
        <p:nvSpPr>
          <p:cNvPr id="17" name="roundRect 17"/>
          <p:cNvSpPr/>
          <p:nvPr/>
        </p:nvSpPr>
        <p:spPr>
          <a:xfrm>
            <a:off x="6846570" y="4114800"/>
            <a:ext cx="1931670" cy="205740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 w="12700">
            <a:solidFill>
              <a:srgbClr val="404040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Text on picture fill</a:t>
            </a:r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6846570" y="6190488"/>
            <a:ext cx="1931670" cy="30175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text over picture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noFill outlines and group fill (grpFill)</a:t>
            </a:r>
          </a:p>
        </p:txBody>
      </p:sp>
      <p:sp>
        <p:nvSpPr>
          <p:cNvPr id="3" name="rect 3"/>
          <p:cNvSpPr/>
          <p:nvPr/>
        </p:nvSpPr>
        <p:spPr>
          <a:xfrm>
            <a:off x="457200" y="1463040"/>
            <a:ext cx="1737360" cy="1463040"/>
          </a:xfrm>
          <a:prstGeom prst="rect">
            <a:avLst/>
          </a:prstGeom>
          <a:noFill/>
          <a:ln w="31750">
            <a:solidFill>
              <a:srgbClr val="4472C4"/>
            </a:solidFill>
          </a:ln>
        </p:spPr>
      </p:sp>
      <p:sp>
        <p:nvSpPr>
          <p:cNvPr id="4" name="ellipse 4"/>
          <p:cNvSpPr/>
          <p:nvPr/>
        </p:nvSpPr>
        <p:spPr>
          <a:xfrm>
            <a:off x="2560320" y="1463040"/>
            <a:ext cx="1737360" cy="1463040"/>
          </a:xfrm>
          <a:prstGeom prst="ellipse">
            <a:avLst/>
          </a:prstGeom>
          <a:noFill/>
          <a:ln w="31750">
            <a:solidFill>
              <a:srgbClr val="ED7D31"/>
            </a:solidFill>
          </a:ln>
        </p:spPr>
      </p:sp>
      <p:sp>
        <p:nvSpPr>
          <p:cNvPr id="5" name="star5 5"/>
          <p:cNvSpPr/>
          <p:nvPr/>
        </p:nvSpPr>
        <p:spPr>
          <a:xfrm>
            <a:off x="4663440" y="1463040"/>
            <a:ext cx="1737360" cy="1463040"/>
          </a:xfrm>
          <a:prstGeom prst="star5">
            <a:avLst/>
          </a:prstGeom>
          <a:noFill/>
          <a:ln w="31750">
            <a:solidFill>
              <a:srgbClr val="A5A5A5"/>
            </a:solidFill>
          </a:ln>
        </p:spPr>
      </p:sp>
      <p:sp>
        <p:nvSpPr>
          <p:cNvPr id="6" name="cloud 6"/>
          <p:cNvSpPr/>
          <p:nvPr/>
        </p:nvSpPr>
        <p:spPr>
          <a:xfrm>
            <a:off x="6766560" y="1463040"/>
            <a:ext cx="1737360" cy="1463040"/>
          </a:xfrm>
          <a:prstGeom prst="cloud">
            <a:avLst/>
          </a:prstGeom>
          <a:noFill/>
          <a:ln w="31750">
            <a:solidFill>
              <a:srgbClr val="FFC000"/>
            </a:solidFill>
          </a:ln>
        </p:spPr>
      </p:sp>
      <p:grpSp>
        <p:nvGrpSpPr>
          <p:cNvPr id="7" name="Group with gradient fill"/>
          <p:cNvGrpSpPr/>
          <p:nvPr/>
        </p:nvGrpSpPr>
        <p:grpSpPr>
          <a:xfrm>
            <a:off x="914400" y="3657600"/>
            <a:ext cx="3931920" cy="1188720"/>
            <a:chOff x="0" y="0"/>
            <a:chExt cx="3931920" cy="1188720"/>
          </a:xfrm>
          <a:gradFill>
            <a:gsLst>
              <a:gs pos="0">
                <a:srgbClr val="FFC000"/>
              </a:gs>
              <a:gs pos="100000">
                <a:srgbClr val="C00000"/>
              </a:gs>
            </a:gsLst>
            <a:lin ang="0"/>
          </a:gradFill>
        </p:grpSpPr>
        <p:sp>
          <p:nvSpPr>
            <p:cNvPr id="8" name="grpFill child 0"/>
            <p:cNvSpPr/>
            <p:nvPr/>
          </p:nvSpPr>
          <p:spPr>
            <a:xfrm>
              <a:off x="0" y="0"/>
              <a:ext cx="1188720" cy="1188720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</p:sp>
        <p:sp>
          <p:nvSpPr>
            <p:cNvPr id="9" name="grpFill child 1"/>
            <p:cNvSpPr/>
            <p:nvPr/>
          </p:nvSpPr>
          <p:spPr>
            <a:xfrm>
              <a:off x="1371600" y="0"/>
              <a:ext cx="1188720" cy="1188720"/>
            </a:xfrm>
            <a:prstGeom prst="ellipse">
              <a:avLst/>
            </a:prstGeom>
            <a:grpFill/>
            <a:ln w="12700">
              <a:solidFill>
                <a:srgbClr val="000000"/>
              </a:solidFill>
            </a:ln>
          </p:spPr>
        </p:sp>
        <p:sp>
          <p:nvSpPr>
            <p:cNvPr id="10" name="grpFill child 2"/>
            <p:cNvSpPr/>
            <p:nvPr/>
          </p:nvSpPr>
          <p:spPr>
            <a:xfrm>
              <a:off x="2743200" y="0"/>
              <a:ext cx="1188720" cy="1188720"/>
            </a:xfrm>
            <a:prstGeom prst="triangle">
              <a:avLst/>
            </a:prstGeom>
            <a:grpFill/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914400" y="4937760"/>
            <a:ext cx="393192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children use &lt;a:grpFill/&gt; (group gradient spans all)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Fills: all 54 pattern presets, picture fills, noFill, group fill</dc:title>
  <dc:subject>pptx_engine test corpus</dc:subject>
  <dc:creator>pptx_engine corpus generator</dc:creator>
  <cp:keywords>fills, pattern-fill, picture-fill, tile, group-fill</cp:keywords>
  <dc:description>Every ST_PresetPatternVal, picture fills (stretch, srcRect-cropped stretch, tile with scale/offset/flip/alignment) in rectangles and non-rectangular shapes, outline-only shapes and grpFill children.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