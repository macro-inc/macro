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Arrowhead types and sizes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880" y="1600200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triangle</a:t>
            </a:r>
            <a:endParaRPr lang="en-US" dirty="0"/>
          </a:p>
        </p:txBody>
      </p:sp>
      <p:sp>
        <p:nvSpPr>
          <p:cNvPr id="4" name="triangle smsm"/>
          <p:cNvSpPr/>
          <p:nvPr/>
        </p:nvSpPr>
        <p:spPr>
          <a:xfrm>
            <a:off x="1371600" y="173736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triangle" w="sm" len="sm"/>
            <a:tailEnd type="triangl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371600" y="1234440"/>
            <a:ext cx="11887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w=sm len=sm</a:t>
            </a:r>
            <a:endParaRPr lang="en-US" dirty="0"/>
          </a:p>
        </p:txBody>
      </p:sp>
      <p:sp>
        <p:nvSpPr>
          <p:cNvPr id="6" name="triangle medmed"/>
          <p:cNvSpPr/>
          <p:nvPr/>
        </p:nvSpPr>
        <p:spPr>
          <a:xfrm>
            <a:off x="2880360" y="173736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triangle" w="med" len="med"/>
            <a:tailEnd type="triangle" w="med" len="med"/>
          </a:ln>
        </p:spPr>
      </p:sp>
      <p:sp>
        <p:nvSpPr>
          <p:cNvPr id="7" name="TextBox 7"/>
          <p:cNvSpPr txBox="1"/>
          <p:nvPr/>
        </p:nvSpPr>
        <p:spPr>
          <a:xfrm>
            <a:off x="2880360" y="1234440"/>
            <a:ext cx="11887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w=med len=med</a:t>
            </a:r>
            <a:endParaRPr lang="en-US" dirty="0"/>
          </a:p>
        </p:txBody>
      </p:sp>
      <p:sp>
        <p:nvSpPr>
          <p:cNvPr id="8" name="triangle lglg"/>
          <p:cNvSpPr/>
          <p:nvPr/>
        </p:nvSpPr>
        <p:spPr>
          <a:xfrm>
            <a:off x="4389120" y="173736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triangle" w="lg" len="lg"/>
            <a:tailEnd type="triangle" w="lg" len="lg"/>
          </a:ln>
        </p:spPr>
      </p:sp>
      <p:sp>
        <p:nvSpPr>
          <p:cNvPr id="9" name="TextBox 9"/>
          <p:cNvSpPr txBox="1"/>
          <p:nvPr/>
        </p:nvSpPr>
        <p:spPr>
          <a:xfrm>
            <a:off x="4389120" y="1234440"/>
            <a:ext cx="11887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w=lg len=lg</a:t>
            </a:r>
            <a:endParaRPr lang="en-US" dirty="0"/>
          </a:p>
        </p:txBody>
      </p:sp>
      <p:sp>
        <p:nvSpPr>
          <p:cNvPr id="10" name="triangle smlg"/>
          <p:cNvSpPr/>
          <p:nvPr/>
        </p:nvSpPr>
        <p:spPr>
          <a:xfrm>
            <a:off x="5897880" y="173736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triangle" w="sm" len="lg"/>
            <a:tailEnd type="triangle" w="sm" len="lg"/>
          </a:ln>
        </p:spPr>
      </p:sp>
      <p:sp>
        <p:nvSpPr>
          <p:cNvPr id="11" name="TextBox 11"/>
          <p:cNvSpPr txBox="1"/>
          <p:nvPr/>
        </p:nvSpPr>
        <p:spPr>
          <a:xfrm>
            <a:off x="5897880" y="1234440"/>
            <a:ext cx="11887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w=sm len=lg</a:t>
            </a:r>
            <a:endParaRPr lang="en-US" dirty="0"/>
          </a:p>
        </p:txBody>
      </p:sp>
      <p:sp>
        <p:nvSpPr>
          <p:cNvPr id="12" name="triangle lgsm"/>
          <p:cNvSpPr/>
          <p:nvPr/>
        </p:nvSpPr>
        <p:spPr>
          <a:xfrm>
            <a:off x="7406640" y="173736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triangle" w="lg" len="sm"/>
            <a:tailEnd type="triangle" w="lg" len="sm"/>
          </a:ln>
        </p:spPr>
      </p:sp>
      <p:sp>
        <p:nvSpPr>
          <p:cNvPr id="13" name="TextBox 13"/>
          <p:cNvSpPr txBox="1"/>
          <p:nvPr/>
        </p:nvSpPr>
        <p:spPr>
          <a:xfrm>
            <a:off x="7406640" y="1234440"/>
            <a:ext cx="118872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w=lg len=sm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182880" y="2560320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stealth</a:t>
            </a:r>
            <a:endParaRPr lang="en-US" dirty="0"/>
          </a:p>
        </p:txBody>
      </p:sp>
      <p:sp>
        <p:nvSpPr>
          <p:cNvPr id="15" name="stealth smsm"/>
          <p:cNvSpPr/>
          <p:nvPr/>
        </p:nvSpPr>
        <p:spPr>
          <a:xfrm>
            <a:off x="1371600" y="269748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stealth" w="sm" len="sm"/>
            <a:tailEnd type="stealth" w="sm" len="sm"/>
          </a:ln>
        </p:spPr>
      </p:sp>
      <p:sp>
        <p:nvSpPr>
          <p:cNvPr id="16" name="stealth medmed"/>
          <p:cNvSpPr/>
          <p:nvPr/>
        </p:nvSpPr>
        <p:spPr>
          <a:xfrm>
            <a:off x="2880360" y="269748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stealth" w="med" len="med"/>
            <a:tailEnd type="stealth" w="med" len="med"/>
          </a:ln>
        </p:spPr>
      </p:sp>
      <p:sp>
        <p:nvSpPr>
          <p:cNvPr id="17" name="stealth lglg"/>
          <p:cNvSpPr/>
          <p:nvPr/>
        </p:nvSpPr>
        <p:spPr>
          <a:xfrm>
            <a:off x="4389120" y="269748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stealth" w="lg" len="lg"/>
            <a:tailEnd type="stealth" w="lg" len="lg"/>
          </a:ln>
        </p:spPr>
      </p:sp>
      <p:sp>
        <p:nvSpPr>
          <p:cNvPr id="18" name="stealth smlg"/>
          <p:cNvSpPr/>
          <p:nvPr/>
        </p:nvSpPr>
        <p:spPr>
          <a:xfrm>
            <a:off x="5897880" y="269748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stealth" w="sm" len="lg"/>
            <a:tailEnd type="stealth" w="sm" len="lg"/>
          </a:ln>
        </p:spPr>
      </p:sp>
      <p:sp>
        <p:nvSpPr>
          <p:cNvPr id="19" name="stealth lgsm"/>
          <p:cNvSpPr/>
          <p:nvPr/>
        </p:nvSpPr>
        <p:spPr>
          <a:xfrm>
            <a:off x="7406640" y="269748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stealth" w="lg" len="sm"/>
            <a:tailEnd type="stealth" w="lg" len="sm"/>
          </a:ln>
        </p:spPr>
      </p:sp>
      <p:sp>
        <p:nvSpPr>
          <p:cNvPr id="20" name="TextBox 20"/>
          <p:cNvSpPr txBox="1"/>
          <p:nvPr/>
        </p:nvSpPr>
        <p:spPr>
          <a:xfrm>
            <a:off x="182880" y="3520440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diamond</a:t>
            </a:r>
            <a:endParaRPr lang="en-US" dirty="0"/>
          </a:p>
        </p:txBody>
      </p:sp>
      <p:sp>
        <p:nvSpPr>
          <p:cNvPr id="21" name="diamond smsm"/>
          <p:cNvSpPr/>
          <p:nvPr/>
        </p:nvSpPr>
        <p:spPr>
          <a:xfrm>
            <a:off x="1371600" y="365760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diamond" w="sm" len="sm"/>
            <a:tailEnd type="diamond" w="sm" len="sm"/>
          </a:ln>
        </p:spPr>
      </p:sp>
      <p:sp>
        <p:nvSpPr>
          <p:cNvPr id="22" name="diamond medmed"/>
          <p:cNvSpPr/>
          <p:nvPr/>
        </p:nvSpPr>
        <p:spPr>
          <a:xfrm>
            <a:off x="2880360" y="365760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diamond" w="med" len="med"/>
            <a:tailEnd type="diamond" w="med" len="med"/>
          </a:ln>
        </p:spPr>
      </p:sp>
      <p:sp>
        <p:nvSpPr>
          <p:cNvPr id="23" name="diamond lglg"/>
          <p:cNvSpPr/>
          <p:nvPr/>
        </p:nvSpPr>
        <p:spPr>
          <a:xfrm>
            <a:off x="4389120" y="365760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diamond" w="lg" len="lg"/>
            <a:tailEnd type="diamond" w="lg" len="lg"/>
          </a:ln>
        </p:spPr>
      </p:sp>
      <p:sp>
        <p:nvSpPr>
          <p:cNvPr id="24" name="diamond smlg"/>
          <p:cNvSpPr/>
          <p:nvPr/>
        </p:nvSpPr>
        <p:spPr>
          <a:xfrm>
            <a:off x="5897880" y="365760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diamond" w="sm" len="lg"/>
            <a:tailEnd type="diamond" w="sm" len="lg"/>
          </a:ln>
        </p:spPr>
      </p:sp>
      <p:sp>
        <p:nvSpPr>
          <p:cNvPr id="25" name="diamond lgsm"/>
          <p:cNvSpPr/>
          <p:nvPr/>
        </p:nvSpPr>
        <p:spPr>
          <a:xfrm>
            <a:off x="7406640" y="365760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diamond" w="lg" len="sm"/>
            <a:tailEnd type="diamond" w="lg" len="sm"/>
          </a:ln>
        </p:spPr>
      </p:sp>
      <p:sp>
        <p:nvSpPr>
          <p:cNvPr id="26" name="TextBox 26"/>
          <p:cNvSpPr txBox="1"/>
          <p:nvPr/>
        </p:nvSpPr>
        <p:spPr>
          <a:xfrm>
            <a:off x="182880" y="4480560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oval</a:t>
            </a:r>
            <a:endParaRPr lang="en-US" dirty="0"/>
          </a:p>
        </p:txBody>
      </p:sp>
      <p:sp>
        <p:nvSpPr>
          <p:cNvPr id="27" name="oval smsm"/>
          <p:cNvSpPr/>
          <p:nvPr/>
        </p:nvSpPr>
        <p:spPr>
          <a:xfrm>
            <a:off x="1371600" y="461772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oval" w="sm" len="sm"/>
            <a:tailEnd type="oval" w="sm" len="sm"/>
          </a:ln>
        </p:spPr>
      </p:sp>
      <p:sp>
        <p:nvSpPr>
          <p:cNvPr id="28" name="oval medmed"/>
          <p:cNvSpPr/>
          <p:nvPr/>
        </p:nvSpPr>
        <p:spPr>
          <a:xfrm>
            <a:off x="2880360" y="461772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oval" w="med" len="med"/>
            <a:tailEnd type="oval" w="med" len="med"/>
          </a:ln>
        </p:spPr>
      </p:sp>
      <p:sp>
        <p:nvSpPr>
          <p:cNvPr id="29" name="oval lglg"/>
          <p:cNvSpPr/>
          <p:nvPr/>
        </p:nvSpPr>
        <p:spPr>
          <a:xfrm>
            <a:off x="4389120" y="461772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oval" w="lg" len="lg"/>
            <a:tailEnd type="oval" w="lg" len="lg"/>
          </a:ln>
        </p:spPr>
      </p:sp>
      <p:sp>
        <p:nvSpPr>
          <p:cNvPr id="30" name="oval smlg"/>
          <p:cNvSpPr/>
          <p:nvPr/>
        </p:nvSpPr>
        <p:spPr>
          <a:xfrm>
            <a:off x="5897880" y="461772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oval" w="sm" len="lg"/>
            <a:tailEnd type="oval" w="sm" len="lg"/>
          </a:ln>
        </p:spPr>
      </p:sp>
      <p:sp>
        <p:nvSpPr>
          <p:cNvPr id="31" name="oval lgsm"/>
          <p:cNvSpPr/>
          <p:nvPr/>
        </p:nvSpPr>
        <p:spPr>
          <a:xfrm>
            <a:off x="7406640" y="461772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oval" w="lg" len="sm"/>
            <a:tailEnd type="oval" w="lg" len="sm"/>
          </a:ln>
        </p:spPr>
      </p:sp>
      <p:sp>
        <p:nvSpPr>
          <p:cNvPr id="32" name="TextBox 32"/>
          <p:cNvSpPr txBox="1"/>
          <p:nvPr/>
        </p:nvSpPr>
        <p:spPr>
          <a:xfrm>
            <a:off x="182880" y="5440680"/>
            <a:ext cx="100584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100" dirty="0">
                <a:solidFill>
                  <a:srgbClr val="404040"/>
                </a:solidFill>
              </a:rPr>
              <a:t>arrow</a:t>
            </a:r>
            <a:endParaRPr lang="en-US" dirty="0"/>
          </a:p>
        </p:txBody>
      </p:sp>
      <p:sp>
        <p:nvSpPr>
          <p:cNvPr id="33" name="arrow smsm"/>
          <p:cNvSpPr/>
          <p:nvPr/>
        </p:nvSpPr>
        <p:spPr>
          <a:xfrm>
            <a:off x="1371600" y="557784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arrow" w="sm" len="sm"/>
            <a:tailEnd type="arrow" w="sm" len="sm"/>
          </a:ln>
        </p:spPr>
      </p:sp>
      <p:sp>
        <p:nvSpPr>
          <p:cNvPr id="34" name="arrow medmed"/>
          <p:cNvSpPr/>
          <p:nvPr/>
        </p:nvSpPr>
        <p:spPr>
          <a:xfrm>
            <a:off x="2880360" y="557784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arrow" w="med" len="med"/>
            <a:tailEnd type="arrow" w="med" len="med"/>
          </a:ln>
        </p:spPr>
      </p:sp>
      <p:sp>
        <p:nvSpPr>
          <p:cNvPr id="35" name="arrow lglg"/>
          <p:cNvSpPr/>
          <p:nvPr/>
        </p:nvSpPr>
        <p:spPr>
          <a:xfrm>
            <a:off x="4389120" y="557784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arrow" w="lg" len="lg"/>
            <a:tailEnd type="arrow" w="lg" len="lg"/>
          </a:ln>
        </p:spPr>
      </p:sp>
      <p:sp>
        <p:nvSpPr>
          <p:cNvPr id="36" name="arrow smlg"/>
          <p:cNvSpPr/>
          <p:nvPr/>
        </p:nvSpPr>
        <p:spPr>
          <a:xfrm>
            <a:off x="5897880" y="557784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arrow" w="sm" len="lg"/>
            <a:tailEnd type="arrow" w="sm" len="lg"/>
          </a:ln>
        </p:spPr>
      </p:sp>
      <p:sp>
        <p:nvSpPr>
          <p:cNvPr id="37" name="arrow lgsm"/>
          <p:cNvSpPr/>
          <p:nvPr/>
        </p:nvSpPr>
        <p:spPr>
          <a:xfrm>
            <a:off x="7406640" y="5577840"/>
            <a:ext cx="1188720" cy="0"/>
          </a:xfrm>
          <a:prstGeom prst="line">
            <a:avLst/>
          </a:prstGeom>
          <a:ln w="31750">
            <a:solidFill>
              <a:srgbClr val="1F3864"/>
            </a:solidFill>
            <a:headEnd type="arrow" w="lg" len="sm"/>
            <a:tailEnd type="arrow" w="lg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Connectors glued to shapes (stCxn / endCxn)</a:t>
            </a:r>
          </a:p>
        </p:txBody>
      </p:sp>
      <p:sp>
        <p:nvSpPr>
          <p:cNvPr id="3" name="Box A"/>
          <p:cNvSpPr/>
          <p:nvPr/>
        </p:nvSpPr>
        <p:spPr>
          <a:xfrm>
            <a:off x="548640" y="1645920"/>
            <a:ext cx="1828800" cy="8229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600" b="1" dirty="0"/>
              <a:t>A</a:t>
            </a:r>
            <a:endParaRPr lang="en-US" dirty="0"/>
          </a:p>
        </p:txBody>
      </p:sp>
      <p:sp>
        <p:nvSpPr>
          <p:cNvPr id="4" name="Box B"/>
          <p:cNvSpPr/>
          <p:nvPr/>
        </p:nvSpPr>
        <p:spPr>
          <a:xfrm>
            <a:off x="3657600" y="1463040"/>
            <a:ext cx="1828800" cy="8229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600" b="1" dirty="0"/>
              <a:t>B</a:t>
            </a:r>
            <a:endParaRPr lang="en-US" dirty="0"/>
          </a:p>
        </p:txBody>
      </p:sp>
      <p:sp>
        <p:nvSpPr>
          <p:cNvPr id="5" name="Box C"/>
          <p:cNvSpPr/>
          <p:nvPr/>
        </p:nvSpPr>
        <p:spPr>
          <a:xfrm>
            <a:off x="6766560" y="2743200"/>
            <a:ext cx="1828800" cy="8229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600" b="1" dirty="0"/>
              <a:t>C</a:t>
            </a:r>
            <a:endParaRPr lang="en-US" dirty="0"/>
          </a:p>
        </p:txBody>
      </p:sp>
      <p:sp>
        <p:nvSpPr>
          <p:cNvPr id="6" name="Box D"/>
          <p:cNvSpPr/>
          <p:nvPr/>
        </p:nvSpPr>
        <p:spPr>
          <a:xfrm>
            <a:off x="548640" y="4754880"/>
            <a:ext cx="1828800" cy="8229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600" b="1" dirty="0"/>
              <a:t>D</a:t>
            </a:r>
            <a:endParaRPr lang="en-US" dirty="0"/>
          </a:p>
        </p:txBody>
      </p:sp>
      <p:sp>
        <p:nvSpPr>
          <p:cNvPr id="7" name="Box E"/>
          <p:cNvSpPr/>
          <p:nvPr/>
        </p:nvSpPr>
        <p:spPr>
          <a:xfrm>
            <a:off x="3657600" y="5120640"/>
            <a:ext cx="1828800" cy="8229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600" b="1" dirty="0"/>
              <a:t>E</a:t>
            </a:r>
            <a:endParaRPr lang="en-US" dirty="0"/>
          </a:p>
        </p:txBody>
      </p:sp>
      <p:sp>
        <p:nvSpPr>
          <p:cNvPr id="8" name="Box F"/>
          <p:cNvSpPr/>
          <p:nvPr/>
        </p:nvSpPr>
        <p:spPr>
          <a:xfrm>
            <a:off x="6766560" y="5303520"/>
            <a:ext cx="1828800" cy="8229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lang="en-US" sz="1600" b="1" dirty="0"/>
              <a:t>F</a:t>
            </a:r>
            <a:endParaRPr lang="en-US" dirty="0"/>
          </a:p>
        </p:txBody>
      </p:sp>
      <p:cxnSp>
        <p:nvCxnSpPr>
          <p:cNvPr id="9" name="straightConnector1 A-B"/>
          <p:cNvCxnSpPr>
            <a:stCxn id="3" idx="3"/>
            <a:endCxn id="4" idx="1"/>
          </p:cNvCxnSpPr>
          <p:nvPr/>
        </p:nvCxnSpPr>
        <p:spPr>
          <a:xfrm flipV="1">
            <a:off x="2377440" y="1874520"/>
            <a:ext cx="1280160" cy="18288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med"/>
          </a:ln>
        </p:spPr>
      </p:cxnSp>
      <p:cxnSp>
        <p:nvCxnSpPr>
          <p:cNvPr id="10" name="bentConnector3 B-C"/>
          <p:cNvCxnSpPr>
            <a:stCxn id="4" idx="3"/>
            <a:endCxn id="5" idx="1"/>
          </p:cNvCxnSpPr>
          <p:nvPr/>
        </p:nvCxnSpPr>
        <p:spPr>
          <a:xfrm>
            <a:off x="5486400" y="1874520"/>
            <a:ext cx="1280160" cy="1280160"/>
          </a:xfrm>
          <a:prstGeom prst="bentConnector3">
            <a:avLst/>
          </a:prstGeom>
          <a:ln w="25400">
            <a:solidFill>
              <a:srgbClr val="00B050"/>
            </a:solidFill>
            <a:tailEnd type="triangle" w="med" len="med"/>
          </a:ln>
        </p:spPr>
      </p:cxnSp>
      <p:cxnSp>
        <p:nvCxnSpPr>
          <p:cNvPr id="11" name="curvedConnector3 A-E"/>
          <p:cNvCxnSpPr>
            <a:stCxn id="3" idx="2"/>
            <a:endCxn id="7" idx="1"/>
          </p:cNvCxnSpPr>
          <p:nvPr/>
        </p:nvCxnSpPr>
        <p:spPr>
          <a:xfrm>
            <a:off x="1463040" y="2468880"/>
            <a:ext cx="2194560" cy="3063240"/>
          </a:xfrm>
          <a:prstGeom prst="curvedConnector3">
            <a:avLst/>
          </a:prstGeom>
          <a:ln w="25400">
            <a:solidFill>
              <a:srgbClr val="7030A0"/>
            </a:solidFill>
            <a:tailEnd type="triangle" w="med" len="med"/>
          </a:ln>
        </p:spPr>
      </p:cxnSp>
      <p:cxnSp>
        <p:nvCxnSpPr>
          <p:cNvPr id="12" name="bentConnector3 D-E"/>
          <p:cNvCxnSpPr>
            <a:stCxn id="6" idx="3"/>
            <a:endCxn id="7" idx="1"/>
          </p:cNvCxnSpPr>
          <p:nvPr/>
        </p:nvCxnSpPr>
        <p:spPr>
          <a:xfrm>
            <a:off x="2377440" y="5166360"/>
            <a:ext cx="1280160" cy="365760"/>
          </a:xfrm>
          <a:prstGeom prst="bentConnector3">
            <a:avLst>
              <a:gd name="adj1" fmla="val 25000"/>
            </a:avLst>
          </a:prstGeom>
          <a:ln w="25400">
            <a:solidFill>
              <a:srgbClr val="0070C0"/>
            </a:solidFill>
            <a:tailEnd type="triangle" w="med" len="med"/>
          </a:ln>
        </p:spPr>
      </p:cxnSp>
      <p:cxnSp>
        <p:nvCxnSpPr>
          <p:cNvPr id="13" name="straightConnector1 F-E"/>
          <p:cNvCxnSpPr>
            <a:stCxn id="8" idx="1"/>
            <a:endCxn id="7" idx="3"/>
          </p:cNvCxnSpPr>
          <p:nvPr/>
        </p:nvCxnSpPr>
        <p:spPr>
          <a:xfrm flipH="1" flipV="1">
            <a:off x="5486400" y="5532120"/>
            <a:ext cx="1280160" cy="182880"/>
          </a:xfrm>
          <a:prstGeom prst="straightConnector1">
            <a:avLst/>
          </a:prstGeom>
          <a:ln w="25400">
            <a:solidFill>
              <a:srgbClr val="C55A11"/>
            </a:solidFill>
            <a:tailEnd type="triangle" w="med" len="med"/>
          </a:ln>
        </p:spPr>
      </p:cxnSp>
      <p:cxnSp>
        <p:nvCxnSpPr>
          <p:cNvPr id="14" name="curvedConnector3 C-F"/>
          <p:cNvCxnSpPr>
            <a:stCxn id="5" idx="2"/>
            <a:endCxn id="8" idx="0"/>
          </p:cNvCxnSpPr>
          <p:nvPr/>
        </p:nvCxnSpPr>
        <p:spPr>
          <a:xfrm>
            <a:off x="7680960" y="3566160"/>
            <a:ext cx="0" cy="1737360"/>
          </a:xfrm>
          <a:prstGeom prst="curvedConnector3">
            <a:avLst/>
          </a:prstGeom>
          <a:ln w="25400">
            <a:solidFill>
              <a:srgbClr val="000000"/>
            </a:solidFill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Bent and curved connector variants</a:t>
            </a:r>
          </a:p>
        </p:txBody>
      </p:sp>
      <p:cxnSp>
        <p:nvCxnSpPr>
          <p:cNvPr id="3" name="bentConnector2"/>
          <p:cNvCxnSpPr/>
          <p:nvPr/>
        </p:nvCxnSpPr>
        <p:spPr>
          <a:xfrm>
            <a:off x="548640" y="1554480"/>
            <a:ext cx="1645920" cy="1463040"/>
          </a:xfrm>
          <a:prstGeom prst="bentConnector2">
            <a:avLst/>
          </a:prstGeom>
          <a:ln w="31750">
            <a:solidFill>
              <a:srgbClr val="4472C4"/>
            </a:solidFill>
            <a:tailEnd type="arrow" w="med" len="med"/>
          </a:ln>
        </p:spPr>
      </p:cxnSp>
      <p:sp>
        <p:nvSpPr>
          <p:cNvPr id="4" name="TextBox 4"/>
          <p:cNvSpPr txBox="1"/>
          <p:nvPr/>
        </p:nvSpPr>
        <p:spPr>
          <a:xfrm>
            <a:off x="457200" y="3108960"/>
            <a:ext cx="1828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bentConnector2</a:t>
            </a:r>
            <a:endParaRPr lang="en-US" dirty="0"/>
          </a:p>
        </p:txBody>
      </p:sp>
      <p:cxnSp>
        <p:nvCxnSpPr>
          <p:cNvPr id="5" name="bentConnector3"/>
          <p:cNvCxnSpPr/>
          <p:nvPr/>
        </p:nvCxnSpPr>
        <p:spPr>
          <a:xfrm>
            <a:off x="2651760" y="1554480"/>
            <a:ext cx="1645920" cy="1463040"/>
          </a:xfrm>
          <a:prstGeom prst="bentConnector3">
            <a:avLst/>
          </a:prstGeom>
          <a:ln w="31750">
            <a:solidFill>
              <a:srgbClr val="ED7D31"/>
            </a:solidFill>
            <a:tailEnd type="arrow" w="med" len="med"/>
          </a:ln>
        </p:spPr>
      </p:cxnSp>
      <p:sp>
        <p:nvSpPr>
          <p:cNvPr id="6" name="TextBox 6"/>
          <p:cNvSpPr txBox="1"/>
          <p:nvPr/>
        </p:nvSpPr>
        <p:spPr>
          <a:xfrm>
            <a:off x="2560320" y="3108960"/>
            <a:ext cx="1828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bentConnector3</a:t>
            </a:r>
            <a:endParaRPr lang="en-US" dirty="0"/>
          </a:p>
        </p:txBody>
      </p:sp>
      <p:cxnSp>
        <p:nvCxnSpPr>
          <p:cNvPr id="7" name="bentConnector4"/>
          <p:cNvCxnSpPr/>
          <p:nvPr/>
        </p:nvCxnSpPr>
        <p:spPr>
          <a:xfrm>
            <a:off x="4754880" y="1554480"/>
            <a:ext cx="1645920" cy="1463040"/>
          </a:xfrm>
          <a:prstGeom prst="bentConnector4">
            <a:avLst/>
          </a:prstGeom>
          <a:ln w="31750">
            <a:solidFill>
              <a:srgbClr val="A5A5A5"/>
            </a:solidFill>
            <a:tailEnd type="arrow" w="med" len="med"/>
          </a:ln>
        </p:spPr>
      </p:cxnSp>
      <p:sp>
        <p:nvSpPr>
          <p:cNvPr id="8" name="TextBox 8"/>
          <p:cNvSpPr txBox="1"/>
          <p:nvPr/>
        </p:nvSpPr>
        <p:spPr>
          <a:xfrm>
            <a:off x="4663440" y="3108960"/>
            <a:ext cx="1828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bentConnector4</a:t>
            </a:r>
            <a:endParaRPr lang="en-US" dirty="0"/>
          </a:p>
        </p:txBody>
      </p:sp>
      <p:cxnSp>
        <p:nvCxnSpPr>
          <p:cNvPr id="9" name="bentConnector5"/>
          <p:cNvCxnSpPr/>
          <p:nvPr/>
        </p:nvCxnSpPr>
        <p:spPr>
          <a:xfrm>
            <a:off x="6858000" y="1554480"/>
            <a:ext cx="1645920" cy="1463040"/>
          </a:xfrm>
          <a:prstGeom prst="bentConnector5">
            <a:avLst/>
          </a:prstGeom>
          <a:ln w="31750">
            <a:solidFill>
              <a:srgbClr val="FFC000"/>
            </a:solidFill>
            <a:tailEnd type="arrow" w="med" len="med"/>
          </a:ln>
        </p:spPr>
      </p:cxnSp>
      <p:sp>
        <p:nvSpPr>
          <p:cNvPr id="10" name="TextBox 10"/>
          <p:cNvSpPr txBox="1"/>
          <p:nvPr/>
        </p:nvSpPr>
        <p:spPr>
          <a:xfrm>
            <a:off x="6766560" y="3108960"/>
            <a:ext cx="1828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bentConnector5</a:t>
            </a:r>
            <a:endParaRPr lang="en-US" dirty="0"/>
          </a:p>
        </p:txBody>
      </p:sp>
      <p:cxnSp>
        <p:nvCxnSpPr>
          <p:cNvPr id="11" name="curvedConnector2"/>
          <p:cNvCxnSpPr/>
          <p:nvPr/>
        </p:nvCxnSpPr>
        <p:spPr>
          <a:xfrm>
            <a:off x="548640" y="4023360"/>
            <a:ext cx="1645920" cy="1463040"/>
          </a:xfrm>
          <a:prstGeom prst="curvedConnector2">
            <a:avLst/>
          </a:prstGeom>
          <a:ln w="31750">
            <a:solidFill>
              <a:srgbClr val="5B9BD5"/>
            </a:solidFill>
            <a:tailEnd type="arrow" w="med" len="med"/>
          </a:ln>
        </p:spPr>
      </p:cxnSp>
      <p:sp>
        <p:nvSpPr>
          <p:cNvPr id="12" name="TextBox 12"/>
          <p:cNvSpPr txBox="1"/>
          <p:nvPr/>
        </p:nvSpPr>
        <p:spPr>
          <a:xfrm>
            <a:off x="457200" y="5577840"/>
            <a:ext cx="1828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curvedConnector2</a:t>
            </a:r>
            <a:endParaRPr lang="en-US" dirty="0"/>
          </a:p>
        </p:txBody>
      </p:sp>
      <p:cxnSp>
        <p:nvCxnSpPr>
          <p:cNvPr id="13" name="curvedConnector3"/>
          <p:cNvCxnSpPr/>
          <p:nvPr/>
        </p:nvCxnSpPr>
        <p:spPr>
          <a:xfrm>
            <a:off x="2651760" y="4023360"/>
            <a:ext cx="1645920" cy="1463040"/>
          </a:xfrm>
          <a:prstGeom prst="curvedConnector3">
            <a:avLst/>
          </a:prstGeom>
          <a:ln w="31750">
            <a:solidFill>
              <a:srgbClr val="70AD47"/>
            </a:solidFill>
            <a:tailEnd type="arrow" w="med" len="med"/>
          </a:ln>
        </p:spPr>
      </p:cxnSp>
      <p:sp>
        <p:nvSpPr>
          <p:cNvPr id="14" name="TextBox 14"/>
          <p:cNvSpPr txBox="1"/>
          <p:nvPr/>
        </p:nvSpPr>
        <p:spPr>
          <a:xfrm>
            <a:off x="2560320" y="5577840"/>
            <a:ext cx="1828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curvedConnector3</a:t>
            </a:r>
            <a:endParaRPr lang="en-US" dirty="0"/>
          </a:p>
        </p:txBody>
      </p:sp>
      <p:cxnSp>
        <p:nvCxnSpPr>
          <p:cNvPr id="15" name="curvedConnector4"/>
          <p:cNvCxnSpPr/>
          <p:nvPr/>
        </p:nvCxnSpPr>
        <p:spPr>
          <a:xfrm>
            <a:off x="4754880" y="4023360"/>
            <a:ext cx="1645920" cy="1463040"/>
          </a:xfrm>
          <a:prstGeom prst="curvedConnector4">
            <a:avLst/>
          </a:prstGeom>
          <a:ln w="31750">
            <a:solidFill>
              <a:srgbClr val="4472C4"/>
            </a:solidFill>
            <a:tailEnd type="arrow" w="med" len="med"/>
          </a:ln>
        </p:spPr>
      </p:cxnSp>
      <p:sp>
        <p:nvSpPr>
          <p:cNvPr id="16" name="TextBox 16"/>
          <p:cNvSpPr txBox="1"/>
          <p:nvPr/>
        </p:nvSpPr>
        <p:spPr>
          <a:xfrm>
            <a:off x="4663440" y="5577840"/>
            <a:ext cx="1828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curvedConnector4</a:t>
            </a:r>
            <a:endParaRPr lang="en-US" dirty="0"/>
          </a:p>
        </p:txBody>
      </p:sp>
      <p:cxnSp>
        <p:nvCxnSpPr>
          <p:cNvPr id="17" name="curvedConnector5"/>
          <p:cNvCxnSpPr/>
          <p:nvPr/>
        </p:nvCxnSpPr>
        <p:spPr>
          <a:xfrm>
            <a:off x="6858000" y="4023360"/>
            <a:ext cx="1645920" cy="1463040"/>
          </a:xfrm>
          <a:prstGeom prst="curvedConnector5">
            <a:avLst/>
          </a:prstGeom>
          <a:ln w="31750">
            <a:solidFill>
              <a:srgbClr val="ED7D31"/>
            </a:solidFill>
            <a:tailEnd type="arrow" w="med" len="med"/>
          </a:ln>
        </p:spPr>
      </p:cxnSp>
      <p:sp>
        <p:nvSpPr>
          <p:cNvPr id="18" name="TextBox 18"/>
          <p:cNvSpPr txBox="1"/>
          <p:nvPr/>
        </p:nvSpPr>
        <p:spPr>
          <a:xfrm>
            <a:off x="6766560" y="5577840"/>
            <a:ext cx="1828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000" dirty="0">
                <a:solidFill>
                  <a:srgbClr val="404040"/>
                </a:solidFill>
              </a:rPr>
              <a:t>curvedConnector5</a:t>
            </a:r>
            <a:endParaRPr lang="en-US" dirty="0"/>
          </a:p>
        </p:txBody>
      </p:sp>
      <p:cxnSp>
        <p:nvCxnSpPr>
          <p:cNvPr id="19" name="rotated bent"/>
          <p:cNvCxnSpPr/>
          <p:nvPr/>
        </p:nvCxnSpPr>
        <p:spPr>
          <a:xfrm rot="10800000">
            <a:off x="3657600" y="6172200"/>
            <a:ext cx="1463040" cy="548640"/>
          </a:xfrm>
          <a:prstGeom prst="bentConnector3">
            <a:avLst/>
          </a:prstGeom>
          <a:ln w="25400">
            <a:solidFill>
              <a:srgbClr val="404040"/>
            </a:solidFill>
            <a:tailEnd type="stealth" w="med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Lines: arrowheads and connectors</dc:title>
  <dc:subject>pptx_engine test corpus</dc:subject>
  <dc:creator>pptx_engine corpus generator</dc:creator>
  <cp:keywords>lines, arrowheads, connector</cp:keywords>
  <dc:description>Arrowhead types (triangle, stealth, diamond, oval, arrow) x sizes (sm/med/lg width and length) on head and tail, straight/bent/curved connectors with stCxn/endCxn between shapes, connector adjust values and flipped/rotated connectors.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