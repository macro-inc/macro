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Line widths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4320" y="1325880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0.25 pt</a:t>
            </a:r>
            <a:endParaRPr lang="en-US" dirty="0"/>
          </a:p>
        </p:txBody>
      </p:sp>
      <p:sp>
        <p:nvSpPr>
          <p:cNvPr id="4" name="w0.25"/>
          <p:cNvSpPr/>
          <p:nvPr/>
        </p:nvSpPr>
        <p:spPr>
          <a:xfrm>
            <a:off x="1463040" y="1463040"/>
            <a:ext cx="7132320" cy="0"/>
          </a:xfrm>
          <a:prstGeom prst="line">
            <a:avLst/>
          </a:prstGeom>
          <a:ln w="3175">
            <a:solidFill>
              <a:srgbClr val="1F3864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274320" y="1801368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0.5 pt</a:t>
            </a:r>
            <a:endParaRPr lang="en-US" dirty="0"/>
          </a:p>
        </p:txBody>
      </p:sp>
      <p:sp>
        <p:nvSpPr>
          <p:cNvPr id="6" name="w0.5"/>
          <p:cNvSpPr/>
          <p:nvPr/>
        </p:nvSpPr>
        <p:spPr>
          <a:xfrm>
            <a:off x="1463040" y="1938528"/>
            <a:ext cx="7132320" cy="0"/>
          </a:xfrm>
          <a:prstGeom prst="line">
            <a:avLst/>
          </a:prstGeom>
          <a:ln w="6350">
            <a:solidFill>
              <a:srgbClr val="1F3864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74320" y="2276856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0.75 pt</a:t>
            </a:r>
            <a:endParaRPr lang="en-US" dirty="0"/>
          </a:p>
        </p:txBody>
      </p:sp>
      <p:sp>
        <p:nvSpPr>
          <p:cNvPr id="8" name="w0.75"/>
          <p:cNvSpPr/>
          <p:nvPr/>
        </p:nvSpPr>
        <p:spPr>
          <a:xfrm>
            <a:off x="1463040" y="2414016"/>
            <a:ext cx="7132320" cy="0"/>
          </a:xfrm>
          <a:prstGeom prst="line">
            <a:avLst/>
          </a:prstGeom>
          <a:ln w="9525">
            <a:solidFill>
              <a:srgbClr val="1F3864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4320" y="2752344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1 pt</a:t>
            </a:r>
            <a:endParaRPr lang="en-US" dirty="0"/>
          </a:p>
        </p:txBody>
      </p:sp>
      <p:sp>
        <p:nvSpPr>
          <p:cNvPr id="10" name="w1"/>
          <p:cNvSpPr/>
          <p:nvPr/>
        </p:nvSpPr>
        <p:spPr>
          <a:xfrm>
            <a:off x="1463040" y="2889504"/>
            <a:ext cx="713232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74320" y="3227832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1.5 pt</a:t>
            </a:r>
            <a:endParaRPr lang="en-US" dirty="0"/>
          </a:p>
        </p:txBody>
      </p:sp>
      <p:sp>
        <p:nvSpPr>
          <p:cNvPr id="12" name="w1.5"/>
          <p:cNvSpPr/>
          <p:nvPr/>
        </p:nvSpPr>
        <p:spPr>
          <a:xfrm>
            <a:off x="1463040" y="3364992"/>
            <a:ext cx="7132320" cy="0"/>
          </a:xfrm>
          <a:prstGeom prst="line">
            <a:avLst/>
          </a:prstGeom>
          <a:ln w="19050">
            <a:solidFill>
              <a:srgbClr val="1F3864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74320" y="3703320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2.25 pt</a:t>
            </a:r>
            <a:endParaRPr lang="en-US" dirty="0"/>
          </a:p>
        </p:txBody>
      </p:sp>
      <p:sp>
        <p:nvSpPr>
          <p:cNvPr id="14" name="w2.25"/>
          <p:cNvSpPr/>
          <p:nvPr/>
        </p:nvSpPr>
        <p:spPr>
          <a:xfrm>
            <a:off x="1463040" y="3840480"/>
            <a:ext cx="713232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74320" y="4178808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3 pt</a:t>
            </a:r>
            <a:endParaRPr lang="en-US" dirty="0"/>
          </a:p>
        </p:txBody>
      </p:sp>
      <p:sp>
        <p:nvSpPr>
          <p:cNvPr id="16" name="w3"/>
          <p:cNvSpPr/>
          <p:nvPr/>
        </p:nvSpPr>
        <p:spPr>
          <a:xfrm>
            <a:off x="1463040" y="4315968"/>
            <a:ext cx="7132320" cy="0"/>
          </a:xfrm>
          <a:prstGeom prst="line">
            <a:avLst/>
          </a:prstGeom>
          <a:ln w="38100">
            <a:solidFill>
              <a:srgbClr val="1F3864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274320" y="4654296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4.5 pt</a:t>
            </a:r>
            <a:endParaRPr lang="en-US" dirty="0"/>
          </a:p>
        </p:txBody>
      </p:sp>
      <p:sp>
        <p:nvSpPr>
          <p:cNvPr id="18" name="w4.5"/>
          <p:cNvSpPr/>
          <p:nvPr/>
        </p:nvSpPr>
        <p:spPr>
          <a:xfrm>
            <a:off x="1463040" y="4791456"/>
            <a:ext cx="7132320" cy="0"/>
          </a:xfrm>
          <a:prstGeom prst="line">
            <a:avLst/>
          </a:prstGeom>
          <a:ln w="57150">
            <a:solidFill>
              <a:srgbClr val="1F3864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74320" y="5129784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6 pt</a:t>
            </a:r>
            <a:endParaRPr lang="en-US" dirty="0"/>
          </a:p>
        </p:txBody>
      </p:sp>
      <p:sp>
        <p:nvSpPr>
          <p:cNvPr id="20" name="w6"/>
          <p:cNvSpPr/>
          <p:nvPr/>
        </p:nvSpPr>
        <p:spPr>
          <a:xfrm>
            <a:off x="1463040" y="5266944"/>
            <a:ext cx="7132320" cy="0"/>
          </a:xfrm>
          <a:prstGeom prst="line">
            <a:avLst/>
          </a:prstGeom>
          <a:ln w="76200">
            <a:solidFill>
              <a:srgbClr val="1F3864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74320" y="5605272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9 pt</a:t>
            </a:r>
            <a:endParaRPr lang="en-US" dirty="0"/>
          </a:p>
        </p:txBody>
      </p:sp>
      <p:sp>
        <p:nvSpPr>
          <p:cNvPr id="22" name="w9"/>
          <p:cNvSpPr/>
          <p:nvPr/>
        </p:nvSpPr>
        <p:spPr>
          <a:xfrm>
            <a:off x="1463040" y="5742432"/>
            <a:ext cx="7132320" cy="0"/>
          </a:xfrm>
          <a:prstGeom prst="line">
            <a:avLst/>
          </a:prstGeom>
          <a:ln w="114300">
            <a:solidFill>
              <a:srgbClr val="1F3864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74320" y="6080760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12 pt</a:t>
            </a:r>
            <a:endParaRPr lang="en-US" dirty="0"/>
          </a:p>
        </p:txBody>
      </p:sp>
      <p:sp>
        <p:nvSpPr>
          <p:cNvPr id="24" name="w12"/>
          <p:cNvSpPr/>
          <p:nvPr/>
        </p:nvSpPr>
        <p:spPr>
          <a:xfrm>
            <a:off x="1463040" y="6217920"/>
            <a:ext cx="7132320" cy="0"/>
          </a:xfrm>
          <a:prstGeom prst="line">
            <a:avLst/>
          </a:prstGeom>
          <a:ln w="152400">
            <a:solidFill>
              <a:srgbClr val="1F3864"/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Dash styles (3 pt)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880" y="1280160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solid</a:t>
            </a:r>
            <a:endParaRPr lang="en-US" dirty="0"/>
          </a:p>
        </p:txBody>
      </p:sp>
      <p:sp>
        <p:nvSpPr>
          <p:cNvPr id="4" name="solid"/>
          <p:cNvSpPr/>
          <p:nvPr/>
        </p:nvSpPr>
        <p:spPr>
          <a:xfrm>
            <a:off x="2103120" y="1417320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solid"/>
          </a:ln>
        </p:spPr>
      </p:sp>
      <p:sp>
        <p:nvSpPr>
          <p:cNvPr id="5" name="TextBox 5"/>
          <p:cNvSpPr txBox="1"/>
          <p:nvPr/>
        </p:nvSpPr>
        <p:spPr>
          <a:xfrm>
            <a:off x="182880" y="1709928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dot</a:t>
            </a:r>
            <a:endParaRPr lang="en-US" dirty="0"/>
          </a:p>
        </p:txBody>
      </p:sp>
      <p:sp>
        <p:nvSpPr>
          <p:cNvPr id="6" name="dot"/>
          <p:cNvSpPr/>
          <p:nvPr/>
        </p:nvSpPr>
        <p:spPr>
          <a:xfrm>
            <a:off x="2103120" y="1847088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dot"/>
          </a:ln>
        </p:spPr>
      </p:sp>
      <p:sp>
        <p:nvSpPr>
          <p:cNvPr id="7" name="TextBox 7"/>
          <p:cNvSpPr txBox="1"/>
          <p:nvPr/>
        </p:nvSpPr>
        <p:spPr>
          <a:xfrm>
            <a:off x="182880" y="2139696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dash</a:t>
            </a:r>
            <a:endParaRPr lang="en-US" dirty="0"/>
          </a:p>
        </p:txBody>
      </p:sp>
      <p:sp>
        <p:nvSpPr>
          <p:cNvPr id="8" name="dash"/>
          <p:cNvSpPr/>
          <p:nvPr/>
        </p:nvSpPr>
        <p:spPr>
          <a:xfrm>
            <a:off x="2103120" y="2276856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</p:sp>
      <p:sp>
        <p:nvSpPr>
          <p:cNvPr id="9" name="TextBox 9"/>
          <p:cNvSpPr txBox="1"/>
          <p:nvPr/>
        </p:nvSpPr>
        <p:spPr>
          <a:xfrm>
            <a:off x="182880" y="2569464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lgDash</a:t>
            </a:r>
            <a:endParaRPr lang="en-US" dirty="0"/>
          </a:p>
        </p:txBody>
      </p:sp>
      <p:sp>
        <p:nvSpPr>
          <p:cNvPr id="10" name="lgDash"/>
          <p:cNvSpPr/>
          <p:nvPr/>
        </p:nvSpPr>
        <p:spPr>
          <a:xfrm>
            <a:off x="2103120" y="2706624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</p:sp>
      <p:sp>
        <p:nvSpPr>
          <p:cNvPr id="11" name="TextBox 11"/>
          <p:cNvSpPr txBox="1"/>
          <p:nvPr/>
        </p:nvSpPr>
        <p:spPr>
          <a:xfrm>
            <a:off x="182880" y="2999232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dashDot</a:t>
            </a:r>
            <a:endParaRPr lang="en-US" dirty="0"/>
          </a:p>
        </p:txBody>
      </p:sp>
      <p:sp>
        <p:nvSpPr>
          <p:cNvPr id="12" name="dashDot"/>
          <p:cNvSpPr/>
          <p:nvPr/>
        </p:nvSpPr>
        <p:spPr>
          <a:xfrm>
            <a:off x="2103120" y="3136392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dashDot"/>
          </a:ln>
        </p:spPr>
      </p:sp>
      <p:sp>
        <p:nvSpPr>
          <p:cNvPr id="13" name="TextBox 13"/>
          <p:cNvSpPr txBox="1"/>
          <p:nvPr/>
        </p:nvSpPr>
        <p:spPr>
          <a:xfrm>
            <a:off x="182880" y="3429000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lgDashDot</a:t>
            </a:r>
            <a:endParaRPr lang="en-US" dirty="0"/>
          </a:p>
        </p:txBody>
      </p:sp>
      <p:sp>
        <p:nvSpPr>
          <p:cNvPr id="14" name="lgDashDot"/>
          <p:cNvSpPr/>
          <p:nvPr/>
        </p:nvSpPr>
        <p:spPr>
          <a:xfrm>
            <a:off x="2103120" y="3566160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lgDashDot"/>
          </a:ln>
        </p:spPr>
      </p:sp>
      <p:sp>
        <p:nvSpPr>
          <p:cNvPr id="15" name="TextBox 15"/>
          <p:cNvSpPr txBox="1"/>
          <p:nvPr/>
        </p:nvSpPr>
        <p:spPr>
          <a:xfrm>
            <a:off x="182880" y="3858768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lgDashDotDot</a:t>
            </a:r>
            <a:endParaRPr lang="en-US" dirty="0"/>
          </a:p>
        </p:txBody>
      </p:sp>
      <p:sp>
        <p:nvSpPr>
          <p:cNvPr id="16" name="lgDashDotDot"/>
          <p:cNvSpPr/>
          <p:nvPr/>
        </p:nvSpPr>
        <p:spPr>
          <a:xfrm>
            <a:off x="2103120" y="3995928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lgDashDotDot"/>
          </a:ln>
        </p:spPr>
      </p:sp>
      <p:sp>
        <p:nvSpPr>
          <p:cNvPr id="17" name="TextBox 17"/>
          <p:cNvSpPr txBox="1"/>
          <p:nvPr/>
        </p:nvSpPr>
        <p:spPr>
          <a:xfrm>
            <a:off x="182880" y="4288536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sysDash</a:t>
            </a:r>
            <a:endParaRPr lang="en-US" dirty="0"/>
          </a:p>
        </p:txBody>
      </p:sp>
      <p:sp>
        <p:nvSpPr>
          <p:cNvPr id="18" name="sysDash"/>
          <p:cNvSpPr/>
          <p:nvPr/>
        </p:nvSpPr>
        <p:spPr>
          <a:xfrm>
            <a:off x="2103120" y="4425696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</p:sp>
      <p:sp>
        <p:nvSpPr>
          <p:cNvPr id="19" name="TextBox 19"/>
          <p:cNvSpPr txBox="1"/>
          <p:nvPr/>
        </p:nvSpPr>
        <p:spPr>
          <a:xfrm>
            <a:off x="182880" y="4718304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sysDot</a:t>
            </a:r>
            <a:endParaRPr lang="en-US" dirty="0"/>
          </a:p>
        </p:txBody>
      </p:sp>
      <p:sp>
        <p:nvSpPr>
          <p:cNvPr id="20" name="sysDot"/>
          <p:cNvSpPr/>
          <p:nvPr/>
        </p:nvSpPr>
        <p:spPr>
          <a:xfrm>
            <a:off x="2103120" y="4855464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</p:sp>
      <p:sp>
        <p:nvSpPr>
          <p:cNvPr id="21" name="TextBox 21"/>
          <p:cNvSpPr txBox="1"/>
          <p:nvPr/>
        </p:nvSpPr>
        <p:spPr>
          <a:xfrm>
            <a:off x="182880" y="5148072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sysDashDot</a:t>
            </a:r>
            <a:endParaRPr lang="en-US" dirty="0"/>
          </a:p>
        </p:txBody>
      </p:sp>
      <p:sp>
        <p:nvSpPr>
          <p:cNvPr id="22" name="sysDashDot"/>
          <p:cNvSpPr/>
          <p:nvPr/>
        </p:nvSpPr>
        <p:spPr>
          <a:xfrm>
            <a:off x="2103120" y="5285232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sysDashDot"/>
          </a:ln>
        </p:spPr>
      </p:sp>
      <p:sp>
        <p:nvSpPr>
          <p:cNvPr id="23" name="TextBox 23"/>
          <p:cNvSpPr txBox="1"/>
          <p:nvPr/>
        </p:nvSpPr>
        <p:spPr>
          <a:xfrm>
            <a:off x="182880" y="5577840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sysDashDotDot</a:t>
            </a:r>
            <a:endParaRPr lang="en-US" dirty="0"/>
          </a:p>
        </p:txBody>
      </p:sp>
      <p:sp>
        <p:nvSpPr>
          <p:cNvPr id="24" name="sysDashDotDot"/>
          <p:cNvSpPr/>
          <p:nvPr/>
        </p:nvSpPr>
        <p:spPr>
          <a:xfrm>
            <a:off x="2103120" y="5715000"/>
            <a:ext cx="6583680" cy="0"/>
          </a:xfrm>
          <a:prstGeom prst="line">
            <a:avLst/>
          </a:prstGeom>
          <a:ln w="38100">
            <a:solidFill>
              <a:srgbClr val="C00000"/>
            </a:solidFill>
            <a:prstDash val="sysDashDotDot"/>
          </a:ln>
        </p:spPr>
      </p:sp>
      <p:sp>
        <p:nvSpPr>
          <p:cNvPr id="25" name="TextBox 25"/>
          <p:cNvSpPr txBox="1"/>
          <p:nvPr/>
        </p:nvSpPr>
        <p:spPr>
          <a:xfrm>
            <a:off x="182880" y="6007608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custDash 1</a:t>
            </a:r>
            <a:endParaRPr lang="en-US" dirty="0"/>
          </a:p>
        </p:txBody>
      </p:sp>
      <p:sp>
        <p:nvSpPr>
          <p:cNvPr id="26" name="custDash 0"/>
          <p:cNvSpPr/>
          <p:nvPr/>
        </p:nvSpPr>
        <p:spPr>
          <a:xfrm>
            <a:off x="2103120" y="6144768"/>
            <a:ext cx="6583680" cy="0"/>
          </a:xfrm>
          <a:prstGeom prst="line">
            <a:avLst/>
          </a:prstGeom>
          <a:ln w="38100">
            <a:solidFill>
              <a:srgbClr val="7030A0"/>
            </a:solidFill>
            <a:custDash>
              <a:ds d="400000" sp="200000"/>
            </a:custDash>
          </a:ln>
        </p:spPr>
      </p:sp>
      <p:sp>
        <p:nvSpPr>
          <p:cNvPr id="27" name="TextBox 27"/>
          <p:cNvSpPr txBox="1"/>
          <p:nvPr/>
        </p:nvSpPr>
        <p:spPr>
          <a:xfrm>
            <a:off x="182880" y="6437376"/>
            <a:ext cx="17373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custDash 2</a:t>
            </a:r>
            <a:endParaRPr lang="en-US" dirty="0"/>
          </a:p>
        </p:txBody>
      </p:sp>
      <p:sp>
        <p:nvSpPr>
          <p:cNvPr id="28" name="custDash 1"/>
          <p:cNvSpPr/>
          <p:nvPr/>
        </p:nvSpPr>
        <p:spPr>
          <a:xfrm>
            <a:off x="2103120" y="6574536"/>
            <a:ext cx="6583680" cy="0"/>
          </a:xfrm>
          <a:prstGeom prst="line">
            <a:avLst/>
          </a:prstGeom>
          <a:ln w="38100">
            <a:solidFill>
              <a:srgbClr val="7030A0"/>
            </a:solidFill>
            <a:custDash>
              <a:ds d="100000" sp="100000"/>
              <a:ds d="300000" sp="100000"/>
              <a:ds d="800000" sp="300000"/>
            </a:custDash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Caps and joins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4320" y="1508760"/>
            <a:ext cx="10972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cap=flat</a:t>
            </a:r>
            <a:endParaRPr lang="en-US" dirty="0"/>
          </a:p>
        </p:txBody>
      </p:sp>
      <p:sp>
        <p:nvSpPr>
          <p:cNvPr id="4" name="cap flat"/>
          <p:cNvSpPr/>
          <p:nvPr/>
        </p:nvSpPr>
        <p:spPr>
          <a:xfrm>
            <a:off x="1554480" y="1645920"/>
            <a:ext cx="2926080" cy="0"/>
          </a:xfrm>
          <a:prstGeom prst="line">
            <a:avLst/>
          </a:prstGeom>
          <a:ln w="152400" cap="flat">
            <a:solidFill>
              <a:srgbClr val="2F5597"/>
            </a:solidFill>
          </a:ln>
        </p:spPr>
      </p:sp>
      <p:sp>
        <p:nvSpPr>
          <p:cNvPr id="5" name="cap dash flat"/>
          <p:cNvSpPr/>
          <p:nvPr/>
        </p:nvSpPr>
        <p:spPr>
          <a:xfrm>
            <a:off x="4937760" y="1645920"/>
            <a:ext cx="3657600" cy="0"/>
          </a:xfrm>
          <a:prstGeom prst="line">
            <a:avLst/>
          </a:prstGeom>
          <a:ln w="101600" cap="flat">
            <a:solidFill>
              <a:srgbClr val="2F5597"/>
            </a:solidFill>
            <a:prstDash val="sysDot"/>
          </a:ln>
        </p:spPr>
      </p:sp>
      <p:sp>
        <p:nvSpPr>
          <p:cNvPr id="6" name="TextBox 6"/>
          <p:cNvSpPr txBox="1"/>
          <p:nvPr/>
        </p:nvSpPr>
        <p:spPr>
          <a:xfrm>
            <a:off x="274320" y="2194560"/>
            <a:ext cx="10972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cap=sq</a:t>
            </a:r>
            <a:endParaRPr lang="en-US" dirty="0"/>
          </a:p>
        </p:txBody>
      </p:sp>
      <p:sp>
        <p:nvSpPr>
          <p:cNvPr id="7" name="cap sq"/>
          <p:cNvSpPr/>
          <p:nvPr/>
        </p:nvSpPr>
        <p:spPr>
          <a:xfrm>
            <a:off x="1554480" y="2331720"/>
            <a:ext cx="2926080" cy="0"/>
          </a:xfrm>
          <a:prstGeom prst="line">
            <a:avLst/>
          </a:prstGeom>
          <a:ln w="152400" cap="sq">
            <a:solidFill>
              <a:srgbClr val="2F5597"/>
            </a:solidFill>
          </a:ln>
        </p:spPr>
      </p:sp>
      <p:sp>
        <p:nvSpPr>
          <p:cNvPr id="8" name="cap dash sq"/>
          <p:cNvSpPr/>
          <p:nvPr/>
        </p:nvSpPr>
        <p:spPr>
          <a:xfrm>
            <a:off x="4937760" y="2331720"/>
            <a:ext cx="3657600" cy="0"/>
          </a:xfrm>
          <a:prstGeom prst="line">
            <a:avLst/>
          </a:prstGeom>
          <a:ln w="101600" cap="sq">
            <a:solidFill>
              <a:srgbClr val="2F5597"/>
            </a:solidFill>
            <a:prstDash val="sysDot"/>
          </a:ln>
        </p:spPr>
      </p:sp>
      <p:sp>
        <p:nvSpPr>
          <p:cNvPr id="9" name="TextBox 9"/>
          <p:cNvSpPr txBox="1"/>
          <p:nvPr/>
        </p:nvSpPr>
        <p:spPr>
          <a:xfrm>
            <a:off x="274320" y="2880360"/>
            <a:ext cx="10972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cap=rnd</a:t>
            </a:r>
            <a:endParaRPr lang="en-US" dirty="0"/>
          </a:p>
        </p:txBody>
      </p:sp>
      <p:sp>
        <p:nvSpPr>
          <p:cNvPr id="10" name="cap rnd"/>
          <p:cNvSpPr/>
          <p:nvPr/>
        </p:nvSpPr>
        <p:spPr>
          <a:xfrm>
            <a:off x="1554480" y="3017520"/>
            <a:ext cx="2926080" cy="0"/>
          </a:xfrm>
          <a:prstGeom prst="line">
            <a:avLst/>
          </a:prstGeom>
          <a:ln w="152400" cap="rnd">
            <a:solidFill>
              <a:srgbClr val="2F5597"/>
            </a:solidFill>
          </a:ln>
        </p:spPr>
      </p:sp>
      <p:sp>
        <p:nvSpPr>
          <p:cNvPr id="11" name="cap dash rnd"/>
          <p:cNvSpPr/>
          <p:nvPr/>
        </p:nvSpPr>
        <p:spPr>
          <a:xfrm>
            <a:off x="4937760" y="3017520"/>
            <a:ext cx="3657600" cy="0"/>
          </a:xfrm>
          <a:prstGeom prst="line">
            <a:avLst/>
          </a:prstGeom>
          <a:ln w="101600" cap="rnd">
            <a:solidFill>
              <a:srgbClr val="2F5597"/>
            </a:solidFill>
            <a:prstDash val="sysDot"/>
          </a:ln>
        </p:spPr>
      </p:sp>
      <p:sp>
        <p:nvSpPr>
          <p:cNvPr id="12" name="TextBox 12"/>
          <p:cNvSpPr txBox="1"/>
          <p:nvPr/>
        </p:nvSpPr>
        <p:spPr>
          <a:xfrm>
            <a:off x="274320" y="4114800"/>
            <a:ext cx="10972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join=round</a:t>
            </a:r>
            <a:endParaRPr lang="en-US" dirty="0"/>
          </a:p>
        </p:txBody>
      </p:sp>
      <p:sp>
        <p:nvSpPr>
          <p:cNvPr id="13" name="join round"/>
          <p:cNvSpPr/>
          <p:nvPr/>
        </p:nvSpPr>
        <p:spPr>
          <a:xfrm>
            <a:off x="1554480" y="3931920"/>
            <a:ext cx="3291840" cy="640080"/>
          </a:xfrm>
          <a:custGeom>
            <a:avLst/>
            <a:gdLst/>
            <a:ahLst/>
            <a:cxnLst/>
            <a:rect l="l" t="t" r="r" b="b"/>
            <a:pathLst>
              <a:path w="400" h="100" fill="none">
                <a:moveTo>
                  <a:pt x="0" y="100"/>
                </a:moveTo>
                <a:lnTo>
                  <a:pt x="80" y="0"/>
                </a:lnTo>
                <a:lnTo>
                  <a:pt x="160" y="100"/>
                </a:lnTo>
                <a:lnTo>
                  <a:pt x="240" y="0"/>
                </a:lnTo>
                <a:lnTo>
                  <a:pt x="320" y="100"/>
                </a:lnTo>
                <a:lnTo>
                  <a:pt x="400" y="10"/>
                </a:lnTo>
              </a:path>
            </a:pathLst>
          </a:custGeom>
          <a:ln w="127000">
            <a:solidFill>
              <a:srgbClr val="C55A11"/>
            </a:solidFill>
            <a:round/>
          </a:ln>
        </p:spPr>
      </p:sp>
      <p:sp>
        <p:nvSpPr>
          <p:cNvPr id="14" name="join tri round"/>
          <p:cNvSpPr/>
          <p:nvPr/>
        </p:nvSpPr>
        <p:spPr>
          <a:xfrm>
            <a:off x="5486400" y="3931920"/>
            <a:ext cx="1280160" cy="731520"/>
          </a:xfrm>
          <a:prstGeom prst="triangle">
            <a:avLst/>
          </a:prstGeom>
          <a:solidFill>
            <a:srgbClr val="FBE5D6"/>
          </a:solidFill>
          <a:ln w="127000">
            <a:solidFill>
              <a:srgbClr val="C55A11"/>
            </a:solidFill>
            <a:round/>
          </a:ln>
        </p:spPr>
      </p:sp>
      <p:sp>
        <p:nvSpPr>
          <p:cNvPr id="15" name="TextBox 15"/>
          <p:cNvSpPr txBox="1"/>
          <p:nvPr/>
        </p:nvSpPr>
        <p:spPr>
          <a:xfrm>
            <a:off x="274320" y="5029200"/>
            <a:ext cx="10972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join=bevel</a:t>
            </a:r>
            <a:endParaRPr lang="en-US" dirty="0"/>
          </a:p>
        </p:txBody>
      </p:sp>
      <p:sp>
        <p:nvSpPr>
          <p:cNvPr id="16" name="join bevel"/>
          <p:cNvSpPr/>
          <p:nvPr/>
        </p:nvSpPr>
        <p:spPr>
          <a:xfrm>
            <a:off x="1554480" y="4846320"/>
            <a:ext cx="3291840" cy="640080"/>
          </a:xfrm>
          <a:custGeom>
            <a:avLst/>
            <a:gdLst/>
            <a:ahLst/>
            <a:cxnLst/>
            <a:rect l="l" t="t" r="r" b="b"/>
            <a:pathLst>
              <a:path w="400" h="100" fill="none">
                <a:moveTo>
                  <a:pt x="0" y="100"/>
                </a:moveTo>
                <a:lnTo>
                  <a:pt x="80" y="0"/>
                </a:lnTo>
                <a:lnTo>
                  <a:pt x="160" y="100"/>
                </a:lnTo>
                <a:lnTo>
                  <a:pt x="240" y="0"/>
                </a:lnTo>
                <a:lnTo>
                  <a:pt x="320" y="100"/>
                </a:lnTo>
                <a:lnTo>
                  <a:pt x="400" y="10"/>
                </a:lnTo>
              </a:path>
            </a:pathLst>
          </a:custGeom>
          <a:ln w="127000">
            <a:solidFill>
              <a:srgbClr val="C55A11"/>
            </a:solidFill>
            <a:bevel/>
          </a:ln>
        </p:spPr>
      </p:sp>
      <p:sp>
        <p:nvSpPr>
          <p:cNvPr id="17" name="join tri bevel"/>
          <p:cNvSpPr/>
          <p:nvPr/>
        </p:nvSpPr>
        <p:spPr>
          <a:xfrm>
            <a:off x="5486400" y="4846320"/>
            <a:ext cx="1280160" cy="731520"/>
          </a:xfrm>
          <a:prstGeom prst="triangle">
            <a:avLst/>
          </a:prstGeom>
          <a:solidFill>
            <a:srgbClr val="FBE5D6"/>
          </a:solidFill>
          <a:ln w="127000">
            <a:solidFill>
              <a:srgbClr val="C55A11"/>
            </a:solidFill>
            <a:bevel/>
          </a:ln>
        </p:spPr>
      </p:sp>
      <p:sp>
        <p:nvSpPr>
          <p:cNvPr id="18" name="TextBox 18"/>
          <p:cNvSpPr txBox="1"/>
          <p:nvPr/>
        </p:nvSpPr>
        <p:spPr>
          <a:xfrm>
            <a:off x="274320" y="5943600"/>
            <a:ext cx="10972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join=miter</a:t>
            </a:r>
            <a:endParaRPr lang="en-US" dirty="0"/>
          </a:p>
        </p:txBody>
      </p:sp>
      <p:sp>
        <p:nvSpPr>
          <p:cNvPr id="19" name="join miter"/>
          <p:cNvSpPr/>
          <p:nvPr/>
        </p:nvSpPr>
        <p:spPr>
          <a:xfrm>
            <a:off x="1554480" y="5760720"/>
            <a:ext cx="3291840" cy="640080"/>
          </a:xfrm>
          <a:custGeom>
            <a:avLst/>
            <a:gdLst/>
            <a:ahLst/>
            <a:cxnLst/>
            <a:rect l="l" t="t" r="r" b="b"/>
            <a:pathLst>
              <a:path w="400" h="100" fill="none">
                <a:moveTo>
                  <a:pt x="0" y="100"/>
                </a:moveTo>
                <a:lnTo>
                  <a:pt x="80" y="0"/>
                </a:lnTo>
                <a:lnTo>
                  <a:pt x="160" y="100"/>
                </a:lnTo>
                <a:lnTo>
                  <a:pt x="240" y="0"/>
                </a:lnTo>
                <a:lnTo>
                  <a:pt x="320" y="100"/>
                </a:lnTo>
                <a:lnTo>
                  <a:pt x="400" y="10"/>
                </a:lnTo>
              </a:path>
            </a:pathLst>
          </a:custGeom>
          <a:ln w="127000">
            <a:solidFill>
              <a:srgbClr val="C55A11"/>
            </a:solidFill>
            <a:miter lim="800000"/>
          </a:ln>
        </p:spPr>
      </p:sp>
      <p:sp>
        <p:nvSpPr>
          <p:cNvPr id="20" name="join tri miter"/>
          <p:cNvSpPr/>
          <p:nvPr/>
        </p:nvSpPr>
        <p:spPr>
          <a:xfrm>
            <a:off x="5486400" y="5760720"/>
            <a:ext cx="1280160" cy="731520"/>
          </a:xfrm>
          <a:prstGeom prst="triangle">
            <a:avLst/>
          </a:prstGeom>
          <a:solidFill>
            <a:srgbClr val="FBE5D6"/>
          </a:solidFill>
          <a:ln w="127000">
            <a:solidFill>
              <a:srgbClr val="C55A11"/>
            </a:solidFill>
            <a:miter lim="800000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Compound lines, alignment, gradient and alpha lines</a:t>
            </a:r>
          </a:p>
        </p:txBody>
      </p:sp>
      <p:sp>
        <p:nvSpPr>
          <p:cNvPr id="3" name="rect 3"/>
          <p:cNvSpPr/>
          <p:nvPr/>
        </p:nvSpPr>
        <p:spPr>
          <a:xfrm>
            <a:off x="457200" y="1554480"/>
            <a:ext cx="1371600" cy="1188720"/>
          </a:xfrm>
          <a:prstGeom prst="rect">
            <a:avLst/>
          </a:prstGeom>
          <a:solidFill>
            <a:srgbClr val="F2F2F2"/>
          </a:solidFill>
          <a:ln w="114300" cmpd="sng">
            <a:solidFill>
              <a:srgbClr val="1F3864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457200" y="2834640"/>
            <a:ext cx="13716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cmpd=sng</a:t>
            </a:r>
            <a:endParaRPr lang="en-US" dirty="0"/>
          </a:p>
        </p:txBody>
      </p:sp>
      <p:sp>
        <p:nvSpPr>
          <p:cNvPr id="5" name="rect 5"/>
          <p:cNvSpPr/>
          <p:nvPr/>
        </p:nvSpPr>
        <p:spPr>
          <a:xfrm>
            <a:off x="2148840" y="1554480"/>
            <a:ext cx="1371600" cy="1188720"/>
          </a:xfrm>
          <a:prstGeom prst="rect">
            <a:avLst/>
          </a:prstGeom>
          <a:solidFill>
            <a:srgbClr val="F2F2F2"/>
          </a:solidFill>
          <a:ln w="114300" cmpd="dbl">
            <a:solidFill>
              <a:srgbClr val="1F386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2148840" y="2834640"/>
            <a:ext cx="13716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cmpd=dbl</a:t>
            </a:r>
            <a:endParaRPr lang="en-US" dirty="0"/>
          </a:p>
        </p:txBody>
      </p:sp>
      <p:sp>
        <p:nvSpPr>
          <p:cNvPr id="7" name="rect 7"/>
          <p:cNvSpPr/>
          <p:nvPr/>
        </p:nvSpPr>
        <p:spPr>
          <a:xfrm>
            <a:off x="3840480" y="1554480"/>
            <a:ext cx="1371600" cy="1188720"/>
          </a:xfrm>
          <a:prstGeom prst="rect">
            <a:avLst/>
          </a:prstGeom>
          <a:solidFill>
            <a:srgbClr val="F2F2F2"/>
          </a:solidFill>
          <a:ln w="114300" cmpd="thickThin">
            <a:solidFill>
              <a:srgbClr val="1F386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840480" y="2834640"/>
            <a:ext cx="13716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cmpd=thickThin</a:t>
            </a:r>
            <a:endParaRPr lang="en-US" dirty="0"/>
          </a:p>
        </p:txBody>
      </p:sp>
      <p:sp>
        <p:nvSpPr>
          <p:cNvPr id="9" name="rect 9"/>
          <p:cNvSpPr/>
          <p:nvPr/>
        </p:nvSpPr>
        <p:spPr>
          <a:xfrm>
            <a:off x="5532120" y="1554480"/>
            <a:ext cx="1371600" cy="1188720"/>
          </a:xfrm>
          <a:prstGeom prst="rect">
            <a:avLst/>
          </a:prstGeom>
          <a:solidFill>
            <a:srgbClr val="F2F2F2"/>
          </a:solidFill>
          <a:ln w="114300" cmpd="thinThick">
            <a:solidFill>
              <a:srgbClr val="1F386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532120" y="2834640"/>
            <a:ext cx="13716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cmpd=thinThick</a:t>
            </a:r>
            <a:endParaRPr lang="en-US" dirty="0"/>
          </a:p>
        </p:txBody>
      </p:sp>
      <p:sp>
        <p:nvSpPr>
          <p:cNvPr id="11" name="rect 11"/>
          <p:cNvSpPr/>
          <p:nvPr/>
        </p:nvSpPr>
        <p:spPr>
          <a:xfrm>
            <a:off x="7223760" y="1554480"/>
            <a:ext cx="1371600" cy="1188720"/>
          </a:xfrm>
          <a:prstGeom prst="rect">
            <a:avLst/>
          </a:prstGeom>
          <a:solidFill>
            <a:srgbClr val="F2F2F2"/>
          </a:solidFill>
          <a:ln w="114300" cmpd="tri">
            <a:solidFill>
              <a:srgbClr val="1F386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223760" y="2834640"/>
            <a:ext cx="13716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cmpd=tri</a:t>
            </a:r>
            <a:endParaRPr lang="en-US" dirty="0"/>
          </a:p>
        </p:txBody>
      </p:sp>
      <p:sp>
        <p:nvSpPr>
          <p:cNvPr id="13" name="rect 13"/>
          <p:cNvSpPr/>
          <p:nvPr/>
        </p:nvSpPr>
        <p:spPr>
          <a:xfrm>
            <a:off x="731520" y="3566160"/>
            <a:ext cx="1645920" cy="1280160"/>
          </a:xfrm>
          <a:prstGeom prst="rect">
            <a:avLst/>
          </a:prstGeom>
          <a:solidFill>
            <a:srgbClr val="DEEBF7"/>
          </a:solidFill>
          <a:ln w="177800" algn="ctr">
            <a:solidFill>
              <a:srgbClr val="2F5597">
                <a:alpha val="6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31520" y="4937760"/>
            <a:ext cx="164592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algn=ctr 14pt alpha</a:t>
            </a:r>
            <a:endParaRPr lang="en-US" dirty="0"/>
          </a:p>
        </p:txBody>
      </p:sp>
      <p:sp>
        <p:nvSpPr>
          <p:cNvPr id="15" name="rect 15"/>
          <p:cNvSpPr/>
          <p:nvPr/>
        </p:nvSpPr>
        <p:spPr>
          <a:xfrm>
            <a:off x="2926080" y="3566160"/>
            <a:ext cx="1645920" cy="1280160"/>
          </a:xfrm>
          <a:prstGeom prst="rect">
            <a:avLst/>
          </a:prstGeom>
          <a:solidFill>
            <a:srgbClr val="DEEBF7"/>
          </a:solidFill>
          <a:ln w="177800" algn="in">
            <a:solidFill>
              <a:srgbClr val="2F5597">
                <a:alpha val="6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926080" y="4937760"/>
            <a:ext cx="164592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algn=in 14pt alpha</a:t>
            </a:r>
            <a:endParaRPr lang="en-US" dirty="0"/>
          </a:p>
        </p:txBody>
      </p:sp>
      <p:sp>
        <p:nvSpPr>
          <p:cNvPr id="17" name="gradient line"/>
          <p:cNvSpPr/>
          <p:nvPr/>
        </p:nvSpPr>
        <p:spPr>
          <a:xfrm>
            <a:off x="5120640" y="3566160"/>
            <a:ext cx="3291840" cy="1280160"/>
          </a:xfrm>
          <a:prstGeom prst="ellipse">
            <a:avLst/>
          </a:prstGeom>
          <a:noFill/>
          <a:ln w="127000">
            <a:gradFill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00B050"/>
                </a:gs>
              </a:gsLst>
              <a:lin ang="0"/>
            </a:gradFill>
          </a:ln>
        </p:spPr>
      </p:sp>
      <p:sp>
        <p:nvSpPr>
          <p:cNvPr id="18" name="TextBox 18"/>
          <p:cNvSpPr txBox="1"/>
          <p:nvPr/>
        </p:nvSpPr>
        <p:spPr>
          <a:xfrm>
            <a:off x="5120640" y="4937760"/>
            <a:ext cx="3291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gradient-filled 10pt outline</a:t>
            </a:r>
            <a:endParaRPr lang="en-US" dirty="0"/>
          </a:p>
        </p:txBody>
      </p:sp>
      <p:sp>
        <p:nvSpPr>
          <p:cNvPr id="19" name="pattern line"/>
          <p:cNvSpPr/>
          <p:nvPr/>
        </p:nvSpPr>
        <p:spPr>
          <a:xfrm>
            <a:off x="731520" y="5486400"/>
            <a:ext cx="7680960" cy="0"/>
          </a:xfrm>
          <a:prstGeom prst="line">
            <a:avLst/>
          </a:prstGeom>
          <a:ln w="127000">
            <a:pattFill prst="wdDnDiag">
              <a:fgClr>
                <a:srgbClr val="000000"/>
              </a:fgClr>
              <a:bgClr>
                <a:srgbClr val="FFFF00"/>
              </a:bgClr>
            </a:patt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Lines: widths, dash styles, caps, joins, compound lines</dc:title>
  <dc:subject>pptx_engine test corpus</dc:subject>
  <dc:creator>pptx_engine corpus generator</dc:creator>
  <cp:keywords>lines, line-widths, dashes, caps, joins, compound-lines</cp:keywords>
  <dc:description>Line widths 0.25-12pt, all 11 preset dashes and custom dashes, flat/square/round caps on dashed lines, round/bevel/miter joins, compound lines (dbl, thickThin, thinThick, tri), inset alignment, gradient and semi-transparent line fills.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