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Autofit and overflow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2651760" cy="2377440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>
            <a:normAutofit fontScale="62500" lnSpcReduction="20000"/>
          </a:bodyPr>
          <a:lstStyle/>
          <a:p>
            <a:r>
              <a:rPr lang="en-US" sz="18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3794760"/>
            <a:ext cx="26517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normAutofit fontScale 62.5% lnSpcReduction 20%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3246120" y="1371600"/>
            <a:ext cx="2651760" cy="2377440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>
            <a:noAutofit/>
          </a:bodyPr>
          <a:lstStyle/>
          <a:p>
            <a:r>
              <a:rPr lang="en-US" sz="18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3246120" y="1097280"/>
            <a:ext cx="26517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noAutofit: overflows the box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6126480" y="1371600"/>
            <a:ext cx="2651760" cy="1005840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/>
              <a:t>spAutoFit: box hugs its text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65760" y="4480560"/>
            <a:ext cx="2651760" cy="1097280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vertOverflow="clip" wrap="square"/>
          <a:lstStyle/>
          <a:p>
            <a:r>
              <a:rPr lang="en-US" sz="18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365760" y="5623560"/>
            <a:ext cx="26517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vertOverflow=clip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3246120" y="4480560"/>
            <a:ext cx="2651760" cy="1097280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vertOverflow="ellipsis" wrap="square"/>
          <a:lstStyle/>
          <a:p>
            <a:r>
              <a:rPr lang="en-US" sz="18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3246120" y="5623560"/>
            <a:ext cx="26517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vertOverflow=ellipsis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126480" y="4480560"/>
            <a:ext cx="2651760" cy="1097280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wrap="square">
            <a:normAutofit/>
          </a:bodyPr>
          <a:lstStyle/>
          <a:p>
            <a:r>
              <a:rPr lang="en-US" sz="18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6126480" y="5623560"/>
            <a:ext cx="265176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normAutofit without stored scale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wrap=none and horizontal overflow</a:t>
            </a:r>
          </a:p>
        </p:txBody>
      </p:sp>
      <p:sp>
        <p:nvSpPr>
          <p:cNvPr id="3" name="rect 3"/>
          <p:cNvSpPr/>
          <p:nvPr/>
        </p:nvSpPr>
        <p:spPr>
          <a:xfrm>
            <a:off x="3200400" y="1463040"/>
            <a:ext cx="2743200" cy="91440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3200400" y="1463040"/>
            <a:ext cx="2743200" cy="914400"/>
          </a:xfrm>
          <a:prstGeom prst="rect">
            <a:avLst/>
          </a:prstGeom>
        </p:spPr>
        <p:txBody>
          <a:bodyPr wrap="none" anchor="ctr"/>
          <a:lstStyle/>
          <a:p>
            <a:pPr algn="l"/>
            <a:r>
              <a:rPr lang="en-US" sz="1800" dirty="0"/>
              <a:t>wrap=none algn=l: this line is wider than its box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3200400" y="2926080"/>
            <a:ext cx="2743200" cy="91440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200400" y="2926080"/>
            <a:ext cx="2743200" cy="914400"/>
          </a:xfrm>
          <a:prstGeom prst="rect">
            <a:avLst/>
          </a:prstGeom>
        </p:spPr>
        <p:txBody>
          <a:bodyPr wrap="none" anchor="ctr"/>
          <a:lstStyle/>
          <a:p>
            <a:pPr algn="ctr"/>
            <a:r>
              <a:rPr lang="en-US" sz="1800" dirty="0"/>
              <a:t>wrap=none algn=ctr: this line is wider than its box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3200400" y="4389120"/>
            <a:ext cx="2743200" cy="91440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200400" y="4389120"/>
            <a:ext cx="2743200" cy="914400"/>
          </a:xfrm>
          <a:prstGeom prst="rect">
            <a:avLst/>
          </a:prstGeom>
        </p:spPr>
        <p:txBody>
          <a:bodyPr wrap="none" anchor="ctr"/>
          <a:lstStyle/>
          <a:p>
            <a:pPr algn="r"/>
            <a:r>
              <a:rPr lang="en-US" sz="1800" dirty="0"/>
              <a:t>wrap=none algn=r: this line is wider than its box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914400" y="5852160"/>
            <a:ext cx="7315200" cy="731520"/>
          </a:xfrm>
          <a:prstGeom prst="rect">
            <a:avLst/>
          </a:prstGeom>
          <a:ln w="12700">
            <a:solidFill>
              <a:srgbClr val="7F7F7F"/>
            </a:solidFill>
          </a:ln>
        </p:spPr>
        <p:txBody>
          <a:bodyPr horzOverflow="clip" wrap="square"/>
          <a:lstStyle/>
          <a:p>
            <a:r>
              <a:rPr lang="en-US" sz="1400" dirty="0"/>
              <a:t>Box with wrap=square, horzOverflow=clip: words words words words words words words words words words words words words words words words words words words words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Vertical text types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vert" wrap="square"/>
          <a:lstStyle/>
          <a:p>
            <a:r>
              <a:rPr lang="en-US" sz="1800" dirty="0">
                <a:ea typeface="MS Gothic"/>
              </a:rPr>
              <a:t>vert: Budget 2024 予算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vert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79070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vert270" wrap="square"/>
          <a:lstStyle/>
          <a:p>
            <a:r>
              <a:rPr lang="en-US" sz="1800" dirty="0">
                <a:ea typeface="MS Gothic"/>
              </a:rPr>
              <a:t>vert270: Budget 2024 予算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79070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vert270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21564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eaVert" wrap="square"/>
          <a:lstStyle/>
          <a:p>
            <a:r>
              <a:rPr lang="en-US" sz="1800" dirty="0">
                <a:ea typeface="MS Gothic"/>
              </a:rPr>
              <a:t>eaVert: Budget 2024 予算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21564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eaVert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464058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wordArtVert" wrap="square"/>
          <a:lstStyle/>
          <a:p>
            <a:r>
              <a:rPr lang="en-US" sz="1800" dirty="0">
                <a:ea typeface="MS Gothic"/>
              </a:rPr>
              <a:t>wordArtVert: Budget 2024 予算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4058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wordArtVert</a:t>
            </a:r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606552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mongolianVert" wrap="square"/>
          <a:lstStyle/>
          <a:p>
            <a:r>
              <a:rPr lang="en-US" sz="1800" dirty="0">
                <a:ea typeface="MS Gothic"/>
              </a:rPr>
              <a:t>mongolianVert: Budget 2024 予算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6552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mongolianVert</a:t>
            </a:r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7490460" y="1371600"/>
            <a:ext cx="1287780" cy="457200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vert="wordArtVertRtl" wrap="square"/>
          <a:lstStyle/>
          <a:p>
            <a:r>
              <a:rPr lang="en-US" sz="1800" dirty="0">
                <a:ea typeface="MS Gothic"/>
              </a:rPr>
              <a:t>wordArtVertRtl: Budget 2024 予算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490460" y="6035040"/>
            <a:ext cx="128778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wordArtVertRtl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Columns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8412480" cy="210312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numCol="2" spcCol="365760"/>
          <a:lstStyle/>
          <a:p>
            <a:r>
              <a:rPr lang="en-US" sz="14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 Operating income increased to $42.7 million, driven by higher subscription revenue and disciplined spending. Net cash provided by operating activities was $51.3 million, and the company ended the quarter with $310.2 million in cash and short-term investments. 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3840480"/>
            <a:ext cx="8412480" cy="20116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numCol="3" spcCol="228600"/>
          <a:lstStyle/>
          <a:p>
            <a:r>
              <a:rPr lang="en-US" sz="12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 Operating income increased to $42.7 million, driven by higher subscription revenue and disciplined spending. Net cash provided by operating activities was $51.3 million, and the company ended the quarter with $310.2 million in cash and short-term investments. Operating income increased to $42.7 million, driven by higher subscription revenue and disciplined spending. Net cash provided by operating activities was $51.3 million, and the company ended the quarter with $310.2 million in cash and short-term investments. 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365760" y="6035040"/>
            <a:ext cx="8412480" cy="6400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numCol="2" spcCol="274320" rtlCol="1"/>
          <a:lstStyle/>
          <a:p>
            <a:r>
              <a:rPr lang="en-US" sz="800" dirty="0"/>
              <a:t>rtlCol=1: columns fill right to left. 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Rotated, flipped and bodyPr-rotated text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rot=0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 rot="1800000">
            <a:off x="3291840" y="14630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rot=30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 rot="5400000">
            <a:off x="6126480" y="14630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rot=90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 rot="10800000">
            <a:off x="457200" y="32918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rot=180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 rot="16200000">
            <a:off x="3291840" y="32918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rot=270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 rot="19800000">
            <a:off x="6126480" y="3291840"/>
            <a:ext cx="228600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en-US" sz="1600" dirty="0"/>
              <a:t>Text box rot=330</a:t>
            </a:r>
            <a:endParaRPr lang="en-US" dirty="0"/>
          </a:p>
        </p:txBody>
      </p:sp>
      <p:sp>
        <p:nvSpPr>
          <p:cNvPr id="9" name="Arrow 9"/>
          <p:cNvSpPr/>
          <p:nvPr/>
        </p:nvSpPr>
        <p:spPr>
          <a:xfrm flipH="1">
            <a:off x="365760" y="5120640"/>
            <a:ext cx="1920240" cy="1188720"/>
          </a:xfrm>
          <a:prstGeom prst="rightArrow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flipH</a:t>
            </a:r>
            <a:endParaRPr lang="en-US" dirty="0"/>
          </a:p>
        </p:txBody>
      </p:sp>
      <p:sp>
        <p:nvSpPr>
          <p:cNvPr id="10" name="Arrow 10"/>
          <p:cNvSpPr/>
          <p:nvPr/>
        </p:nvSpPr>
        <p:spPr>
          <a:xfrm flipV="1">
            <a:off x="2514600" y="5120640"/>
            <a:ext cx="1920240" cy="1188720"/>
          </a:xfrm>
          <a:prstGeom prst="rightArrow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flipV</a:t>
            </a:r>
            <a:endParaRPr lang="en-US" dirty="0"/>
          </a:p>
        </p:txBody>
      </p:sp>
      <p:sp>
        <p:nvSpPr>
          <p:cNvPr id="11" name="Arrow 11"/>
          <p:cNvSpPr/>
          <p:nvPr/>
        </p:nvSpPr>
        <p:spPr>
          <a:xfrm>
            <a:off x="4663440" y="5120640"/>
            <a:ext cx="1920240" cy="1188720"/>
          </a:xfrm>
          <a:prstGeom prst="rightArrow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rot="5400000" anchor="ctr"/>
          <a:lstStyle/>
          <a:p>
            <a:pPr algn="ctr"/>
            <a:r>
              <a:rPr lang="en-US" sz="1400" dirty="0"/>
              <a:t>bodyPr rot=90</a:t>
            </a:r>
            <a:endParaRPr lang="en-US" dirty="0"/>
          </a:p>
        </p:txBody>
      </p:sp>
      <p:sp>
        <p:nvSpPr>
          <p:cNvPr id="12" name="Arrow 12"/>
          <p:cNvSpPr/>
          <p:nvPr/>
        </p:nvSpPr>
        <p:spPr>
          <a:xfrm>
            <a:off x="6812280" y="5120640"/>
            <a:ext cx="1920240" cy="1188720"/>
          </a:xfrm>
          <a:prstGeom prst="rightArrow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rot="-5400000" anchor="ctr"/>
          <a:lstStyle/>
          <a:p>
            <a:pPr algn="ctr"/>
            <a:r>
              <a:rPr lang="en-US" sz="1400" dirty="0"/>
              <a:t>bodyPr rot=-90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5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autofit, overflow, wrap none, vertical text, columns, rotation</dc:title>
  <dc:subject>pptx_engine test corpus</dc:subject>
  <dc:creator>pptx_engine corpus generator</dc:creator>
  <cp:keywords>text, autofit, overflow, wrap-none, vertical-text, text-columns, rotation, flip</cp:keywords>
  <dc:description>normAutofit with fontScale/lnSpcReduction, spAutoFit, noAutofit overflow, vertOverflow clip/ellipsis, wrap=none, vert/vert270/eaVert/wordArtVert/mongolianVert/wordArtVertRtl, numCol columns, rotated and flipped text boxes and bodyPr rot.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