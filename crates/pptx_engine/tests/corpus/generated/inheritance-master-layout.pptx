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75000"/>
            </a:schemeClr>
          </a:solidFill>
        </p:spPr>
        <p:txBody>
          <a:bodyPr/>
          <a:lstStyle>
            <a:lvl1pPr algn="l">
              <a:defRPr sz="3200" b="1" cap="all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Body text inherits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 1 text</a:t>
            </a:r>
          </a:p>
          <a:p>
            <a:pPr lvl="1"/>
            <a:r>
              <a:t>Level 2 text</a:t>
            </a:r>
          </a:p>
          <a:p>
            <a:pPr lvl="2"/>
            <a:r>
              <a:t>Level 3 text</a:t>
            </a:r>
          </a:p>
          <a:p>
            <a:pPr lvl="3"/>
            <a:r>
              <a:t>Level 4 text</a:t>
            </a:r>
          </a:p>
          <a:p>
            <a:pPr lvl="4"/>
            <a:r>
              <a:t>Level 5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Shape lstStyle, paragraph and run overrides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accent2"/>
              </a:buClr>
              <a:buFont typeface="Wingdings" pitchFamily="2" charset="2"/>
              <a:buChar char="Ø"/>
              <a:defRPr sz="2600" b="1">
                <a:solidFill>
                  <a:schemeClr val="accent1"/>
                </a:solidFill>
              </a:defRPr>
            </a:lvl1pPr>
            <a:lvl2pPr marL="742950" indent="-285750">
              <a:buFont typeface="Arial"/>
              <a:buChar char="–"/>
              <a:defRPr sz="2000" i="1"/>
            </a:lvl2pPr>
          </a:lstStyle>
          <a:p>
            <a:r>
              <a:rPr lang="en-US" dirty="0"/>
              <a:t>Level 1 from shape lstStyle</a:t>
            </a:r>
            <a:endParaRPr lang="en-US" dirty="0"/>
          </a:p>
          <a:p>
            <a:pPr lvl="1"/>
            <a:r>
              <a:rPr lang="en-US" dirty="0"/>
              <a:t>Level 2 from shape lstStyle</a:t>
            </a:r>
            <a:endParaRPr lang="en-US" dirty="0"/>
          </a:p>
          <a:p>
            <a:pPr algn="ctr">
              <a:buNone/>
            </a:pPr>
            <a:r>
              <a:rPr lang="en-US" dirty="0"/>
              <a:t>Paragraph override: centered, no bullet</a:t>
            </a:r>
            <a:endParaRPr lang="en-US" dirty="0"/>
          </a:p>
          <a:p>
            <a:r>
              <a:rPr lang="en-US" dirty="0"/>
              <a:t>Run overrides: </a:t>
            </a:r>
            <a:r>
              <a:rPr lang="en-US" dirty="0">
                <a:solidFill>
                  <a:srgbClr val="C00000"/>
                </a:solidFill>
              </a:rPr>
              <a:t>red</a:t>
            </a:r>
            <a:r>
              <a:rPr lang="en-US" dirty="0"/>
              <a:t> / </a:t>
            </a:r>
            <a:r>
              <a:rPr lang="en-US" sz="1400" dirty="0"/>
              <a:t>14pt</a:t>
            </a:r>
            <a:r>
              <a:rPr lang="en-US" dirty="0"/>
              <a:t> / </a:t>
            </a:r>
            <a:r>
              <a:rPr lang="en-US" dirty="0">
                <a:latin typeface="Courier New"/>
              </a:rPr>
              <a:t>Courier</a:t>
            </a:r>
            <a:endParaRPr lang="en-US" dirty="0"/>
          </a:p>
          <a:p>
            <a:pPr lvl="2"/>
            <a:r>
              <a:rPr lang="en-US" dirty="0"/>
              <a:t>Level 3 falls back to the master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Layout-restyled title (filled, caps)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1828800"/>
            <a:ext cx="804672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 sz="2000" dirty="0"/>
              <a:t>The title above inherits fill, size and caps from the Title Only layout, which overrides the master title style.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clrMapOvr: dark color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Background bg1 now maps to dk1 (dark), text tx1 maps to lt1</a:t>
            </a:r>
          </a:p>
          <a:p>
            <a:r>
              <a:t>Scheme-colored shapes follow the override</a:t>
            </a:r>
          </a:p>
        </p:txBody>
      </p:sp>
      <p:sp>
        <p:nvSpPr>
          <p:cNvPr id="4" name="rect 4"/>
          <p:cNvSpPr/>
          <p:nvPr/>
        </p:nvSpPr>
        <p:spPr>
          <a:xfrm>
            <a:off x="548640" y="4937760"/>
            <a:ext cx="1371600" cy="1097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anchor="ctr"/>
          <a:lstStyle/>
          <a:p>
            <a:pPr algn="ctr"/>
            <a:r>
              <a:rPr lang="en-US" sz="1400" dirty="0">
                <a:solidFill>
                  <a:schemeClr val="accent2"/>
                </a:solidFill>
              </a:rPr>
              <a:t>bg1</a:t>
            </a:r>
            <a:endParaRPr lang="en-US" dirty="0"/>
          </a:p>
        </p:txBody>
      </p:sp>
      <p:sp>
        <p:nvSpPr>
          <p:cNvPr id="5" name="rect 5"/>
          <p:cNvSpPr/>
          <p:nvPr/>
        </p:nvSpPr>
        <p:spPr>
          <a:xfrm>
            <a:off x="2194560" y="4937760"/>
            <a:ext cx="1371600" cy="1097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anchor="ctr"/>
          <a:lstStyle/>
          <a:p>
            <a:pPr algn="ctr"/>
            <a:r>
              <a:rPr lang="en-US" sz="1400" dirty="0">
                <a:solidFill>
                  <a:schemeClr val="accent2"/>
                </a:solidFill>
              </a:rPr>
              <a:t>tx1</a:t>
            </a:r>
            <a:endParaRPr lang="en-US" dirty="0"/>
          </a:p>
        </p:txBody>
      </p:sp>
      <p:sp>
        <p:nvSpPr>
          <p:cNvPr id="6" name="rect 6"/>
          <p:cNvSpPr/>
          <p:nvPr/>
        </p:nvSpPr>
        <p:spPr>
          <a:xfrm>
            <a:off x="3840480" y="4937760"/>
            <a:ext cx="137160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 anchor="ctr"/>
          <a:lstStyle/>
          <a:p>
            <a:pPr algn="ctr"/>
            <a:r>
              <a:rPr lang="en-US" sz="1400" dirty="0">
                <a:solidFill>
                  <a:schemeClr val="accent2"/>
                </a:solidFill>
              </a:rPr>
              <a:t>bg2</a:t>
            </a:r>
            <a:endParaRPr lang="en-US" dirty="0"/>
          </a:p>
        </p:txBody>
      </p:sp>
      <p:sp>
        <p:nvSpPr>
          <p:cNvPr id="7" name="rect 7"/>
          <p:cNvSpPr/>
          <p:nvPr/>
        </p:nvSpPr>
        <p:spPr>
          <a:xfrm>
            <a:off x="5486400" y="4937760"/>
            <a:ext cx="1371600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txBody>
          <a:bodyPr anchor="ctr"/>
          <a:lstStyle/>
          <a:p>
            <a:pPr algn="ctr"/>
            <a:r>
              <a:rPr lang="en-US" sz="1400" dirty="0">
                <a:solidFill>
                  <a:schemeClr val="accent2"/>
                </a:solidFill>
              </a:rPr>
              <a:t>tx2</a:t>
            </a:r>
            <a:endParaRPr lang="en-US" dirty="0"/>
          </a:p>
        </p:txBody>
      </p:sp>
      <p:sp>
        <p:nvSpPr>
          <p:cNvPr id="8" name="rect 8"/>
          <p:cNvSpPr/>
          <p:nvPr/>
        </p:nvSpPr>
        <p:spPr>
          <a:xfrm>
            <a:off x="7132320" y="4937760"/>
            <a:ext cx="1371600" cy="1097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anchor="ctr"/>
          <a:lstStyle/>
          <a:p>
            <a:pPr algn="ctr"/>
            <a:r>
              <a:rPr lang="en-US" sz="1400" dirty="0">
                <a:solidFill>
                  <a:schemeClr val="accent2"/>
                </a:solidFill>
              </a:rPr>
              <a:t>accent1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0" y="5120640"/>
            <a:ext cx="3657600" cy="1371600"/>
          </a:xfrm>
        </p:spPr>
        <p:txBody>
          <a:bodyPr/>
          <a:lstStyle/>
          <a:p>
            <a:r>
              <a:rPr sz="2800"/>
              <a:t>Placeholder geometry override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title was moved to the bottom right via an explicit xfrm; this body keeps the layout geometry.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/>
          <a:lstStyle/>
          <a:p>
            <a:r>
              <a:rPr lang="en-US" dirty="0"/>
              <a:t>Text box: inherits presentation defaultTextStyle (18pt, tx1)</a:t>
            </a:r>
            <a:endParaRPr lang="en-US" dirty="0"/>
          </a:p>
        </p:txBody>
      </p:sp>
      <p:sp>
        <p:nvSpPr>
          <p:cNvPr id="3" name="Styled autoshape"/>
          <p:cNvSpPr/>
          <p:nvPr/>
        </p:nvSpPr>
        <p:spPr>
          <a:xfrm>
            <a:off x="457200" y="1828800"/>
            <a:ext cx="8229600" cy="1463040"/>
          </a:xfrm>
          <a:prstGeom prst="roundRect">
            <a:avLst/>
          </a:prstGeom>
        </p:spPr>
        <p:style>
          <a:lnRef idx="1">
            <a:schemeClr val="accent1">
              <a:shade val="50000"/>
            </a:schemeClr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dirty="0"/>
              <a:t>Autoshape with p:style: fill/line/effect/font from theme refs</a:t>
            </a:r>
            <a:endParaRPr lang="en-US" dirty="0"/>
          </a:p>
        </p:txBody>
      </p:sp>
      <p:sp>
        <p:nvSpPr>
          <p:cNvPr id="4" name="Plain autoshape"/>
          <p:cNvSpPr/>
          <p:nvPr/>
        </p:nvSpPr>
        <p:spPr>
          <a:xfrm>
            <a:off x="457200" y="3840480"/>
            <a:ext cx="8229600" cy="146304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/>
          <a:lstStyle/>
          <a:p>
            <a:r>
              <a:rPr lang="en-US" dirty="0"/>
              <a:t>Autoshape without p:style: default text, anchored top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6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Placeholders: master/layout/shape inheritance and overrides</dc:title>
  <dc:subject>pptx_engine test corpus</dc:subject>
  <dc:creator>pptx_engine corpus generator</dc:creator>
  <cp:keywords>placeholders, inheritance, lstStyle, clrmap-override, layout-override</cp:keywords>
  <dc:description>Body text inheriting the master text styles; a shape-level lstStyle override plus paragraph and run overrides; a layout whose title placeholder is restyled; slide clrMapOvr remapping bg/tx to a dark scheme; placeholder geometry override; text box vs autoshape default text.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