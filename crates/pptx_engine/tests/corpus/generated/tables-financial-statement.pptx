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Consolidated Statement of Operations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34440"/>
          <a:ext cx="7680959" cy="46863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94099"/>
                <a:gridCol w="1305763"/>
                <a:gridCol w="1305763"/>
                <a:gridCol w="1075334"/>
              </a:tblGrid>
              <a:tr h="187452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/>
                        <a:t>(in thousands, except per share)</a:t>
                      </a:r>
                      <a:endParaRPr lang="en-US" dirty="0"/>
                    </a:p>
                  </a:txBody>
                  <a:tcPr anchor="b" marL="45720" marR="45720" marT="9144" marB="914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/>
                        <a:t>FY2024</a:t>
                      </a:r>
                      <a:endParaRPr lang="en-US" dirty="0"/>
                    </a:p>
                  </a:txBody>
                  <a:tcPr anchor="b" marL="45720" marR="45720" marT="9144" marB="914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/>
                        <a:t>FY2023</a:t>
                      </a:r>
                      <a:endParaRPr lang="en-US" dirty="0"/>
                    </a:p>
                  </a:txBody>
                  <a:tcPr anchor="b" marL="45720" marR="45720" marT="9144" marB="914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/>
                        <a:t>% chg</a:t>
                      </a:r>
                      <a:endParaRPr lang="en-US" dirty="0"/>
                    </a:p>
                  </a:txBody>
                  <a:tcPr anchor="b" marL="45720" marR="45720" marT="9144" marB="914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1" i="1" u="sng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i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i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i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Product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84,210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76,532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10.0%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Subscription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41,880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33,015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26.9%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Services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6,310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8,702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(27.5%)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Total revenue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132,400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118,249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12.0%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1" i="1" u="sng" dirty="0">
                          <a:solidFill>
                            <a:srgbClr val="000000"/>
                          </a:solidFill>
                        </a:rPr>
                        <a:t>Cost of revenue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i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i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i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Product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(36,115)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(34,020)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(6.2%)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Subscription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(12,904)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(10,867)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(18.7%)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Services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(6,881)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(6,413)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(7.3%)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Total cost of revenue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(55,900)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(51,300)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(9.0%)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Gross profit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76,500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66,949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14.3%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1" i="1" u="sng" dirty="0">
                          <a:solidFill>
                            <a:srgbClr val="000000"/>
                          </a:solidFill>
                        </a:rPr>
                        <a:t>Operating expenses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i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i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i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Research and development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(18,204)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(16,877)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(7.9%)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Sales and marketing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(15,993)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(15,120)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(5.8%)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General and administrative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(8,603)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(8,102)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(6.2%)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Restructuring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(1,250)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Total operating expenses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(42,800)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(41,349)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(3.5%)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Operating income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33,700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25,600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31.6%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Interest expense, net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(1,215)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(1,480)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17.9%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Other income (expense)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342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(95)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460.0%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Income before income taxes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32,827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24,025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36.6%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13716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Provision for income taxes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(6,894)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(4,805)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C00000"/>
                          </a:solidFill>
                        </a:rPr>
                        <a:t>(43.5%)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Net income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25,933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28575" cmpd="dbl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19,220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28575" cmpd="dbl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34.9%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28575" cmpd="dbl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0" algn="l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Diluted EPS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$ 1.27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$ 0.94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35.1%</a:t>
                      </a:r>
                      <a:endParaRPr lang="en-US" dirty="0"/>
                    </a:p>
                  </a:txBody>
                  <a:tcPr anchor="ctr" marL="45720" marR="4572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731520" y="6263640"/>
            <a:ext cx="7680960" cy="365760"/>
          </a:xfrm>
          <a:prstGeom prst="rect">
            <a:avLst/>
          </a:prstGeom>
        </p:spPr>
        <p:txBody>
          <a:bodyPr wrap="square"/>
          <a:lstStyle/>
          <a:p>
            <a:r>
              <a:rPr lang="en-US" sz="800" i="1" dirty="0">
                <a:solidFill>
                  <a:srgbClr val="595959"/>
                </a:solidFill>
              </a:rPr>
              <a:t>Unaudited. Amounts may not sum due to rounding. Fictional company for test purposes.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Condensed Balance Sheet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280160"/>
          <a:ext cx="6949440" cy="4535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57600"/>
                <a:gridCol w="1645920"/>
                <a:gridCol w="1645920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3864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3864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1F3864"/>
                          </a:solidFill>
                        </a:rPr>
                        <a:t>Dec 31, 2024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3864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1F3864"/>
                          </a:solidFill>
                        </a:rPr>
                        <a:t>Dec 31, 2023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F3864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Assets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182880"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Cash and cash equivalents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210,415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185,230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182880"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Short-term investments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99,800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88,120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182880"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Accounts receivable, net (1)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41,770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37,904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Total current assets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351,985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311,254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182880"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Property and equipment, net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62,410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58,013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182880"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Goodwill (2)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120,000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120,000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Total assets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534,395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28575" cmpd="dbl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489,267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28575" cmpd="dbl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Liabilities and equity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182880"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Accounts payable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18,442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17,010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182880"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Deferred revenue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73,915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66,402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182880"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Long-term debt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150,000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175,000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Total liabilities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242,357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258,412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182880" algn="l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Stockholders' equity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292,038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 dirty="0">
                          <a:solidFill>
                            <a:srgbClr val="000000"/>
                          </a:solidFill>
                        </a:rPr>
                        <a:t>230,855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Total liabilities and equity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534,395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28575" cmpd="dbl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489,267</a:t>
                      </a:r>
                      <a:endParaRPr lang="en-US" dirty="0"/>
                    </a:p>
                  </a:txBody>
                  <a:tcPr anchor="ctr" marL="54864" marR="54864" marT="0" marB="0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28575" cmpd="dbl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97280" y="5989320"/>
            <a:ext cx="6949440" cy="640080"/>
          </a:xfrm>
          <a:prstGeom prst="rect">
            <a:avLst/>
          </a:prstGeom>
        </p:spPr>
        <p:txBody>
          <a:bodyPr wrap="square"/>
          <a:lstStyle/>
          <a:p>
            <a:r>
              <a:rPr lang="en-US" sz="800" dirty="0">
                <a:solidFill>
                  <a:srgbClr val="595959"/>
                </a:solidFill>
              </a:rPr>
              <a:t>(1) Net of allowance of $1.2 million.  (2) No impairment recorded.</a:t>
            </a:r>
            <a:endParaRPr lang="en-US" dirty="0"/>
          </a:p>
          <a:p>
            <a:r>
              <a:rPr lang="en-US" sz="800" i="1" dirty="0">
                <a:solidFill>
                  <a:srgbClr val="595959"/>
                </a:solidFill>
              </a:rPr>
              <a:t>Fictional company; figures for rendering tests only.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2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Tables: income statement and balance sheet formatting</dc:title>
  <dc:subject>pptx_engine test corpus</dc:subject>
  <dc:creator>pptx_engine corpus generator</dc:creator>
  <cp:keywords>table, financial-table, number-alignment, cell-borders</cp:keywords>
  <dc:description>A 25-row income statement table: right-aligned numbers, parenthesized negatives in red, em-dash zeros, indented line items, subtotal rules, double rule under net income, shaded key rows, 9pt text; plus a balance sheet with column groups and footnote markers.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