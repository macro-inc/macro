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Revenue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24.1</c:v>
                </c:pt>
                <c:pt idx="1">
                  <c:v>26.3</c:v>
                </c:pt>
                <c:pt idx="2">
                  <c:v>25.8</c:v>
                </c:pt>
                <c:pt idx="3">
                  <c:v>30.2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27.4</c:v>
                </c:pt>
                <c:pt idx="1">
                  <c:v>29.9</c:v>
                </c:pt>
                <c:pt idx="2">
                  <c:v>31.2</c:v>
                </c:pt>
                <c:pt idx="3">
                  <c:v>35.6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numFmt formatCode="&quot;$&quot;0" sourceLinked="0"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Revenue mix (stacked)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14</c:v>
                </c:pt>
                <c:pt idx="1">
                  <c:v>15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#,##0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overlap val="10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Units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420</c:v>
                </c:pt>
                <c:pt idx="1">
                  <c:v>380</c:v>
                </c:pt>
                <c:pt idx="2">
                  <c:v>515</c:v>
                </c:pt>
                <c:pt idx="3">
                  <c:v>290</c:v>
                </c:pt>
                <c:pt idx="4">
                  <c:v>330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Monthly bookings vs billings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marker>
            <c:symbol val="circle"/>
            <c:size val="8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5.1</c:v>
                </c:pt>
                <c:pt idx="1">
                  <c:v>5.6</c:v>
                </c:pt>
                <c:pt idx="2">
                  <c:v>6.2</c:v>
                </c:pt>
                <c:pt idx="3">
                  <c:v>5.9</c:v>
                </c:pt>
                <c:pt idx="4">
                  <c:v>6.8</c:v>
                </c:pt>
                <c:pt idx="5">
                  <c:v>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Billings</c:v>
                </c:pt>
              </c:strCache>
            </c:strRef>
          </c:tx>
          <c:marker>
            <c:symbol val="diamond"/>
            <c:size val="8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4.8</c:v>
                </c:pt>
                <c:pt idx="1">
                  <c:v>5.0</c:v>
                </c:pt>
                <c:pt idx="2">
                  <c:v>5.9</c:v>
                </c:pt>
                <c:pt idx="3">
                  <c:v>6.1</c:v>
                </c:pt>
                <c:pt idx="4">
                  <c:v>6.3</c:v>
                </c:pt>
                <c:pt idx="5">
                  <c:v>7.0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/>
              <a:t>Spending mix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Payroll</c:v>
                </c:pt>
                <c:pt idx="1">
                  <c:v>Benefits</c:v>
                </c:pt>
                <c:pt idx="2">
                  <c:v>Operations</c:v>
                </c:pt>
                <c:pt idx="3">
                  <c:v>Capital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0.42</c:v>
                </c:pt>
                <c:pt idx="1">
                  <c:v>0.23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/>
              <a:t>Funding sources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Funding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Equity</c:v>
                </c:pt>
                <c:pt idx="1">
                  <c:v>Debt</c:v>
                </c:pt>
                <c:pt idx="2">
                  <c:v>Cash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/>
              <a:t>Income streams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</c:v>
                </c:pt>
                <c:pt idx="1">
                  <c:v>4</c:v>
                </c:pt>
                <c:pt idx="2">
                  <c:v>4.5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Interest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2</c:v>
                </c:pt>
                <c:pt idx="1">
                  <c:v>2.2</c:v>
                </c:pt>
                <c:pt idx="2">
                  <c:v>3</c:v>
                </c:pt>
                <c:pt idx="3">
                  <c:v>3.5</c:v>
                </c:pt>
                <c:pt idx="4">
                  <c:v>3.6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93807368"/>
        <c:axId val="2194249048"/>
      </c:areaChart>
      <c:catAx>
        <c:axId val="2193807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94249048"/>
        <c:crosses val="autoZero"/>
        <c:auto val="1"/>
        <c:lblAlgn val="ctr"/>
        <c:lblOffset val="100"/>
        <c:noMultiLvlLbl val="0"/>
      </c:catAx>
      <c:valAx>
        <c:axId val="21942490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9380736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Column 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280160"/>
          <a:ext cx="42062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663440" y="1280160"/>
          <a:ext cx="420624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Bar and line 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280160"/>
          <a:ext cx="42062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663440" y="1280160"/>
          <a:ext cx="420624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Pie, doughnut and area 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" y="1280160"/>
          <a:ext cx="3017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108960" y="1280160"/>
          <a:ext cx="29260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1280160"/>
          <a:ext cx="2926080" cy="5029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3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Charts: column, bar, line, pie, doughnut, area</dc:title>
  <dc:subject>pptx_engine test corpus</dc:subject>
  <dc:creator>pptx_engine corpus generator</dc:creator>
  <cp:keywords>chart, column-chart, bar-chart, line-chart, pie-chart, area-chart</cp:keywords>
  <dc:description>Native charts with embedded workbooks: clustered and stacked columns, clustered bars, line with markers, pie with percentage labels, doughnut, stacked area; titles, legends, data labels, number formats and gridlines.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