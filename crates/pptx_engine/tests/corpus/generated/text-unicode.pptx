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Latin, Greek, Cyrillic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Français: « Économie déjà prévue » — çà et là, œuvre</a:t>
            </a:r>
            <a:endParaRPr lang="en-US" dirty="0"/>
          </a:p>
          <a:p>
            <a:r>
              <a:rPr lang="en-US" sz="2000" dirty="0"/>
              <a:t>Deutsch: Größenänderung übermäßig Straße ẞ</a:t>
            </a:r>
            <a:endParaRPr lang="en-US" dirty="0"/>
          </a:p>
          <a:p>
            <a:r>
              <a:rPr lang="en-US" sz="2000" dirty="0"/>
              <a:t>Polski: Zażółć gęślą jaźń; Čeština: Příliš žluťoučký kůň</a:t>
            </a:r>
            <a:endParaRPr lang="en-US" dirty="0"/>
          </a:p>
          <a:p>
            <a:r>
              <a:rPr lang="en-US" sz="2000" dirty="0"/>
              <a:t>Tiếng Việt: Ngân sách năm nay được điều chỉnh</a:t>
            </a:r>
            <a:endParaRPr lang="en-US" dirty="0"/>
          </a:p>
          <a:p>
            <a:r>
              <a:rPr lang="en-US" sz="2000" dirty="0"/>
              <a:t>Ελληνικά: Ο προϋπολογισμός του έτους αυξήθηκε κατά 5%</a:t>
            </a:r>
            <a:endParaRPr lang="en-US" dirty="0"/>
          </a:p>
          <a:p>
            <a:r>
              <a:rPr lang="en-US" sz="2000" dirty="0"/>
              <a:t>Русский: Бюджет на 2024 год утверждён; Українська: Ґрунт їжак</a:t>
            </a:r>
            <a:endParaRPr lang="en-US" dirty="0"/>
          </a:p>
          <a:p>
            <a:r>
              <a:rPr lang="en-US" sz="2000" dirty="0"/>
              <a:t>Combining marks: é ä ñ ộ (decomposed)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CJK and Thai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</p:spPr>
        <p:txBody>
          <a:bodyPr wrap="square"/>
          <a:lstStyle/>
          <a:p>
            <a:r>
              <a:rPr lang="en-US" sz="2200" dirty="0">
                <a:ea typeface="SimSun"/>
                <a:cs typeface="SimSun"/>
              </a:rPr>
              <a:t>简体中文：年度预算报告，收入增长百分之十二。</a:t>
            </a:r>
            <a:endParaRPr lang="en-US" dirty="0"/>
          </a:p>
          <a:p>
            <a:r>
              <a:rPr lang="en-US" sz="2200" dirty="0">
                <a:ea typeface="PMingLiU"/>
                <a:cs typeface="PMingLiU"/>
              </a:rPr>
              <a:t>繁體中文：年度預算報告與財務報表</a:t>
            </a:r>
            <a:endParaRPr lang="en-US" dirty="0"/>
          </a:p>
          <a:p>
            <a:r>
              <a:rPr lang="en-US" sz="2200" dirty="0">
                <a:ea typeface="MS Gothic"/>
                <a:cs typeface="MS Gothic"/>
              </a:rPr>
              <a:t>日本語：売上高は前年比１２％増加しました。カタカナ・ひらがな</a:t>
            </a:r>
            <a:endParaRPr lang="en-US" dirty="0"/>
          </a:p>
          <a:p>
            <a:r>
              <a:rPr lang="en-US" sz="2200" dirty="0">
                <a:ea typeface="Malgun Gothic"/>
                <a:cs typeface="Malgun Gothic"/>
              </a:rPr>
              <a:t>한국어: 연간 예산 보고서 및 재무제표</a:t>
            </a:r>
            <a:endParaRPr lang="en-US" dirty="0"/>
          </a:p>
          <a:p>
            <a:r>
              <a:rPr lang="en-US" sz="2200" dirty="0">
                <a:ea typeface="MS Mincho"/>
                <a:cs typeface="MS Mincho"/>
              </a:rPr>
              <a:t>Mixed: Revenue 収益 $12.5M 增长</a:t>
            </a:r>
            <a:endParaRPr lang="en-US" dirty="0"/>
          </a:p>
          <a:p>
            <a:r>
              <a:rPr lang="th-TH" sz="2200" dirty="0">
                <a:ea typeface="Tahoma"/>
                <a:cs typeface="Tahoma"/>
              </a:rPr>
              <a:t>ไทย: งบประมาณประจำปี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Right-to-left: Arabic and Hebrew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23774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pPr algn="r" rtl="1"/>
            <a:r>
              <a:rPr lang="ar-SA" sz="2600" dirty="0">
                <a:cs typeface="Arial"/>
              </a:rPr>
              <a:t>الميزانية السنوية للعام ٢٠٢٤ زادت بنسبة ١٢٪</a:t>
            </a:r>
            <a:endParaRPr lang="en-US" dirty="0"/>
          </a:p>
          <a:p>
            <a:pPr algn="r" rtl="1"/>
            <a:r>
              <a:rPr lang="ar-SA" sz="2200" dirty="0">
                <a:cs typeface="Arial"/>
              </a:rPr>
              <a:t>التقرير المالي: الإيرادات 12.5 مليون دولار</a:t>
            </a:r>
            <a:endParaRPr lang="en-US" dirty="0"/>
          </a:p>
          <a:p>
            <a:pPr algn="r" rtl="1"/>
            <a:r>
              <a:rPr lang="en-US" sz="1800" dirty="0"/>
              <a:t>Mixed LTR inside RTL: </a:t>
            </a:r>
            <a:r>
              <a:rPr lang="ar-SA" sz="1800" dirty="0">
                <a:cs typeface="Arial"/>
              </a:rPr>
              <a:t>الإيرادات Revenue 2024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3931920"/>
            <a:ext cx="8412480" cy="256032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pPr algn="r" rtl="1"/>
            <a:r>
              <a:rPr lang="he-IL" sz="2600" dirty="0">
                <a:cs typeface="Arial"/>
              </a:rPr>
              <a:t>התקציב השנתי עלה ב-12% לעומת השנה הקודמת</a:t>
            </a:r>
            <a:endParaRPr lang="en-US" dirty="0"/>
          </a:p>
          <a:p>
            <a:pPr algn="r" rtl="1"/>
            <a:r>
              <a:rPr lang="he-IL" sz="2200" dirty="0">
                <a:cs typeface="Arial"/>
              </a:rPr>
              <a:t>דוח כספי רבעוני – הכנסות והוצאות</a:t>
            </a:r>
            <a:endParaRPr lang="en-US" dirty="0"/>
          </a:p>
          <a:p>
            <a:pPr algn="l" rtl="1"/>
            <a:r>
              <a:rPr lang="en-US" sz="1800" dirty="0">
                <a:cs typeface="Arial"/>
              </a:rPr>
              <a:t>RTL paragraph, left aligned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Emoji, currency, math and symbols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</p:spPr>
        <p:txBody>
          <a:bodyPr wrap="square"/>
          <a:lstStyle/>
          <a:p>
            <a:r>
              <a:rPr lang="en-US" sz="2200" dirty="0">
                <a:sym typeface="Segoe UI Emoji"/>
              </a:rPr>
              <a:t>Emoji: 😀 🎉 📈 📉 💰 🏦 ✅ ❌ 👨‍👩‍👧 🇺🇸</a:t>
            </a:r>
            <a:endParaRPr lang="en-US" dirty="0"/>
          </a:p>
          <a:p>
            <a:r>
              <a:rPr lang="en-US" sz="2200" dirty="0"/>
              <a:t>Currency: $ € £ ¥ ₹ ₩ ₽ ₿ ¢ ₪ ₫</a:t>
            </a:r>
            <a:endParaRPr lang="en-US" dirty="0"/>
          </a:p>
          <a:p>
            <a:r>
              <a:rPr lang="en-US" sz="2200" dirty="0"/>
              <a:t>Math: ∑ ∏ ∫ √ ∞ ≤ ≥ ≠ ≈ ± × ÷ ∂ ∆ π θ µ ‰</a:t>
            </a:r>
            <a:endParaRPr lang="en-US" dirty="0"/>
          </a:p>
          <a:p>
            <a:r>
              <a:rPr lang="en-US" sz="2200" dirty="0"/>
              <a:t>Arrows &amp; shapes: ← → ↑ ↓ ⇒ ⇔ ■ □ ● ○ ◆ ★ ☆ ✓ ✗</a:t>
            </a:r>
            <a:endParaRPr lang="en-US" dirty="0"/>
          </a:p>
          <a:p>
            <a:r>
              <a:rPr lang="en-US" sz="2200" dirty="0"/>
              <a:t>Typography: “quotes” ‘single’ – en — em … • † ‡ § ¶ © ® ™</a:t>
            </a:r>
            <a:endParaRPr lang="en-US" dirty="0"/>
          </a:p>
          <a:p>
            <a:r>
              <a:rPr lang="en-US" sz="2200" dirty="0"/>
              <a:t>Box drawing: ┌─┬─┐ │ ├─┼─┤ └─┴─┘</a:t>
            </a:r>
            <a:endParaRPr lang="en-US" dirty="0"/>
          </a:p>
          <a:p>
            <a:r>
              <a:rPr lang="en-US" sz="2200" dirty="0"/>
              <a:t>Fractions: ½ ¼ ¾ ⅓ ⅔ ⅛  Superscripts: x² y³ 10⁻⁶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Unicode scripts, RTL, CJK, emoji, math</dc:title>
  <dc:subject>pptx_engine test corpus</dc:subject>
  <dc:creator>pptx_engine corpus generator</dc:creator>
  <cp:keywords>text, unicode, rtl, cjk, emoji, math-symbols</cp:keywords>
  <dc:description>Accented Latin, Greek, Cyrillic, CJK (Chinese, Japanese, Korean) with ea fonts, Arabic and Hebrew right-to-left paragraphs with cs fonts, Thai, emoji, combining marks, currency and math symbols.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