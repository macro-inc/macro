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Text colors and color transforms</a:t>
            </a:r>
          </a:p>
        </p:txBody>
      </p:sp>
      <p:sp>
        <p:nvSpPr>
          <p:cNvPr id="3" name="Stripe backdrop (shows alpha)"/>
          <p:cNvSpPr/>
          <p:nvPr/>
        </p:nvSpPr>
        <p:spPr>
          <a:xfrm>
            <a:off x="3383280" y="1325880"/>
            <a:ext cx="3840480" cy="5212080"/>
          </a:xfrm>
          <a:prstGeom prst="rect">
            <a:avLst/>
          </a:prstGeom>
          <a:pattFill prst="wdUpDiag">
            <a:fgClr>
              <a:srgbClr val="BFBFBF"/>
            </a:fgClr>
            <a:bgClr>
              <a:srgbClr val="FFFFFF"/>
            </a:bgClr>
          </a:pattFill>
        </p:spPr>
      </p:sp>
      <p:sp>
        <p:nvSpPr>
          <p:cNvPr id="4" name="TextBox 4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</p:spPr>
        <p:txBody>
          <a:bodyPr wrap="square"/>
          <a:lstStyle/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srgbClr C00000</a:t>
            </a:r>
            <a:r>
              <a:rPr lang="en-US" sz="2200" b="1" dirty="0">
                <a:solidFill>
                  <a:srgbClr val="C00000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schemeClr accent1</a:t>
            </a:r>
            <a:r>
              <a:rPr lang="en-US" sz="2200" b="1" dirty="0">
                <a:solidFill>
                  <a:schemeClr val="accent1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accent1 lumMod 75%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accent2 lumMod 60% lumOff 40%</a:t>
            </a:r>
            <a:r>
              <a:rPr lang="en-US" sz="22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accent6 tint 50%</a:t>
            </a:r>
            <a:r>
              <a:rPr lang="en-US" sz="2200" b="1" dirty="0">
                <a:solidFill>
                  <a:schemeClr val="accent6">
                    <a:tint val="50000"/>
                  </a:schemeClr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accent6 shade 50%</a:t>
            </a:r>
            <a:r>
              <a:rPr lang="en-US" sz="2200" b="1" dirty="0">
                <a:solidFill>
                  <a:schemeClr val="accent6">
                    <a:shade val="50000"/>
                  </a:schemeClr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tx2 (dk2 via clrMap)</a:t>
            </a:r>
            <a:r>
              <a:rPr lang="en-US" sz="2200" b="1" dirty="0">
                <a:solidFill>
                  <a:schemeClr val="tx2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prstClr darkOrange</a:t>
            </a:r>
            <a:r>
              <a:rPr lang="en-US" sz="2200" b="1" dirty="0">
                <a:solidFill>
                  <a:prstClr val="darkOrange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sysClr windowText</a:t>
            </a:r>
            <a:r>
              <a:rPr lang="en-US" sz="2200" b="1" dirty="0">
                <a:solidFill>
                  <a:sysClr val="windowText" lastClr="000000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hslClr 200,80,40</a:t>
            </a:r>
            <a:r>
              <a:rPr lang="en-US" sz="2200" b="1" dirty="0">
                <a:solidFill>
                  <a:hslClr hue="12000000" sat="80000" lum="40000"/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srgb 0070C0 alpha 40%</a:t>
            </a:r>
            <a:r>
              <a:rPr lang="en-US" sz="2200" b="1" dirty="0">
                <a:solidFill>
                  <a:srgbClr val="0070C0">
                    <a:alpha val="40000"/>
                  </a:srgbClr>
                </a:solidFill>
              </a:rPr>
              <a:t>	Sample text Ag</a:t>
            </a:r>
            <a:endParaRPr lang="en-US" dirty="0"/>
          </a:p>
          <a:p>
            <a:pPr>
              <a:tabLst>
                <a:tab pos="3200400" algn="l"/>
              </a:tabLst>
            </a:pPr>
            <a:r>
              <a:rPr lang="en-US" sz="1200" dirty="0">
                <a:solidFill>
                  <a:srgbClr val="595959"/>
                </a:solidFill>
              </a:rPr>
              <a:t>accent4 satMod 200% hueOff</a:t>
            </a:r>
            <a:r>
              <a:rPr lang="en-US" sz="2200" b="1" dirty="0">
                <a:solidFill>
                  <a:schemeClr val="accent4">
                    <a:satMod val="200000"/>
                    <a:hueOff val="1200000"/>
                  </a:schemeClr>
                </a:solidFill>
              </a:rPr>
              <a:t>	Sample text Ag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Highlight, spacing, baseline, caps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</p:spPr>
        <p:txBody>
          <a:bodyPr wrap="square"/>
          <a:lstStyle/>
          <a:p>
            <a:r>
              <a:rPr lang="en-US" sz="1600" dirty="0"/>
              <a:t>Highlight: </a:t>
            </a:r>
            <a:r>
              <a:rPr lang="en-US" sz="1600" dirty="0">
                <a:highlight>
                  <a:srgbClr val="FFFF00"/>
                </a:highlight>
              </a:rPr>
              <a:t>yellow highlight</a:t>
            </a:r>
            <a:r>
              <a:rPr lang="en-US" sz="1600" dirty="0"/>
              <a:t> and </a:t>
            </a:r>
            <a:r>
              <a:rPr lang="en-US" sz="1600" dirty="0">
                <a:highlight>
                  <a:srgbClr val="00FFFF"/>
                </a:highlight>
              </a:rPr>
              <a:t>cyan highlight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spc -2pt: </a:t>
            </a:r>
            <a:r>
              <a:rPr lang="en-US" sz="2000" spc="-200" dirty="0"/>
              <a:t>Condensed spacing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spc 0: </a:t>
            </a:r>
            <a:r>
              <a:rPr lang="en-US" sz="2000" dirty="0"/>
              <a:t>Normal spacing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spc +5pt: </a:t>
            </a:r>
            <a:r>
              <a:rPr lang="en-US" sz="2000" spc="500" dirty="0"/>
              <a:t>Expanded spacing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spc +10pt: </a:t>
            </a:r>
            <a:r>
              <a:rPr lang="en-US" sz="2000" spc="1000" dirty="0"/>
              <a:t>WIDE</a:t>
            </a:r>
            <a:endParaRPr lang="en-US" dirty="0"/>
          </a:p>
          <a:p>
            <a:r>
              <a:rPr lang="en-US" sz="2200" dirty="0"/>
              <a:t>Superscript: E = mc</a:t>
            </a:r>
            <a:r>
              <a:rPr lang="en-US" sz="2200" baseline="30000" dirty="0"/>
              <a:t>2</a:t>
            </a:r>
            <a:r>
              <a:rPr lang="en-US" sz="2200" dirty="0"/>
              <a:t>   x</a:t>
            </a:r>
            <a:r>
              <a:rPr lang="en-US" sz="2200" baseline="-25000" dirty="0"/>
              <a:t>i</a:t>
            </a:r>
            <a:r>
              <a:rPr lang="en-US" sz="2200" baseline="30000" dirty="0"/>
              <a:t>2</a:t>
            </a:r>
            <a:r>
              <a:rPr lang="en-US" sz="2200" dirty="0"/>
              <a:t>   H</a:t>
            </a:r>
            <a:r>
              <a:rPr lang="en-US" sz="2200" baseline="-25000" dirty="0"/>
              <a:t>2</a:t>
            </a:r>
            <a:r>
              <a:rPr lang="en-US" sz="2200" dirty="0"/>
              <a:t>O</a:t>
            </a:r>
            <a:r>
              <a:rPr lang="en-US" sz="2200" dirty="0"/>
              <a:t>   Revenue</a:t>
            </a:r>
            <a:r>
              <a:rPr lang="en-US" sz="2200" baseline="30000" dirty="0"/>
              <a:t>(1)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cap=all: </a:t>
            </a:r>
            <a:r>
              <a:rPr lang="en-US" sz="2000" cap="all" dirty="0"/>
              <a:t>All capitals from lower case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cap=small: </a:t>
            </a:r>
            <a:r>
              <a:rPr lang="en-US" sz="2000" cap="small" dirty="0"/>
              <a:t>Small Capitals From Mixed Case</a:t>
            </a:r>
            <a:endParaRPr lang="en-US" dirty="0"/>
          </a:p>
          <a:p>
            <a:r>
              <a:rPr lang="en-US" sz="1200" dirty="0">
                <a:solidFill>
                  <a:srgbClr val="7F7F7F"/>
                </a:solidFill>
              </a:rPr>
              <a:t>kern 12pt: </a:t>
            </a:r>
            <a:r>
              <a:rPr lang="en-US" sz="2400" kern="1200" dirty="0"/>
              <a:t>AVATAR Wave To</a:t>
            </a:r>
            <a:r>
              <a:rPr lang="en-US" sz="1200" dirty="0">
                <a:solidFill>
                  <a:srgbClr val="7F7F7F"/>
                </a:solidFill>
              </a:rPr>
              <a:t>   kern 0: </a:t>
            </a:r>
            <a:r>
              <a:rPr lang="en-US" sz="2400" kern="0" dirty="0"/>
              <a:t>AVATAR Wave To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Mixed runs, line breaks, wrapping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128016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200" dirty="0"/>
              <a:t>Mixed </a:t>
            </a:r>
            <a:r>
              <a:rPr lang="en-US" sz="2800" b="1" dirty="0">
                <a:solidFill>
                  <a:srgbClr val="C00000"/>
                </a:solidFill>
              </a:rPr>
              <a:t>sizes </a:t>
            </a:r>
            <a:r>
              <a:rPr lang="en-US" sz="2000" i="1" dirty="0">
                <a:latin typeface="Times New Roman"/>
              </a:rPr>
              <a:t>fonts </a:t>
            </a:r>
            <a:r>
              <a:rPr lang="en-US" sz="1400" dirty="0">
                <a:latin typeface="Courier New"/>
              </a:rPr>
              <a:t>and </a:t>
            </a:r>
            <a:r>
              <a:rPr lang="en-US" sz="2400" dirty="0">
                <a:solidFill>
                  <a:schemeClr val="accent1"/>
                </a:solidFill>
              </a:rPr>
              <a:t>colors </a:t>
            </a:r>
            <a:r>
              <a:rPr lang="en-US" sz="1600" u="sng" dirty="0"/>
              <a:t>share one baseline</a:t>
            </a:r>
            <a:endParaRPr lang="en-US" dirty="0"/>
          </a:p>
        </p:txBody>
      </p:sp>
      <p:sp>
        <p:nvSpPr>
          <p:cNvPr id="4" name="TextBox 4"/>
          <p:cNvSpPr txBox="1"/>
          <p:nvPr/>
        </p:nvSpPr>
        <p:spPr>
          <a:xfrm>
            <a:off x="365760" y="2743200"/>
            <a:ext cx="4023360" cy="201168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800" dirty="0"/>
              <a:t>Line one</a:t>
            </a:r>
            <a:br>
              <a:rPr lang="en-US" sz="1800" dirty="0"/>
            </a:br>
            <a:r>
              <a:rPr lang="en-US" sz="1800" dirty="0"/>
              <a:t>Line two after a:br</a:t>
            </a:r>
            <a:br>
              <a:rPr lang="en-US" sz="1800" dirty="0"/>
            </a:br>
            <a:br>
              <a:rPr lang="en-US" sz="1800" dirty="0"/>
            </a:br>
            <a:r>
              <a:rPr lang="en-US" sz="1800" dirty="0"/>
              <a:t>Line four after two breaks</a:t>
            </a:r>
            <a:endParaRPr lang="en-US" dirty="0"/>
          </a:p>
          <a:p>
            <a:endParaRPr lang="en-US" sz="4000" dirty="0"/>
          </a:p>
          <a:p>
            <a:r>
              <a:rPr lang="en-US" sz="1200" dirty="0"/>
              <a:t>After a 40pt empty paragraph</a:t>
            </a:r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4663440" y="2743200"/>
            <a:ext cx="4114800" cy="3657600"/>
          </a:xfrm>
          <a:prstGeom prst="rect">
            <a:avLst/>
          </a:prstGeom>
          <a:ln w="9525">
            <a:solidFill>
              <a:srgbClr val="BFBFBF"/>
            </a:solidFill>
          </a:ln>
        </p:spPr>
        <p:txBody>
          <a:bodyPr wrap="square"/>
          <a:lstStyle/>
          <a:p>
            <a:r>
              <a:rPr lang="en-US" sz="1600" dirty="0"/>
              <a:t>Operating income increased to $42.7 million, driven by higher subscription revenue and disciplined spending. Net cash provided by operating activities was $51.3 million, and the company ended the quarter with $310.2 million in cash and short-term investments.</a:t>
            </a:r>
            <a:endParaRPr lang="en-US" dirty="0"/>
          </a:p>
          <a:p>
            <a:r>
              <a:rPr lang="en-US" sz="1400" dirty="0"/>
              <a:t>Unbreakable: xxxxxxxxxxxxxxxxxxxxxxxxxxxxxxxxxxxxxxxxxxxxxxxxxxxxxxxxxxxx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Text fill, outline, shadow and glow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65760" y="1280160"/>
            <a:ext cx="8412480" cy="5394960"/>
          </a:xfrm>
          <a:prstGeom prst="rect">
            <a:avLst/>
          </a:prstGeom>
          <a:solidFill>
            <a:srgbClr val="F2F2F2"/>
          </a:solidFill>
        </p:spPr>
        <p:txBody>
          <a:bodyPr wrap="square"/>
          <a:lstStyle/>
          <a:p>
            <a:r>
              <a:rPr lang="en-US" sz="4000" b="1" dirty="0">
                <a:gradFill>
                  <a:gsLst>
                    <a:gs pos="0">
                      <a:srgbClr val="C00000"/>
                    </a:gs>
                    <a:gs pos="50000">
                      <a:srgbClr val="FFC000"/>
                    </a:gs>
                    <a:gs pos="100000">
                      <a:srgbClr val="0070C0"/>
                    </a:gs>
                  </a:gsLst>
                  <a:lin ang="0"/>
                </a:gradFill>
              </a:rPr>
              <a:t>Gradient-filled text</a:t>
            </a:r>
            <a:endParaRPr lang="en-US" dirty="0"/>
          </a:p>
          <a:p>
            <a:r>
              <a:rPr lang="en-US" sz="4000" b="1" dirty="0">
                <a:ln w="15875">
                  <a:solidFill>
                    <a:srgbClr val="1F3864"/>
                  </a:solidFill>
                </a:ln>
                <a:noFill/>
              </a:rPr>
              <a:t>Outlined text, no fill</a:t>
            </a:r>
            <a:endParaRPr lang="en-US" dirty="0"/>
          </a:p>
          <a:p>
            <a:r>
              <a:rPr lang="en-US" sz="4000" b="1" dirty="0">
                <a:ln w="19050">
                  <a:solidFill>
                    <a:srgbClr val="7F3F00"/>
                  </a:solidFill>
                </a:ln>
                <a:solidFill>
                  <a:srgbClr val="FFC000"/>
                </a:solidFill>
              </a:rPr>
              <a:t>Filled + outline</a:t>
            </a:r>
            <a:endParaRPr lang="en-US" dirty="0"/>
          </a:p>
          <a:p>
            <a:r>
              <a:rPr lang="en-US" sz="4000" b="1" dirty="0">
                <a:solidFill>
                  <a:srgbClr val="2F5597"/>
                </a:solidFill>
                <a:effectLst>
                  <a:outerShdw blurRad="38100" dist="38100" dir="2700000">
                    <a:srgbClr val="000000">
                      <a:alpha val="50000"/>
                    </a:srgbClr>
                  </a:outerShdw>
                </a:effectLst>
              </a:rPr>
              <a:t>Text with shadow</a:t>
            </a:r>
            <a:endParaRPr lang="en-US" dirty="0"/>
          </a:p>
          <a:p>
            <a:r>
              <a:rPr lang="en-US" sz="4000" b="1" dirty="0">
                <a:solidFill>
                  <a:srgbClr val="1F3864"/>
                </a:solidFill>
                <a:effectLst>
                  <a:glow rad="76200">
                    <a:srgbClr val="FFC000">
                      <a:alpha val="75000"/>
                    </a:srgbClr>
                  </a:glow>
                </a:effectLst>
              </a:rPr>
              <a:t>Text with glow</a:t>
            </a:r>
            <a:endParaRPr lang="en-US" dirty="0"/>
          </a:p>
          <a:p>
            <a:r>
              <a:rPr lang="en-US" sz="4000" b="1" dirty="0">
                <a:pattFill prst="wdUpDiag">
                  <a:fgClr>
                    <a:srgbClr val="C00000"/>
                  </a:fgClr>
                  <a:bgClr>
                    <a:srgbClr val="FFC000"/>
                  </a:bgClr>
                </a:pattFill>
              </a:rPr>
              <a:t>Pattern-filled text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4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Text: colors, highlight, spacing, baseline, caps, mixed runs</dc:title>
  <dc:subject>pptx_engine test corpus</dc:subject>
  <dc:creator>pptx_engine corpus generator</dc:creator>
  <cp:keywords>text, color-transforms, highlight, char-spacing, baseline, caps, text-effects</cp:keywords>
  <dc:description>Run-level formatting: srgb/scheme/preset/system/HSL colors with lumMod/lumOff/tint/shade/alpha, highlight, character spacing, super/subscript, all/small caps, mixed runs, line breaks, text gradient fill, outline, shadow and glow.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