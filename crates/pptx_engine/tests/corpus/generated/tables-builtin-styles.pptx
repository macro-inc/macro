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C3A0E2-5B7F-4C11-9E3A-2F7C0B5D8A41}" styleName="Corpus Ledger">
    <a:wholeTbl>
      <a:tcTxStyle>
        <a:font>
          <a:latin typeface="Arial"/>
          <a:ea typeface=""/>
          <a:cs typeface=""/>
        </a:font>
        <a:schemeClr val="dk1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6350">
              <a:solidFill>
                <a:srgbClr val="A6A6A6"/>
              </a:solidFill>
            </a:ln>
          </a:top>
          <a:bottom>
            <a:ln w="6350">
              <a:solidFill>
                <a:srgbClr val="A6A6A6"/>
              </a:solidFill>
            </a:ln>
          </a:bottom>
          <a:insideH>
            <a:ln w="6350">
              <a:solidFill>
                <a:srgbClr val="D9D9D9"/>
              </a:solidFill>
            </a:ln>
          </a:insideH>
          <a:insideV>
            <a:ln w="0">
              <a:noFill/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2F7EC"/>
          </a:solidFill>
        </a:fill>
      </a:tcStyle>
    </a:band1H>
    <a:band1V>
      <a:tcStyle>
        <a:tcBdr/>
        <a:fill>
          <a:solidFill>
            <a:srgbClr val="FFF8E5"/>
          </a:solidFill>
        </a:fill>
      </a:tcStyle>
    </a:band1V>
    <a:lastCol>
      <a:tcTxStyle b="on"/>
      <a:tcStyle>
        <a:tcBdr/>
      </a:tcStyle>
    </a:lastCol>
    <a:firstCol>
      <a:tcTxStyle i="on"/>
      <a:tcStyle>
        <a:tcBdr/>
      </a:tcStyle>
    </a:firstCol>
    <a:lastRow>
      <a:tcTxStyle b="on"/>
      <a:tcStyle>
        <a:tcBdr>
          <a:top>
            <a:ln w="12700">
              <a:solidFill>
                <a:srgbClr val="000000"/>
              </a:solidFill>
            </a:ln>
          </a:top>
          <a:bottom>
            <a:ln w="38100" cmpd="dbl">
              <a:solidFill>
                <a:srgbClr val="000000"/>
              </a:solidFill>
            </a:ln>
          </a:bottom>
        </a:tcBdr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rgbClr val="37562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Built-in table styles 1/2 (GUID reference only)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274320" y="35158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Medium Style 2 - Accent 1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0" y="13716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{073A0DAA-6AF3-43AB-8588-CEC1D06C72B9}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200400" y="35158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Medium Style 2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3716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{9D7B26C5-4107-4FEC-AEDC-1716B250A1EF}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6126480" y="35158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Light Style 1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2291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{69012ECD-51FC-41F1-AA8D-1B2483CD663E}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274320" y="63733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Light Style 2 - Accent 1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0" y="42291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{BC89EF96-8CEA-46FF-86C4-4CE0E7609802}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3200400" y="63733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Light Style 3 - Accent 1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42291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{B301B821-A1FF-4177-AEE7-76D212191A09}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6126480" y="63733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Medium Style 1 - Accent 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Built-in table styles 2/2 (GUID reference only)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{6E25E649-3F16-4E02-A733-19D2CDBF48F0}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274320" y="35158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Medium Style 3 - Accent 1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0" y="13716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{69CF1AB2-1976-4502-BF36-3FF5EA218861}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200400" y="35158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Medium Style 4 - Accent 1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3716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{E8034E78-7F5D-4C2E-B375-FC64B27BC917}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6126480" y="35158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Dark Style 1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2291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{0660B408-B3CF-4A94-85FC-2B1E0A45F4A2}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274320" y="63733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Dark Style 2 - Accent 1/Accent 2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0" y="42291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{3C2FFA5D-87B4-456A-9821-1D502468CF0F}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3200400" y="63733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Themed Style 1 - Accent 1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4229100"/>
          <a:ext cx="2743200" cy="2125979"/>
        </p:xfrm>
        <a:graphic>
          <a:graphicData uri="http://schemas.openxmlformats.org/drawingml/2006/table">
            <a:tbl>
              <a:tblPr firstRow="1" lastRow="1" bandRow="1">
                <a:tableStyleId>{5940675A-B579-460E-94D1-54222C63F5DA}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6126480" y="63733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No Style, Table Grid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Style option flags (Medium Style 2 - Accent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2743200" cy="21259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274320" y="35158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no flags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0" y="1371600"/>
          <a:ext cx="2743200" cy="21259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200400" y="35158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firstRow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371600"/>
          <a:ext cx="2743200" cy="2125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6126480" y="35158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firstRow bandRow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229100"/>
          <a:ext cx="2743200" cy="2125979"/>
        </p:xfrm>
        <a:graphic>
          <a:graphicData uri="http://schemas.openxmlformats.org/drawingml/2006/table">
            <a:tbl>
              <a:tblPr firstCol="1" lastCol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274320" y="63733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firstCol lastCol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0" y="4229100"/>
          <a:ext cx="2743200" cy="2125979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3200400" y="63733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bandCol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4229100"/>
          <a:ext cx="2743200" cy="2125979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</a:tblGrid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Region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Q3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North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12.1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14.0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39.5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South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9.8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10.2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11.1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31.1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5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East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7.9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23.6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  <a:tr h="425199"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Total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29.3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31.5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33.4</a:t>
                      </a:r>
                      <a:endParaRPr lang="en-US" dirty="0"/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94.2</a:t>
                      </a:r>
                      <a:endParaRPr lang="en-US" dirty="0"/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6126480" y="6373368"/>
            <a:ext cx="27432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firstRow lastRow firstCol lastCol bandRow bandCol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Custom table style from tableStyles.xml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7315200" cy="3291840"/>
        </p:xfrm>
        <a:graphic>
          <a:graphicData uri="http://schemas.openxmlformats.org/drawingml/2006/table">
            <a:tbl>
              <a:tblPr firstRow="1" lastRow="1" firstCol="1" lastCol="1" bandRow="1">
                <a:tableStyleId>{D1C3A0E2-5B7F-4C11-9E3A-2F7C0B5D8A41}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Region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Q1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Q2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Q3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13.4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14.0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39.5</a:t>
                      </a:r>
                      <a:endParaRPr lang="en-US" dirty="0"/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South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11.1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31.1</a:t>
                      </a:r>
                      <a:endParaRPr lang="en-US" dirty="0"/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East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7.4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7.9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23.6</a:t>
                      </a:r>
                      <a:endParaRPr lang="en-US" dirty="0"/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West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16.6</a:t>
                      </a:r>
                      <a:endParaRPr lang="en-US" dirty="0"/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34.3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39.5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110.8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100" dirty="0">
                <a:solidFill>
                  <a:srgbClr val="404040"/>
                </a:solidFill>
              </a:rPr>
              <a:t>Corpus Ledger: wholeTbl/band1H/firstRow/lastRow/firstCol/lastCol parts, insideH rules, double rule under the total row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Tables: built-in style GUIDs, style flags and a custom tableStyles.xml style</dc:title>
  <dc:subject>pptx_engine test corpus</dc:subject>
  <dc:creator>pptx_engine corpus generator</dc:creator>
  <cp:keywords>table, table-styles, table-style-flags, custom-table-style</cp:keywords>
  <dc:description>Twelve built-in PowerPoint table styles referenced by GUID only (no definitions in tableStyles.xml, as python-pptx/LibreOffice write them), style option flags (firstRow/lastRow/firstCol/lastCol/bandRow/bandCol), and a custom style defined in tableStyles.xml.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