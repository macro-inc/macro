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Revenue ($M)</c:v>
                </c:pt>
              </c:strCache>
            </c:strRef>
          </c:tx>
          <c:cat>
            <c:strRef>
              <c:f>Sheet1!$A$2:$A$6</c:f>
              <c:strCache>
                <c:ptCount val="5"/>
                <c:pt idx="0">
                  <c:v>Q3 FY23</c:v>
                </c:pt>
                <c:pt idx="1">
                  <c:v>Q4 FY23</c:v>
                </c:pt>
                <c:pt idx="2">
                  <c:v>Q1 FY24</c:v>
                </c:pt>
                <c:pt idx="3">
                  <c:v>Q2 FY24</c:v>
                </c:pt>
                <c:pt idx="4">
                  <c:v>Q3 FY24</c:v>
                </c:pt>
              </c:strCache>
            </c:strRef>
          </c:cat>
          <c:val>
            <c:numRef>
              <c:f>Sheet1!$B$2:$B$6</c:f>
              <c:numCache>
                <c:formatCode>0.0</c:formatCode>
                <c:ptCount val="5"/>
                <c:pt idx="0">
                  <c:v>118.2</c:v>
                </c:pt>
                <c:pt idx="1">
                  <c:v>121.0</c:v>
                </c:pt>
                <c:pt idx="2">
                  <c:v>124.9</c:v>
                </c:pt>
                <c:pt idx="3">
                  <c:v>128.3</c:v>
                </c:pt>
                <c:pt idx="4">
                  <c:v>132.4</c:v>
                </c:pt>
              </c:numCache>
            </c:numRef>
          </c:val>
        </c:ser>
        <c:axId val="2226939960"/>
        <c:axId val="2180972856"/>
      </c:barChart>
      <c:lineChart>
        <c:grouping val="standard"/>
        <c:varyColors val="0"/>
        <c:ser>
          <c:idx val="1"/>
          <c:order val="1"/>
          <c:tx>
            <c:strRef>
              <c:f>Sheet1!$C$1</c:f>
              <c:strCache>
                <c:ptCount val="1"/>
                <c:pt idx="0">
                  <c:v>Operating margin</c:v>
                </c:pt>
              </c:strCache>
            </c:strRef>
          </c:tx>
          <c:spPr>
            <a:ln w="31750" cap="rnd">
              <a:solidFill>
                <a:srgbClr val="ED7D31"/>
              </a:solidFill>
              <a:round/>
            </a:ln>
          </c:spPr>
          <c:marker>
            <c:symbol val="circle"/>
            <c:size val="7"/>
          </c:marker>
          <c:cat>
            <c:strRef>
              <c:f>Sheet1!$A$2:$A$6</c:f>
              <c:strCache>
                <c:ptCount val="5"/>
                <c:pt idx="0">
                  <c:v>Q3 FY23</c:v>
                </c:pt>
                <c:pt idx="1">
                  <c:v>Q4 FY23</c:v>
                </c:pt>
                <c:pt idx="2">
                  <c:v>Q1 FY24</c:v>
                </c:pt>
                <c:pt idx="3">
                  <c:v>Q2 FY24</c:v>
                </c:pt>
                <c:pt idx="4">
                  <c:v>Q3 FY24</c:v>
                </c:pt>
              </c:strCache>
            </c:strRef>
          </c:cat>
          <c:val>
            <c:numRef>
              <c:f>Sheet1!$C$2:$C$6</c:f>
              <c:numCache>
                <c:formatCode>0.0</c:formatCode>
                <c:ptCount val="5"/>
                <c:pt idx="0">
                  <c:v>0.217</c:v>
                </c:pt>
                <c:pt idx="1">
                  <c:v>0.221</c:v>
                </c:pt>
                <c:pt idx="2">
                  <c:v>0.236</c:v>
                </c:pt>
                <c:pt idx="3">
                  <c:v>0.244</c:v>
                </c:pt>
                <c:pt idx="4">
                  <c:v>0.255</c:v>
                </c:pt>
              </c:numCache>
            </c:numRef>
          </c:val>
          <c:smooth val="0"/>
        </c:ser>
        <c:marker val="1"/>
        <c:axId val="50020001"/>
        <c:axId val="50020002"/>
      </c:lineChart>
      <c:catAx>
        <c:axId val="2226939960"/>
        <c:scaling>
          <c:orientation val="minMax"/>
        </c:scaling>
        <c:delete val="0"/>
        <c:axPos val="b"/>
        <c:majorTickMark val="out"/>
        <c:minorTickMark val="none"/>
        <c:tickLblPos val="nextTo"/>
        <c:crossAx val="2180972856"/>
        <c:crosses val="autoZero"/>
        <c:auto val="1"/>
        <c:lblAlgn val="ctr"/>
        <c:lblOffset val="100"/>
        <c:noMultiLvlLbl val="0"/>
      </c:catAx>
      <c:valAx>
        <c:axId val="2180972856"/>
        <c:scaling/>
        <c:delete val="0"/>
        <c:axPos val="l"/>
        <c:majorGridlines/>
        <c:majorTickMark val="out"/>
        <c:minorTickMark val="none"/>
        <c:tickLblPos val="nextTo"/>
        <c:crossAx val="2226939960"/>
        <c:crosses val="autoZero"/>
      </c:valAx>
      <c:catAx>
        <c:axId val="50020001"/>
        <c:scaling>
          <c:orientation val="minMax"/>
        </c:scaling>
        <c:delete val="1"/>
        <c:axPos val="b"/>
        <c:majorTickMark val="out"/>
        <c:minorTickMark val="none"/>
        <c:tickLblPos val="nextTo"/>
        <c:crossAx val="50020002"/>
        <c:crosses val="autoZero"/>
        <c:auto val="1"/>
        <c:lblAlgn val="ctr"/>
        <c:lblOffset val="100"/>
        <c:noMultiLvlLbl val="0"/>
      </c:catAx>
      <c:valAx>
        <c:axId val="50020002"/>
        <c:scaling>
          <c:orientation val="minMax"/>
        </c:scaling>
        <c:delete val="0"/>
        <c:axPos val="r"/>
        <c:numFmt formatCode="0%" sourceLinked="0"/>
        <c:majorTickMark val="out"/>
        <c:minorTickMark val="none"/>
        <c:tickLblPos val="nextTo"/>
        <c:crossAx val="50020001"/>
        <c:crosses val="max"/>
        <c:crossBetween val="between"/>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400"/>
              <a:t>Revenue by segment ($M)</a:t>
            </a:r>
          </a:p>
        </c:rich>
      </c:tx>
      <c:layout/>
      <c:overlay val="0"/>
    </c:title>
    <c:autoTitleDeleted val="0"/>
    <c:plotArea>
      <c:layout/>
      <c:doughnutChart>
        <c:varyColors val="1"/>
        <c:ser>
          <c:idx val="0"/>
          <c:order val="0"/>
          <c:tx>
            <c:strRef>
              <c:f>Sheet1!$B$1</c:f>
              <c:strCache>
                <c:ptCount val="1"/>
                <c:pt idx="0">
                  <c:v>Revenue</c:v>
                </c:pt>
              </c:strCache>
            </c:strRef>
          </c:tx>
          <c:cat>
            <c:strRef>
              <c:f>Sheet1!$A$2:$A$4</c:f>
              <c:strCache>
                <c:ptCount val="3"/>
                <c:pt idx="0">
                  <c:v>Product</c:v>
                </c:pt>
                <c:pt idx="1">
                  <c:v>Subscription</c:v>
                </c:pt>
                <c:pt idx="2">
                  <c:v>Services</c:v>
                </c:pt>
              </c:strCache>
            </c:strRef>
          </c:cat>
          <c:val>
            <c:numRef>
              <c:f>Sheet1!$B$2:$B$4</c:f>
              <c:numCache>
                <c:formatCode>0.0</c:formatCode>
                <c:ptCount val="3"/>
                <c:pt idx="0">
                  <c:v>84.2</c:v>
                </c:pt>
                <c:pt idx="1">
                  <c:v>41.9</c:v>
                </c:pt>
                <c:pt idx="2">
                  <c:v>6.3</c:v>
                </c:pt>
              </c:numCache>
            </c:numRef>
          </c:val>
        </c:ser>
        <c:dLbls>
          <c:numFmt formatCode="0.0" sourceLinked="0"/>
          <c:showLegendKey val="0"/>
          <c:showVal val="0"/>
          <c:showCatName val="0"/>
          <c:showSerName val="0"/>
          <c:showPercent val="0"/>
          <c:showBubbleSize val="0"/>
          <c:showLeaderLines val="1"/>
        </c:dLbls>
        <c:firstSliceAng val="0"/>
        <c:holeSize val="50"/>
      </c:doughnutChart>
    </c:plotArea>
    <c:legend>
      <c:legendPos val="b"/>
      <c:layout/>
      <c:overlay val="0"/>
    </c:legend>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c:spPr>
          <c:cat>
            <c:strRef>
              <c:f>Sheet1!$A$2:$A$8</c:f>
              <c:strCache>
                <c:ptCount val="7"/>
                <c:pt idx="0">
                  <c:v>Q3 FY23</c:v>
                </c:pt>
                <c:pt idx="1">
                  <c:v>Volume</c:v>
                </c:pt>
                <c:pt idx="2">
                  <c:v>Price</c:v>
                </c:pt>
                <c:pt idx="3">
                  <c:v>Mix</c:v>
                </c:pt>
                <c:pt idx="4">
                  <c:v>Opex</c:v>
                </c:pt>
                <c:pt idx="5">
                  <c:v>FX</c:v>
                </c:pt>
                <c:pt idx="6">
                  <c:v>Q3 FY24</c:v>
                </c:pt>
              </c:strCache>
            </c:strRef>
          </c:cat>
          <c:val>
            <c:numRef>
              <c:f>Sheet1!$B$2:$B$8</c:f>
              <c:numCache>
                <c:formatCode>0.0</c:formatCode>
                <c:ptCount val="7"/>
                <c:pt idx="0">
                  <c:v>0</c:v>
                </c:pt>
                <c:pt idx="1">
                  <c:v>30.0</c:v>
                </c:pt>
                <c:pt idx="2">
                  <c:v>34.5</c:v>
                </c:pt>
                <c:pt idx="3">
                  <c:v>35.2</c:v>
                </c:pt>
                <c:pt idx="4">
                  <c:v>34.0</c:v>
                </c:pt>
                <c:pt idx="5">
                  <c:v>33.4</c:v>
                </c:pt>
                <c:pt idx="6">
                  <c:v>0</c:v>
                </c:pt>
              </c:numCache>
            </c:numRef>
          </c:val>
        </c:ser>
        <c:ser>
          <c:idx val="1"/>
          <c:order val="1"/>
          <c:tx>
            <c:strRef>
              <c:f>Sheet1!$C$1</c:f>
              <c:strCache>
                <c:ptCount val="1"/>
                <c:pt idx="0">
                  <c:v>Up</c:v>
                </c:pt>
              </c:strCache>
            </c:strRef>
          </c:tx>
          <c:spPr>
            <a:solidFill>
              <a:srgbClr val="70AD47"/>
            </a:solidFill>
          </c:spPr>
          <c:cat>
            <c:strRef>
              <c:f>Sheet1!$A$2:$A$8</c:f>
              <c:strCache>
                <c:ptCount val="7"/>
                <c:pt idx="0">
                  <c:v>Q3 FY23</c:v>
                </c:pt>
                <c:pt idx="1">
                  <c:v>Volume</c:v>
                </c:pt>
                <c:pt idx="2">
                  <c:v>Price</c:v>
                </c:pt>
                <c:pt idx="3">
                  <c:v>Mix</c:v>
                </c:pt>
                <c:pt idx="4">
                  <c:v>Opex</c:v>
                </c:pt>
                <c:pt idx="5">
                  <c:v>FX</c:v>
                </c:pt>
                <c:pt idx="6">
                  <c:v>Q3 FY24</c:v>
                </c:pt>
              </c:strCache>
            </c:strRef>
          </c:cat>
          <c:val>
            <c:numRef>
              <c:f>Sheet1!$C$2:$C$8</c:f>
              <c:numCache>
                <c:formatCode>0.0</c:formatCode>
                <c:ptCount val="7"/>
                <c:pt idx="0">
                  <c:v>0</c:v>
                </c:pt>
                <c:pt idx="1">
                  <c:v>4.5</c:v>
                </c:pt>
                <c:pt idx="2">
                  <c:v>2.5</c:v>
                </c:pt>
                <c:pt idx="3">
                  <c:v>0</c:v>
                </c:pt>
                <c:pt idx="4">
                  <c:v>0</c:v>
                </c:pt>
                <c:pt idx="5">
                  <c:v>0</c:v>
                </c:pt>
                <c:pt idx="6">
                  <c:v>0</c:v>
                </c:pt>
              </c:numCache>
            </c:numRef>
          </c:val>
        </c:ser>
        <c:ser>
          <c:idx val="2"/>
          <c:order val="2"/>
          <c:tx>
            <c:strRef>
              <c:f>Sheet1!$D$1</c:f>
              <c:strCache>
                <c:ptCount val="1"/>
                <c:pt idx="0">
                  <c:v>Down</c:v>
                </c:pt>
              </c:strCache>
            </c:strRef>
          </c:tx>
          <c:spPr>
            <a:solidFill>
              <a:srgbClr val="C00000"/>
            </a:solidFill>
          </c:spPr>
          <c:cat>
            <c:strRef>
              <c:f>Sheet1!$A$2:$A$8</c:f>
              <c:strCache>
                <c:ptCount val="7"/>
                <c:pt idx="0">
                  <c:v>Q3 FY23</c:v>
                </c:pt>
                <c:pt idx="1">
                  <c:v>Volume</c:v>
                </c:pt>
                <c:pt idx="2">
                  <c:v>Price</c:v>
                </c:pt>
                <c:pt idx="3">
                  <c:v>Mix</c:v>
                </c:pt>
                <c:pt idx="4">
                  <c:v>Opex</c:v>
                </c:pt>
                <c:pt idx="5">
                  <c:v>FX</c:v>
                </c:pt>
                <c:pt idx="6">
                  <c:v>Q3 FY24</c:v>
                </c:pt>
              </c:strCache>
            </c:strRef>
          </c:cat>
          <c:val>
            <c:numRef>
              <c:f>Sheet1!$D$2:$D$8</c:f>
              <c:numCache>
                <c:formatCode>0.0</c:formatCode>
                <c:ptCount val="7"/>
                <c:pt idx="0">
                  <c:v>0</c:v>
                </c:pt>
                <c:pt idx="1">
                  <c:v>0</c:v>
                </c:pt>
                <c:pt idx="2">
                  <c:v>0</c:v>
                </c:pt>
                <c:pt idx="3">
                  <c:v>1.8</c:v>
                </c:pt>
                <c:pt idx="4">
                  <c:v>1.2</c:v>
                </c:pt>
                <c:pt idx="5">
                  <c:v>0.6</c:v>
                </c:pt>
                <c:pt idx="6">
                  <c:v>0</c:v>
                </c:pt>
              </c:numCache>
            </c:numRef>
          </c:val>
        </c:ser>
        <c:ser>
          <c:idx val="3"/>
          <c:order val="3"/>
          <c:tx>
            <c:strRef>
              <c:f>Sheet1!$E$1</c:f>
              <c:strCache>
                <c:ptCount val="1"/>
                <c:pt idx="0">
                  <c:v>Total</c:v>
                </c:pt>
              </c:strCache>
            </c:strRef>
          </c:tx>
          <c:spPr>
            <a:solidFill>
              <a:srgbClr val="1F4E79"/>
            </a:solidFill>
          </c:spPr>
          <c:cat>
            <c:strRef>
              <c:f>Sheet1!$A$2:$A$8</c:f>
              <c:strCache>
                <c:ptCount val="7"/>
                <c:pt idx="0">
                  <c:v>Q3 FY23</c:v>
                </c:pt>
                <c:pt idx="1">
                  <c:v>Volume</c:v>
                </c:pt>
                <c:pt idx="2">
                  <c:v>Price</c:v>
                </c:pt>
                <c:pt idx="3">
                  <c:v>Mix</c:v>
                </c:pt>
                <c:pt idx="4">
                  <c:v>Opex</c:v>
                </c:pt>
                <c:pt idx="5">
                  <c:v>FX</c:v>
                </c:pt>
                <c:pt idx="6">
                  <c:v>Q3 FY24</c:v>
                </c:pt>
              </c:strCache>
            </c:strRef>
          </c:cat>
          <c:val>
            <c:numRef>
              <c:f>Sheet1!$E$2:$E$8</c:f>
              <c:numCache>
                <c:formatCode>0.0</c:formatCode>
                <c:ptCount val="7"/>
                <c:pt idx="0">
                  <c:v>30.0</c:v>
                </c:pt>
                <c:pt idx="1">
                  <c:v>0</c:v>
                </c:pt>
                <c:pt idx="2">
                  <c:v>0</c:v>
                </c:pt>
                <c:pt idx="3">
                  <c:v>0</c:v>
                </c:pt>
                <c:pt idx="4">
                  <c:v>0</c:v>
                </c:pt>
                <c:pt idx="5">
                  <c:v>0</c:v>
                </c:pt>
                <c:pt idx="6">
                  <c:v>33.4</c:v>
                </c:pt>
              </c:numCache>
            </c:numRef>
          </c:val>
        </c:ser>
        <c:gapWidth val="50"/>
        <c:overlap val="100"/>
        <c:axId val="2226939960"/>
        <c:axId val="2180972856"/>
      </c:barChart>
      <c:catAx>
        <c:axId val="2226939960"/>
        <c:scaling>
          <c:orientation val="minMax"/>
        </c:scaling>
        <c:delete val="0"/>
        <c:axPos val="b"/>
        <c:majorTickMark val="out"/>
        <c:minorTickMark val="none"/>
        <c:tickLblPos val="nextTo"/>
        <c:crossAx val="2180972856"/>
        <c:crosses val="autoZero"/>
        <c:auto val="1"/>
        <c:lblAlgn val="ctr"/>
        <c:lblOffset val="100"/>
        <c:noMultiLvlLbl val="0"/>
      </c:catAx>
      <c:valAx>
        <c:axId val="2180972856"/>
        <c:scaling/>
        <c:delete val="0"/>
        <c:axPos val="l"/>
        <c:majorGridlines/>
        <c:majorTickMark val="out"/>
        <c:minorTickMark val="none"/>
        <c:tickLblPos val="nextTo"/>
        <c:crossAx val="2226939960"/>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Q3 FY2024 Earnings Review</a:t>
            </a:r>
          </a:p>
        </p:txBody>
      </p:sp>
      <p:sp>
        <p:nvSpPr>
          <p:cNvPr id="3" name="Subtitle 2"/>
          <p:cNvSpPr>
            <a:spLocks noGrp="1"/>
          </p:cNvSpPr>
          <p:nvPr>
            <p:ph type="subTitle" idx="1"/>
          </p:nvPr>
        </p:nvSpPr>
        <p:spPr/>
        <p:txBody>
          <a:bodyPr/>
          <a:lstStyle/>
          <a:p>
            <a:r>
              <a:t>Northwind Analytics, Inc. — October 2024</a:t>
            </a:r>
          </a:p>
        </p:txBody>
      </p:sp>
      <p:sp>
        <p:nvSpPr>
          <p:cNvPr id="4" name="Accent band"/>
          <p:cNvSpPr/>
          <p:nvPr/>
        </p:nvSpPr>
        <p:spPr>
          <a:xfrm>
            <a:off x="0" y="0"/>
            <a:ext cx="12191695" cy="320040"/>
          </a:xfrm>
          <a:prstGeom prst="rect">
            <a:avLst/>
          </a:prstGeom>
          <a:gradFill>
            <a:gsLst>
              <a:gs pos="0">
                <a:srgbClr val="1F4E79"/>
              </a:gs>
              <a:gs pos="100000">
                <a:srgbClr val="2E75B6"/>
              </a:gs>
            </a:gsLst>
            <a:lin ang="0"/>
          </a:gradFill>
        </p:spPr>
      </p:sp>
      <p:pic>
        <p:nvPicPr>
          <p:cNvPr id="5" name="Logo" descr="Logo"/>
          <p:cNvPicPr>
            <a:picLocks noChangeAspect="1"/>
          </p:cNvPicPr>
          <p:nvPr/>
        </p:nvPicPr>
        <p:blipFill rotWithShape="1">
          <a:blip r:embed="rId2"/>
          <a:stretch>
            <a:fillRect/>
          </a:stretch>
        </p:blipFill>
        <p:spPr>
          <a:xfrm>
            <a:off x="5394960" y="640080"/>
            <a:ext cx="1371600" cy="1371600"/>
          </a:xfrm>
          <a:prstGeom prst="rect">
            <a:avLst/>
          </a:prstGeom>
        </p:spPr>
      </p:pic>
      <p:sp>
        <p:nvSpPr>
          <p:cNvPr id="6" name="Date Placeholder 6"/>
          <p:cNvSpPr>
            <a:spLocks noGrp="1"/>
          </p:cNvSpPr>
          <p:nvPr>
            <p:ph type="dt" sz="half" idx="10"/>
          </p:nvPr>
        </p:nvSpPr>
        <p:spPr/>
        <p:txBody>
          <a:bodyPr/>
          <a:lstStyle/>
          <a:p>
            <a:r>
              <a:rPr lang="en-US" dirty="0"/>
              <a:t>October 24, 2024</a:t>
            </a:r>
            <a:endParaRPr lang="en-US" dirty="0"/>
          </a:p>
        </p:txBody>
      </p:sp>
      <p:sp>
        <p:nvSpPr>
          <p:cNvPr id="7" name="Footer Placeholder 7"/>
          <p:cNvSpPr>
            <a:spLocks noGrp="1"/>
          </p:cNvSpPr>
          <p:nvPr>
            <p:ph type="ftr" sz="quarter" idx="11"/>
          </p:nvPr>
        </p:nvSpPr>
        <p:spPr/>
        <p:txBody>
          <a:bodyPr/>
          <a:lstStyle/>
          <a:p>
            <a:r>
              <a:rPr lang="en-US" dirty="0"/>
              <a:t>Northwind Analytics · Q3 FY2024</a:t>
            </a:r>
            <a:endParaRPr lang="en-US" dirty="0"/>
          </a:p>
        </p:txBody>
      </p:sp>
      <p:sp>
        <p:nvSpPr>
          <p:cNvPr id="8" name="Slide Number Placeholder 8"/>
          <p:cNvSpPr>
            <a:spLocks noGrp="1"/>
          </p:cNvSpPr>
          <p:nvPr>
            <p:ph type="sldNum" sz="quarter" idx="12"/>
          </p:nvPr>
        </p:nvSpPr>
        <p:spPr/>
        <p:txBody>
          <a:bodyPr/>
          <a:lstStyle/>
          <a:p>
            <a:fld id="{FBF4F23F-4CB5-5B5D-B11A-E8B122F8DB6E}" type="slidenum">
              <a:rPr lang="en-US" dirty="0"/>
              <a:t>1</a:t>
            </a:fld>
            <a:endParaRPr lang="en-US"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Agenda</a:t>
            </a:r>
          </a:p>
        </p:txBody>
      </p:sp>
      <p:sp>
        <p:nvSpPr>
          <p:cNvPr id="3" name="Content Placeholder 2"/>
          <p:cNvSpPr>
            <a:spLocks noGrp="1"/>
          </p:cNvSpPr>
          <p:nvPr>
            <p:ph idx="1"/>
          </p:nvPr>
        </p:nvSpPr>
        <p:spPr/>
        <p:txBody>
          <a:bodyPr/>
          <a:lstStyle/>
          <a:p>
            <a:pPr marL="457200" indent="-457200">
              <a:spcAft>
                <a:spcPts val="1000"/>
              </a:spcAft>
              <a:buClr>
                <a:schemeClr val="accent1"/>
              </a:buClr>
              <a:buAutoNum type="arabicPeriod"/>
            </a:pPr>
            <a:r>
              <a:rPr lang="en-US" sz="2400" dirty="0"/>
              <a:t>Highlights</a:t>
            </a:r>
            <a:endParaRPr lang="en-US" dirty="0"/>
          </a:p>
          <a:p>
            <a:pPr marL="457200" indent="-457200">
              <a:spcAft>
                <a:spcPts val="1000"/>
              </a:spcAft>
              <a:buClr>
                <a:schemeClr val="accent1"/>
              </a:buClr>
              <a:buAutoNum type="arabicPeriod"/>
            </a:pPr>
            <a:r>
              <a:rPr lang="en-US" sz="2400" dirty="0"/>
              <a:t>Financial results</a:t>
            </a:r>
            <a:endParaRPr lang="en-US" dirty="0"/>
          </a:p>
          <a:p>
            <a:pPr marL="457200" indent="-457200">
              <a:spcAft>
                <a:spcPts val="1000"/>
              </a:spcAft>
              <a:buClr>
                <a:schemeClr val="accent1"/>
              </a:buClr>
              <a:buAutoNum type="arabicPeriod"/>
            </a:pPr>
            <a:r>
              <a:rPr lang="en-US" sz="2400" dirty="0"/>
              <a:t>Segment performance</a:t>
            </a:r>
            <a:endParaRPr lang="en-US" dirty="0"/>
          </a:p>
          <a:p>
            <a:pPr marL="457200" indent="-457200">
              <a:spcAft>
                <a:spcPts val="1000"/>
              </a:spcAft>
              <a:buClr>
                <a:schemeClr val="accent1"/>
              </a:buClr>
              <a:buAutoNum type="arabicPeriod"/>
            </a:pPr>
            <a:r>
              <a:rPr lang="en-US" sz="2400" dirty="0"/>
              <a:t>Outlook</a:t>
            </a:r>
            <a:endParaRPr lang="en-US" dirty="0"/>
          </a:p>
          <a:p>
            <a:pPr marL="457200" indent="-457200">
              <a:spcAft>
                <a:spcPts val="1000"/>
              </a:spcAft>
              <a:buClr>
                <a:schemeClr val="accent1"/>
              </a:buClr>
              <a:buAutoNum type="arabicPeriod"/>
            </a:pPr>
            <a:r>
              <a:rPr lang="en-US" sz="2400" dirty="0"/>
              <a:t>Appendix: reconciliations</a:t>
            </a:r>
            <a:endParaRPr lang="en-US" dirty="0"/>
          </a:p>
        </p:txBody>
      </p:sp>
      <p:sp>
        <p:nvSpPr>
          <p:cNvPr id="4" name="Top bar"/>
          <p:cNvSpPr/>
          <p:nvPr/>
        </p:nvSpPr>
        <p:spPr>
          <a:xfrm>
            <a:off x="0" y="0"/>
            <a:ext cx="12191695" cy="109728"/>
          </a:xfrm>
          <a:prstGeom prst="rect">
            <a:avLst/>
          </a:prstGeom>
          <a:solidFill>
            <a:srgbClr val="1F4E79"/>
          </a:solidFill>
        </p:spPr>
      </p:sp>
      <p:pic>
        <p:nvPicPr>
          <p:cNvPr id="5" name="Logo" descr="Logo"/>
          <p:cNvPicPr>
            <a:picLocks noChangeAspect="1"/>
          </p:cNvPicPr>
          <p:nvPr/>
        </p:nvPicPr>
        <p:blipFill rotWithShape="1">
          <a:blip r:embed="rId2"/>
          <a:stretch>
            <a:fillRect/>
          </a:stretch>
        </p:blipFill>
        <p:spPr>
          <a:xfrm>
            <a:off x="11384280" y="6172200"/>
            <a:ext cx="502920" cy="502920"/>
          </a:xfrm>
          <a:prstGeom prst="rect">
            <a:avLst/>
          </a:prstGeom>
        </p:spPr>
      </p:pic>
      <p:sp>
        <p:nvSpPr>
          <p:cNvPr id="6" name="Date Placeholder 6"/>
          <p:cNvSpPr>
            <a:spLocks noGrp="1"/>
          </p:cNvSpPr>
          <p:nvPr>
            <p:ph type="dt" sz="half" idx="10"/>
          </p:nvPr>
        </p:nvSpPr>
        <p:spPr/>
        <p:txBody>
          <a:bodyPr/>
          <a:lstStyle/>
          <a:p>
            <a:r>
              <a:rPr lang="en-US" dirty="0"/>
              <a:t>October 24, 2024</a:t>
            </a:r>
            <a:endParaRPr lang="en-US" dirty="0"/>
          </a:p>
        </p:txBody>
      </p:sp>
      <p:sp>
        <p:nvSpPr>
          <p:cNvPr id="7" name="Footer Placeholder 7"/>
          <p:cNvSpPr>
            <a:spLocks noGrp="1"/>
          </p:cNvSpPr>
          <p:nvPr>
            <p:ph type="ftr" sz="quarter" idx="11"/>
          </p:nvPr>
        </p:nvSpPr>
        <p:spPr/>
        <p:txBody>
          <a:bodyPr/>
          <a:lstStyle/>
          <a:p>
            <a:r>
              <a:rPr lang="en-US" dirty="0"/>
              <a:t>Northwind Analytics · Q3 FY2024</a:t>
            </a:r>
            <a:endParaRPr lang="en-US" dirty="0"/>
          </a:p>
        </p:txBody>
      </p:sp>
      <p:sp>
        <p:nvSpPr>
          <p:cNvPr id="8" name="Slide Number Placeholder 8"/>
          <p:cNvSpPr>
            <a:spLocks noGrp="1"/>
          </p:cNvSpPr>
          <p:nvPr>
            <p:ph type="sldNum" sz="quarter" idx="12"/>
          </p:nvPr>
        </p:nvSpPr>
        <p:spPr/>
        <p:txBody>
          <a:bodyPr/>
          <a:lstStyle/>
          <a:p>
            <a:fld id="{FBF4F23F-4CB5-5B5D-B11A-E8B122F8DB6E}" type="slidenum">
              <a:rPr lang="en-US" dirty="0"/>
              <a:t>2</a:t>
            </a:fld>
            <a:endParaRPr lang="en-US"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Quarter at a glance</a:t>
            </a:r>
          </a:p>
        </p:txBody>
      </p:sp>
      <p:sp>
        <p:nvSpPr>
          <p:cNvPr id="3" name="Top bar"/>
          <p:cNvSpPr/>
          <p:nvPr/>
        </p:nvSpPr>
        <p:spPr>
          <a:xfrm>
            <a:off x="0" y="0"/>
            <a:ext cx="12191695" cy="109728"/>
          </a:xfrm>
          <a:prstGeom prst="rect">
            <a:avLst/>
          </a:prstGeom>
          <a:solidFill>
            <a:srgbClr val="1F4E79"/>
          </a:solidFill>
        </p:spPr>
      </p:sp>
      <p:pic>
        <p:nvPicPr>
          <p:cNvPr id="4" name="Logo" descr="Logo"/>
          <p:cNvPicPr>
            <a:picLocks noChangeAspect="1"/>
          </p:cNvPicPr>
          <p:nvPr/>
        </p:nvPicPr>
        <p:blipFill rotWithShape="1">
          <a:blip r:embed="rId2"/>
          <a:stretch>
            <a:fillRect/>
          </a:stretch>
        </p:blipFill>
        <p:spPr>
          <a:xfrm>
            <a:off x="11384280" y="6172200"/>
            <a:ext cx="502920" cy="502920"/>
          </a:xfrm>
          <a:prstGeom prst="rect">
            <a:avLst/>
          </a:prstGeom>
        </p:spPr>
      </p:pic>
      <p:sp>
        <p:nvSpPr>
          <p:cNvPr id="5" name="roundRect 5"/>
          <p:cNvSpPr/>
          <p:nvPr/>
        </p:nvSpPr>
        <p:spPr>
          <a:xfrm>
            <a:off x="548640" y="1828800"/>
            <a:ext cx="2560320" cy="2743200"/>
          </a:xfrm>
          <a:prstGeom prst="roundRect">
            <a:avLst>
              <a:gd name="adj" fmla="val 8000"/>
            </a:avLst>
          </a:prstGeom>
          <a:solidFill>
            <a:srgbClr val="FFFFFF"/>
          </a:solidFill>
          <a:ln w="12700">
            <a:solidFill>
              <a:srgbClr val="D9D9D9"/>
            </a:solidFill>
          </a:ln>
          <a:effectLst>
            <a:outerShdw blurRad="101600" dist="38100" dir="5400000">
              <a:srgbClr val="000000">
                <a:alpha val="25000"/>
              </a:srgbClr>
            </a:outerShdw>
          </a:effectLst>
        </p:spPr>
        <p:txBody>
          <a:bodyPr anchor="ctr"/>
          <a:lstStyle/>
          <a:p>
            <a:pPr algn="ctr"/>
            <a:r>
              <a:rPr lang="en-US" sz="3600" b="1" dirty="0">
                <a:solidFill>
                  <a:srgbClr val="1F4E79"/>
                </a:solidFill>
              </a:rPr>
              <a:t>$132.4M</a:t>
            </a:r>
            <a:endParaRPr lang="en-US" dirty="0"/>
          </a:p>
          <a:p>
            <a:pPr algn="ctr"/>
            <a:r>
              <a:rPr lang="en-US" sz="1400" dirty="0">
                <a:solidFill>
                  <a:srgbClr val="595959"/>
                </a:solidFill>
              </a:rPr>
              <a:t>Revenue</a:t>
            </a:r>
            <a:endParaRPr lang="en-US" dirty="0"/>
          </a:p>
        </p:txBody>
      </p:sp>
      <p:sp>
        <p:nvSpPr>
          <p:cNvPr id="6" name="triangle 6"/>
          <p:cNvSpPr/>
          <p:nvPr/>
        </p:nvSpPr>
        <p:spPr>
          <a:xfrm>
            <a:off x="1371600" y="3931920"/>
            <a:ext cx="228600" cy="201168"/>
          </a:xfrm>
          <a:prstGeom prst="triangle">
            <a:avLst/>
          </a:prstGeom>
          <a:solidFill>
            <a:srgbClr val="70AD47"/>
          </a:solidFill>
        </p:spPr>
      </p:sp>
      <p:sp>
        <p:nvSpPr>
          <p:cNvPr id="7" name="TextBox 7"/>
          <p:cNvSpPr txBox="1"/>
          <p:nvPr/>
        </p:nvSpPr>
        <p:spPr>
          <a:xfrm>
            <a:off x="1645920" y="3858768"/>
            <a:ext cx="1371600" cy="320040"/>
          </a:xfrm>
          <a:prstGeom prst="rect">
            <a:avLst/>
          </a:prstGeom>
        </p:spPr>
        <p:txBody>
          <a:bodyPr wrap="square" lIns="18288" tIns="18288" rIns="18288" bIns="18288" anchor="t"/>
          <a:lstStyle/>
          <a:p>
            <a:pPr algn="l"/>
            <a:r>
              <a:rPr lang="en-US" sz="1200" b="1" dirty="0">
                <a:solidFill>
                  <a:srgbClr val="70AD47"/>
                </a:solidFill>
              </a:rPr>
              <a:t>+12.0% YoY</a:t>
            </a:r>
            <a:endParaRPr lang="en-US" dirty="0"/>
          </a:p>
        </p:txBody>
      </p:sp>
      <p:sp>
        <p:nvSpPr>
          <p:cNvPr id="8" name="roundRect 8"/>
          <p:cNvSpPr/>
          <p:nvPr/>
        </p:nvSpPr>
        <p:spPr>
          <a:xfrm>
            <a:off x="3383280" y="1828800"/>
            <a:ext cx="2560320" cy="2743200"/>
          </a:xfrm>
          <a:prstGeom prst="roundRect">
            <a:avLst>
              <a:gd name="adj" fmla="val 8000"/>
            </a:avLst>
          </a:prstGeom>
          <a:solidFill>
            <a:srgbClr val="FFFFFF"/>
          </a:solidFill>
          <a:ln w="12700">
            <a:solidFill>
              <a:srgbClr val="D9D9D9"/>
            </a:solidFill>
          </a:ln>
          <a:effectLst>
            <a:outerShdw blurRad="101600" dist="38100" dir="5400000">
              <a:srgbClr val="000000">
                <a:alpha val="25000"/>
              </a:srgbClr>
            </a:outerShdw>
          </a:effectLst>
        </p:spPr>
        <p:txBody>
          <a:bodyPr anchor="ctr"/>
          <a:lstStyle/>
          <a:p>
            <a:pPr algn="ctr"/>
            <a:r>
              <a:rPr lang="en-US" sz="3600" b="1" dirty="0">
                <a:solidFill>
                  <a:srgbClr val="1F4E79"/>
                </a:solidFill>
              </a:rPr>
              <a:t>76.5%</a:t>
            </a:r>
            <a:endParaRPr lang="en-US" dirty="0"/>
          </a:p>
          <a:p>
            <a:pPr algn="ctr"/>
            <a:r>
              <a:rPr lang="en-US" sz="1400" dirty="0">
                <a:solidFill>
                  <a:srgbClr val="595959"/>
                </a:solidFill>
              </a:rPr>
              <a:t>Gross margin</a:t>
            </a:r>
            <a:endParaRPr lang="en-US" dirty="0"/>
          </a:p>
        </p:txBody>
      </p:sp>
      <p:sp>
        <p:nvSpPr>
          <p:cNvPr id="9" name="triangle 9"/>
          <p:cNvSpPr/>
          <p:nvPr/>
        </p:nvSpPr>
        <p:spPr>
          <a:xfrm>
            <a:off x="4206240" y="3931920"/>
            <a:ext cx="228600" cy="201168"/>
          </a:xfrm>
          <a:prstGeom prst="triangle">
            <a:avLst/>
          </a:prstGeom>
          <a:solidFill>
            <a:srgbClr val="70AD47"/>
          </a:solidFill>
        </p:spPr>
      </p:sp>
      <p:sp>
        <p:nvSpPr>
          <p:cNvPr id="10" name="TextBox 10"/>
          <p:cNvSpPr txBox="1"/>
          <p:nvPr/>
        </p:nvSpPr>
        <p:spPr>
          <a:xfrm>
            <a:off x="4480560" y="3858768"/>
            <a:ext cx="1371600" cy="320040"/>
          </a:xfrm>
          <a:prstGeom prst="rect">
            <a:avLst/>
          </a:prstGeom>
        </p:spPr>
        <p:txBody>
          <a:bodyPr wrap="square" lIns="18288" tIns="18288" rIns="18288" bIns="18288" anchor="t"/>
          <a:lstStyle/>
          <a:p>
            <a:pPr algn="l"/>
            <a:r>
              <a:rPr lang="en-US" sz="1200" b="1" dirty="0">
                <a:solidFill>
                  <a:srgbClr val="70AD47"/>
                </a:solidFill>
              </a:rPr>
              <a:t>+1.4 pts</a:t>
            </a:r>
            <a:endParaRPr lang="en-US" dirty="0"/>
          </a:p>
        </p:txBody>
      </p:sp>
      <p:sp>
        <p:nvSpPr>
          <p:cNvPr id="11" name="roundRect 11"/>
          <p:cNvSpPr/>
          <p:nvPr/>
        </p:nvSpPr>
        <p:spPr>
          <a:xfrm>
            <a:off x="6217920" y="1828800"/>
            <a:ext cx="2560320" cy="2743200"/>
          </a:xfrm>
          <a:prstGeom prst="roundRect">
            <a:avLst>
              <a:gd name="adj" fmla="val 8000"/>
            </a:avLst>
          </a:prstGeom>
          <a:solidFill>
            <a:srgbClr val="FFFFFF"/>
          </a:solidFill>
          <a:ln w="12700">
            <a:solidFill>
              <a:srgbClr val="D9D9D9"/>
            </a:solidFill>
          </a:ln>
          <a:effectLst>
            <a:outerShdw blurRad="101600" dist="38100" dir="5400000">
              <a:srgbClr val="000000">
                <a:alpha val="25000"/>
              </a:srgbClr>
            </a:outerShdw>
          </a:effectLst>
        </p:spPr>
        <p:txBody>
          <a:bodyPr anchor="ctr"/>
          <a:lstStyle/>
          <a:p>
            <a:pPr algn="ctr"/>
            <a:r>
              <a:rPr lang="en-US" sz="3600" b="1" dirty="0">
                <a:solidFill>
                  <a:srgbClr val="1F4E79"/>
                </a:solidFill>
              </a:rPr>
              <a:t>$33.7M</a:t>
            </a:r>
            <a:endParaRPr lang="en-US" dirty="0"/>
          </a:p>
          <a:p>
            <a:pPr algn="ctr"/>
            <a:r>
              <a:rPr lang="en-US" sz="1400" dirty="0">
                <a:solidFill>
                  <a:srgbClr val="595959"/>
                </a:solidFill>
              </a:rPr>
              <a:t>Operating income</a:t>
            </a:r>
            <a:endParaRPr lang="en-US" dirty="0"/>
          </a:p>
        </p:txBody>
      </p:sp>
      <p:sp>
        <p:nvSpPr>
          <p:cNvPr id="12" name="triangle 12"/>
          <p:cNvSpPr/>
          <p:nvPr/>
        </p:nvSpPr>
        <p:spPr>
          <a:xfrm>
            <a:off x="7040880" y="3931920"/>
            <a:ext cx="228600" cy="201168"/>
          </a:xfrm>
          <a:prstGeom prst="triangle">
            <a:avLst/>
          </a:prstGeom>
          <a:solidFill>
            <a:srgbClr val="70AD47"/>
          </a:solidFill>
        </p:spPr>
      </p:sp>
      <p:sp>
        <p:nvSpPr>
          <p:cNvPr id="13" name="TextBox 13"/>
          <p:cNvSpPr txBox="1"/>
          <p:nvPr/>
        </p:nvSpPr>
        <p:spPr>
          <a:xfrm>
            <a:off x="7315200" y="3858768"/>
            <a:ext cx="1371600" cy="320040"/>
          </a:xfrm>
          <a:prstGeom prst="rect">
            <a:avLst/>
          </a:prstGeom>
        </p:spPr>
        <p:txBody>
          <a:bodyPr wrap="square" lIns="18288" tIns="18288" rIns="18288" bIns="18288" anchor="t"/>
          <a:lstStyle/>
          <a:p>
            <a:pPr algn="l"/>
            <a:r>
              <a:rPr lang="en-US" sz="1200" b="1" dirty="0">
                <a:solidFill>
                  <a:srgbClr val="70AD47"/>
                </a:solidFill>
              </a:rPr>
              <a:t>+31.6% YoY</a:t>
            </a:r>
            <a:endParaRPr lang="en-US" dirty="0"/>
          </a:p>
        </p:txBody>
      </p:sp>
      <p:sp>
        <p:nvSpPr>
          <p:cNvPr id="14" name="roundRect 14"/>
          <p:cNvSpPr/>
          <p:nvPr/>
        </p:nvSpPr>
        <p:spPr>
          <a:xfrm>
            <a:off x="9052560" y="1828800"/>
            <a:ext cx="2560320" cy="2743200"/>
          </a:xfrm>
          <a:prstGeom prst="roundRect">
            <a:avLst>
              <a:gd name="adj" fmla="val 8000"/>
            </a:avLst>
          </a:prstGeom>
          <a:solidFill>
            <a:srgbClr val="FFFFFF"/>
          </a:solidFill>
          <a:ln w="12700">
            <a:solidFill>
              <a:srgbClr val="D9D9D9"/>
            </a:solidFill>
          </a:ln>
          <a:effectLst>
            <a:outerShdw blurRad="101600" dist="38100" dir="5400000">
              <a:srgbClr val="000000">
                <a:alpha val="25000"/>
              </a:srgbClr>
            </a:outerShdw>
          </a:effectLst>
        </p:spPr>
        <p:txBody>
          <a:bodyPr anchor="ctr"/>
          <a:lstStyle/>
          <a:p>
            <a:pPr algn="ctr"/>
            <a:r>
              <a:rPr lang="en-US" sz="3600" b="1" dirty="0">
                <a:solidFill>
                  <a:srgbClr val="1F4E79"/>
                </a:solidFill>
              </a:rPr>
              <a:t>$(4.1)M</a:t>
            </a:r>
            <a:endParaRPr lang="en-US" dirty="0"/>
          </a:p>
          <a:p>
            <a:pPr algn="ctr"/>
            <a:r>
              <a:rPr lang="en-US" sz="1400" dirty="0">
                <a:solidFill>
                  <a:srgbClr val="595959"/>
                </a:solidFill>
              </a:rPr>
              <a:t>Free cash flow</a:t>
            </a:r>
            <a:endParaRPr lang="en-US" dirty="0"/>
          </a:p>
        </p:txBody>
      </p:sp>
      <p:sp>
        <p:nvSpPr>
          <p:cNvPr id="15" name="triangle 15"/>
          <p:cNvSpPr/>
          <p:nvPr/>
        </p:nvSpPr>
        <p:spPr>
          <a:xfrm flipV="1">
            <a:off x="9875520" y="3931920"/>
            <a:ext cx="228600" cy="201168"/>
          </a:xfrm>
          <a:prstGeom prst="triangle">
            <a:avLst/>
          </a:prstGeom>
          <a:solidFill>
            <a:srgbClr val="C00000"/>
          </a:solidFill>
        </p:spPr>
      </p:sp>
      <p:sp>
        <p:nvSpPr>
          <p:cNvPr id="16" name="TextBox 16"/>
          <p:cNvSpPr txBox="1"/>
          <p:nvPr/>
        </p:nvSpPr>
        <p:spPr>
          <a:xfrm>
            <a:off x="10149840" y="3858768"/>
            <a:ext cx="1371600" cy="320040"/>
          </a:xfrm>
          <a:prstGeom prst="rect">
            <a:avLst/>
          </a:prstGeom>
        </p:spPr>
        <p:txBody>
          <a:bodyPr wrap="square" lIns="18288" tIns="18288" rIns="18288" bIns="18288" anchor="t"/>
          <a:lstStyle/>
          <a:p>
            <a:pPr algn="l"/>
            <a:r>
              <a:rPr lang="en-US" sz="1200" b="1" dirty="0">
                <a:solidFill>
                  <a:srgbClr val="C00000"/>
                </a:solidFill>
              </a:rPr>
              <a:t>-$9.8M YoY</a:t>
            </a:r>
            <a:endParaRPr lang="en-US" dirty="0"/>
          </a:p>
        </p:txBody>
      </p:sp>
      <p:sp>
        <p:nvSpPr>
          <p:cNvPr id="17" name="TextBox 17"/>
          <p:cNvSpPr txBox="1"/>
          <p:nvPr/>
        </p:nvSpPr>
        <p:spPr>
          <a:xfrm>
            <a:off x="548640" y="5577840"/>
            <a:ext cx="10972800" cy="457200"/>
          </a:xfrm>
          <a:prstGeom prst="rect">
            <a:avLst/>
          </a:prstGeom>
        </p:spPr>
        <p:txBody>
          <a:bodyPr wrap="square"/>
          <a:lstStyle/>
          <a:p>
            <a:r>
              <a:rPr lang="en-US" sz="800" dirty="0">
                <a:solidFill>
                  <a:srgbClr val="7F7F7F"/>
                </a:solidFill>
              </a:rPr>
              <a:t>Free cash flow excludes a one-time $12.0M tax payment. Margins are non-GAAP; see appendix for reconciliations.</a:t>
            </a:r>
            <a:endParaRPr lang="en-US" dirty="0"/>
          </a:p>
        </p:txBody>
      </p:sp>
      <p:sp>
        <p:nvSpPr>
          <p:cNvPr id="18" name="Date Placeholder 18"/>
          <p:cNvSpPr>
            <a:spLocks noGrp="1"/>
          </p:cNvSpPr>
          <p:nvPr>
            <p:ph type="dt" sz="half" idx="10"/>
          </p:nvPr>
        </p:nvSpPr>
        <p:spPr/>
        <p:txBody>
          <a:bodyPr/>
          <a:lstStyle/>
          <a:p>
            <a:r>
              <a:rPr lang="en-US" dirty="0"/>
              <a:t>October 24, 2024</a:t>
            </a:r>
            <a:endParaRPr lang="en-US" dirty="0"/>
          </a:p>
        </p:txBody>
      </p:sp>
      <p:sp>
        <p:nvSpPr>
          <p:cNvPr id="19" name="Footer Placeholder 19"/>
          <p:cNvSpPr>
            <a:spLocks noGrp="1"/>
          </p:cNvSpPr>
          <p:nvPr>
            <p:ph type="ftr" sz="quarter" idx="11"/>
          </p:nvPr>
        </p:nvSpPr>
        <p:spPr/>
        <p:txBody>
          <a:bodyPr/>
          <a:lstStyle/>
          <a:p>
            <a:r>
              <a:rPr lang="en-US" dirty="0"/>
              <a:t>Northwind Analytics · Q3 FY2024</a:t>
            </a:r>
            <a:endParaRPr lang="en-US" dirty="0"/>
          </a:p>
        </p:txBody>
      </p:sp>
      <p:sp>
        <p:nvSpPr>
          <p:cNvPr id="20" name="Slide Number Placeholder 20"/>
          <p:cNvSpPr>
            <a:spLocks noGrp="1"/>
          </p:cNvSpPr>
          <p:nvPr>
            <p:ph type="sldNum" sz="quarter" idx="12"/>
          </p:nvPr>
        </p:nvSpPr>
        <p:spPr/>
        <p:txBody>
          <a:bodyPr/>
          <a:lstStyle/>
          <a:p>
            <a:fld id="{FBF4F23F-4CB5-5B5D-B11A-E8B122F8DB6E}" type="slidenum">
              <a:rPr lang="en-US" dirty="0"/>
              <a:t>3</a:t>
            </a:fld>
            <a:endParaRPr lang="en-US"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Revenue and operating margin</a:t>
            </a:r>
          </a:p>
        </p:txBody>
      </p:sp>
      <p:sp>
        <p:nvSpPr>
          <p:cNvPr id="3" name="Top bar"/>
          <p:cNvSpPr/>
          <p:nvPr/>
        </p:nvSpPr>
        <p:spPr>
          <a:xfrm>
            <a:off x="0" y="0"/>
            <a:ext cx="12191695" cy="109728"/>
          </a:xfrm>
          <a:prstGeom prst="rect">
            <a:avLst/>
          </a:prstGeom>
          <a:solidFill>
            <a:srgbClr val="1F4E79"/>
          </a:solidFill>
        </p:spPr>
      </p:sp>
      <p:pic>
        <p:nvPicPr>
          <p:cNvPr id="4" name="Logo" descr="Logo"/>
          <p:cNvPicPr>
            <a:picLocks noChangeAspect="1"/>
          </p:cNvPicPr>
          <p:nvPr/>
        </p:nvPicPr>
        <p:blipFill rotWithShape="1">
          <a:blip r:embed="rId2"/>
          <a:stretch>
            <a:fillRect/>
          </a:stretch>
        </p:blipFill>
        <p:spPr>
          <a:xfrm>
            <a:off x="11384280" y="6172200"/>
            <a:ext cx="502920" cy="502920"/>
          </a:xfrm>
          <a:prstGeom prst="rect">
            <a:avLst/>
          </a:prstGeom>
        </p:spPr>
      </p:pic>
      <p:graphicFrame>
        <p:nvGraphicFramePr>
          <p:cNvPr id="5" name="Chart 4"/>
          <p:cNvGraphicFramePr>
            <a:graphicFrameLocks noGrp="1"/>
          </p:cNvGraphicFramePr>
          <p:nvPr/>
        </p:nvGraphicFramePr>
        <p:xfrm>
          <a:off x="548640" y="1371600"/>
          <a:ext cx="7498079" cy="4480560"/>
        </p:xfrm>
        <a:graphic>
          <a:graphicData uri="http://schemas.openxmlformats.org/drawingml/2006/chart">
            <c:chart xmlns:c="http://schemas.openxmlformats.org/drawingml/2006/chart" r:id="rId3"/>
          </a:graphicData>
        </a:graphic>
      </p:graphicFrame>
      <p:sp>
        <p:nvSpPr>
          <p:cNvPr id="6" name="TextBox 6"/>
          <p:cNvSpPr txBox="1"/>
          <p:nvPr/>
        </p:nvSpPr>
        <p:spPr>
          <a:xfrm>
            <a:off x="8321040" y="1463040"/>
            <a:ext cx="3383280" cy="4206240"/>
          </a:xfrm>
          <a:prstGeom prst="rect">
            <a:avLst/>
          </a:prstGeom>
        </p:spPr>
        <p:txBody>
          <a:bodyPr wrap="square"/>
          <a:lstStyle/>
          <a:p>
            <a:r>
              <a:rPr lang="en-US" sz="1800" b="1" dirty="0">
                <a:solidFill>
                  <a:srgbClr val="1F4E79"/>
                </a:solidFill>
              </a:rPr>
              <a:t>Highlights</a:t>
            </a:r>
            <a:endParaRPr lang="en-US" dirty="0"/>
          </a:p>
          <a:p>
            <a:pPr marL="228600" indent="-228600">
              <a:spcBef>
                <a:spcPts val="600"/>
              </a:spcBef>
              <a:buClr>
                <a:schemeClr val="accent1"/>
              </a:buClr>
              <a:buFont typeface="Arial"/>
              <a:buChar char="•"/>
            </a:pPr>
            <a:r>
              <a:rPr lang="en-US" sz="1400" dirty="0"/>
              <a:t>Fifth consecutive quarter of growth</a:t>
            </a:r>
            <a:endParaRPr lang="en-US" dirty="0"/>
          </a:p>
          <a:p>
            <a:pPr marL="228600" indent="-228600">
              <a:spcBef>
                <a:spcPts val="600"/>
              </a:spcBef>
              <a:buClr>
                <a:schemeClr val="accent1"/>
              </a:buClr>
              <a:buFont typeface="Arial"/>
              <a:buChar char="•"/>
            </a:pPr>
            <a:r>
              <a:rPr lang="en-US" sz="1400" dirty="0"/>
              <a:t>Subscription mix reached 32%</a:t>
            </a:r>
            <a:endParaRPr lang="en-US" dirty="0"/>
          </a:p>
          <a:p>
            <a:pPr marL="228600" indent="-228600">
              <a:spcBef>
                <a:spcPts val="600"/>
              </a:spcBef>
              <a:buClr>
                <a:schemeClr val="accent1"/>
              </a:buClr>
              <a:buFont typeface="Arial"/>
              <a:buChar char="•"/>
            </a:pPr>
            <a:r>
              <a:rPr lang="en-US" sz="1400" dirty="0"/>
              <a:t>Margin expansion from pricing</a:t>
            </a:r>
            <a:endParaRPr lang="en-US" dirty="0"/>
          </a:p>
          <a:p>
            <a:pPr marL="228600" indent="-228600">
              <a:spcBef>
                <a:spcPts val="600"/>
              </a:spcBef>
              <a:buClr>
                <a:schemeClr val="accent1"/>
              </a:buClr>
              <a:buFont typeface="Arial"/>
              <a:buChar char="•"/>
            </a:pPr>
            <a:r>
              <a:rPr lang="en-US" sz="1400" dirty="0"/>
              <a:t>Opex held flat sequentially</a:t>
            </a:r>
            <a:endParaRPr lang="en-US" dirty="0"/>
          </a:p>
        </p:txBody>
      </p:sp>
      <p:sp>
        <p:nvSpPr>
          <p:cNvPr id="7" name="TextBox 7"/>
          <p:cNvSpPr txBox="1"/>
          <p:nvPr/>
        </p:nvSpPr>
        <p:spPr>
          <a:xfrm>
            <a:off x="548640" y="5943600"/>
            <a:ext cx="7498080" cy="274320"/>
          </a:xfrm>
          <a:prstGeom prst="rect">
            <a:avLst/>
          </a:prstGeom>
        </p:spPr>
        <p:txBody>
          <a:bodyPr wrap="square"/>
          <a:lstStyle/>
          <a:p>
            <a:r>
              <a:rPr lang="en-US" sz="800" dirty="0">
                <a:solidFill>
                  <a:srgbClr val="7F7F7F"/>
                </a:solidFill>
              </a:rPr>
              <a:t>Operating margin plotted on the secondary axis.</a:t>
            </a:r>
            <a:endParaRPr lang="en-US" dirty="0"/>
          </a:p>
        </p:txBody>
      </p:sp>
      <p:sp>
        <p:nvSpPr>
          <p:cNvPr id="8" name="Date Placeholder 8"/>
          <p:cNvSpPr>
            <a:spLocks noGrp="1"/>
          </p:cNvSpPr>
          <p:nvPr>
            <p:ph type="dt" sz="half" idx="10"/>
          </p:nvPr>
        </p:nvSpPr>
        <p:spPr/>
        <p:txBody>
          <a:bodyPr/>
          <a:lstStyle/>
          <a:p>
            <a:r>
              <a:rPr lang="en-US" dirty="0"/>
              <a:t>October 24, 2024</a:t>
            </a:r>
            <a:endParaRPr lang="en-US" dirty="0"/>
          </a:p>
        </p:txBody>
      </p:sp>
      <p:sp>
        <p:nvSpPr>
          <p:cNvPr id="9" name="Footer Placeholder 9"/>
          <p:cNvSpPr>
            <a:spLocks noGrp="1"/>
          </p:cNvSpPr>
          <p:nvPr>
            <p:ph type="ftr" sz="quarter" idx="11"/>
          </p:nvPr>
        </p:nvSpPr>
        <p:spPr/>
        <p:txBody>
          <a:bodyPr/>
          <a:lstStyle/>
          <a:p>
            <a:r>
              <a:rPr lang="en-US" dirty="0"/>
              <a:t>Northwind Analytics · Q3 FY2024</a:t>
            </a:r>
            <a:endParaRPr lang="en-US" dirty="0"/>
          </a:p>
        </p:txBody>
      </p:sp>
      <p:sp>
        <p:nvSpPr>
          <p:cNvPr id="10" name="Slide Number Placeholder 10"/>
          <p:cNvSpPr>
            <a:spLocks noGrp="1"/>
          </p:cNvSpPr>
          <p:nvPr>
            <p:ph type="sldNum" sz="quarter" idx="12"/>
          </p:nvPr>
        </p:nvSpPr>
        <p:spPr/>
        <p:txBody>
          <a:bodyPr/>
          <a:lstStyle/>
          <a:p>
            <a:fld id="{FBF4F23F-4CB5-5B5D-B11A-E8B122F8DB6E}" type="slidenum">
              <a:rPr lang="en-US" dirty="0"/>
              <a:t>4</a:t>
            </a:fld>
            <a:endParaRPr lang="en-US"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Consolidated statement of operations</a:t>
            </a:r>
          </a:p>
        </p:txBody>
      </p:sp>
      <p:sp>
        <p:nvSpPr>
          <p:cNvPr id="3" name="Top bar"/>
          <p:cNvSpPr/>
          <p:nvPr/>
        </p:nvSpPr>
        <p:spPr>
          <a:xfrm>
            <a:off x="0" y="0"/>
            <a:ext cx="12191695" cy="109728"/>
          </a:xfrm>
          <a:prstGeom prst="rect">
            <a:avLst/>
          </a:prstGeom>
          <a:solidFill>
            <a:srgbClr val="1F4E79"/>
          </a:solidFill>
        </p:spPr>
      </p:sp>
      <p:pic>
        <p:nvPicPr>
          <p:cNvPr id="4" name="Logo" descr="Logo"/>
          <p:cNvPicPr>
            <a:picLocks noChangeAspect="1"/>
          </p:cNvPicPr>
          <p:nvPr/>
        </p:nvPicPr>
        <p:blipFill rotWithShape="1">
          <a:blip r:embed="rId2"/>
          <a:stretch>
            <a:fillRect/>
          </a:stretch>
        </p:blipFill>
        <p:spPr>
          <a:xfrm>
            <a:off x="11384280" y="6172200"/>
            <a:ext cx="502920" cy="502920"/>
          </a:xfrm>
          <a:prstGeom prst="rect">
            <a:avLst/>
          </a:prstGeom>
        </p:spPr>
      </p:pic>
      <p:graphicFrame>
        <p:nvGraphicFramePr>
          <p:cNvPr id="5" name="Table 4"/>
          <p:cNvGraphicFramePr>
            <a:graphicFrameLocks noGrp="1"/>
          </p:cNvGraphicFramePr>
          <p:nvPr/>
        </p:nvGraphicFramePr>
        <p:xfrm>
          <a:off x="2194560" y="1051560"/>
          <a:ext cx="7772400" cy="4572000"/>
        </p:xfrm>
        <a:graphic>
          <a:graphicData uri="http://schemas.openxmlformats.org/drawingml/2006/table">
            <a:tbl>
              <a:tblPr>
                <a:tableStyleId>{2D5ABB26-0587-4C30-8999-92F81FD0307C}</a:tableStyleId>
              </a:tblPr>
              <a:tblGrid>
                <a:gridCol w="4041648"/>
                <a:gridCol w="1321308"/>
                <a:gridCol w="1321308"/>
                <a:gridCol w="1088136"/>
              </a:tblGrid>
              <a:tr h="182880">
                <a:tc>
                  <a:txBody>
                    <a:bodyPr/>
                    <a:lstStyle/>
                    <a:p>
                      <a:pPr algn="l"/>
                      <a:r>
                        <a:rPr lang="en-US" sz="800" b="1" dirty="0"/>
                        <a:t>(in thousands, except per share)</a:t>
                      </a:r>
                      <a:endParaRPr lang="en-US" dirty="0"/>
                    </a:p>
                  </a:txBody>
                  <a:tcPr anchor="b" marL="45720" marR="45720" marT="9144" marB="9144">
                    <a:lnL w="0">
                      <a:noFill/>
                    </a:lnL>
                    <a:lnR w="0">
                      <a:noFill/>
                    </a:lnR>
                    <a:lnT w="0">
                      <a:noFill/>
                    </a:lnT>
                    <a:lnB w="12700">
                      <a:solidFill>
                        <a:srgbClr val="000000"/>
                      </a:solidFill>
                    </a:lnB>
                    <a:noFill/>
                  </a:tcPr>
                </a:tc>
                <a:tc>
                  <a:txBody>
                    <a:bodyPr/>
                    <a:lstStyle/>
                    <a:p>
                      <a:pPr algn="r"/>
                      <a:r>
                        <a:rPr lang="en-US" sz="800" b="1" dirty="0"/>
                        <a:t>FY2024</a:t>
                      </a:r>
                      <a:endParaRPr lang="en-US" dirty="0"/>
                    </a:p>
                  </a:txBody>
                  <a:tcPr anchor="b" marL="45720" marR="45720" marT="9144" marB="9144">
                    <a:lnL w="0">
                      <a:noFill/>
                    </a:lnL>
                    <a:lnR w="0">
                      <a:noFill/>
                    </a:lnR>
                    <a:lnT w="0">
                      <a:noFill/>
                    </a:lnT>
                    <a:lnB w="12700">
                      <a:solidFill>
                        <a:srgbClr val="000000"/>
                      </a:solidFill>
                    </a:lnB>
                    <a:noFill/>
                  </a:tcPr>
                </a:tc>
                <a:tc>
                  <a:txBody>
                    <a:bodyPr/>
                    <a:lstStyle/>
                    <a:p>
                      <a:pPr algn="r"/>
                      <a:r>
                        <a:rPr lang="en-US" sz="800" b="1" dirty="0"/>
                        <a:t>FY2023</a:t>
                      </a:r>
                      <a:endParaRPr lang="en-US" dirty="0"/>
                    </a:p>
                  </a:txBody>
                  <a:tcPr anchor="b" marL="45720" marR="45720" marT="9144" marB="9144">
                    <a:lnL w="0">
                      <a:noFill/>
                    </a:lnL>
                    <a:lnR w="0">
                      <a:noFill/>
                    </a:lnR>
                    <a:lnT w="0">
                      <a:noFill/>
                    </a:lnT>
                    <a:lnB w="12700">
                      <a:solidFill>
                        <a:srgbClr val="000000"/>
                      </a:solidFill>
                    </a:lnB>
                    <a:noFill/>
                  </a:tcPr>
                </a:tc>
                <a:tc>
                  <a:txBody>
                    <a:bodyPr/>
                    <a:lstStyle/>
                    <a:p>
                      <a:pPr algn="r"/>
                      <a:r>
                        <a:rPr lang="en-US" sz="800" b="1" dirty="0"/>
                        <a:t>% chg</a:t>
                      </a:r>
                      <a:endParaRPr lang="en-US" dirty="0"/>
                    </a:p>
                  </a:txBody>
                  <a:tcPr anchor="b" marL="45720" marR="45720" marT="9144" marB="9144">
                    <a:lnL w="0">
                      <a:noFill/>
                    </a:lnL>
                    <a:lnR w="0">
                      <a:noFill/>
                    </a:lnR>
                    <a:lnT w="0">
                      <a:noFill/>
                    </a:lnT>
                    <a:lnB w="12700">
                      <a:solidFill>
                        <a:srgbClr val="000000"/>
                      </a:solidFill>
                    </a:lnB>
                    <a:noFill/>
                  </a:tcPr>
                </a:tc>
              </a:tr>
              <a:tr h="182880">
                <a:tc>
                  <a:txBody>
                    <a:bodyPr/>
                    <a:lstStyle/>
                    <a:p>
                      <a:pPr marL="0" algn="l"/>
                      <a:r>
                        <a:rPr lang="en-US" sz="800" b="1" i="1" u="sng" dirty="0">
                          <a:solidFill>
                            <a:srgbClr val="000000"/>
                          </a:solidFill>
                        </a:rPr>
                        <a:t>Revenue</a:t>
                      </a:r>
                      <a:endParaRPr lang="en-US" dirty="0"/>
                    </a:p>
                  </a:txBody>
                  <a:tcPr anchor="ctr" marL="45720" marR="45720" marT="0" marB="0">
                    <a:lnL w="0">
                      <a:noFill/>
                    </a:lnL>
                    <a:lnR w="0">
                      <a:noFill/>
                    </a:lnR>
                    <a:lnT w="0">
                      <a:noFill/>
                    </a:lnT>
                    <a:lnB w="0">
                      <a:noFill/>
                    </a:lnB>
                    <a:noFill/>
                  </a:tcPr>
                </a:tc>
                <a:tc>
                  <a:txBody>
                    <a:bodyPr/>
                    <a:lstStyle/>
                    <a:p>
                      <a:pPr algn="r"/>
                      <a:r>
                        <a:rPr lang="en-US" sz="800" b="1" i="1" dirty="0">
                          <a:solidFill>
                            <a:srgbClr val="000000"/>
                          </a:solidFill>
                        </a:rPr>
                        <a:t/>
                      </a:r>
                      <a:endParaRPr lang="en-US" dirty="0"/>
                    </a:p>
                  </a:txBody>
                  <a:tcPr anchor="ctr" marL="45720" marR="45720" marT="0" marB="0">
                    <a:lnL w="0">
                      <a:noFill/>
                    </a:lnL>
                    <a:lnR w="0">
                      <a:noFill/>
                    </a:lnR>
                    <a:lnT w="0">
                      <a:noFill/>
                    </a:lnT>
                    <a:lnB w="0">
                      <a:noFill/>
                    </a:lnB>
                    <a:noFill/>
                  </a:tcPr>
                </a:tc>
                <a:tc>
                  <a:txBody>
                    <a:bodyPr/>
                    <a:lstStyle/>
                    <a:p>
                      <a:pPr algn="r"/>
                      <a:r>
                        <a:rPr lang="en-US" sz="800" b="1" i="1" dirty="0">
                          <a:solidFill>
                            <a:srgbClr val="000000"/>
                          </a:solidFill>
                        </a:rPr>
                        <a:t/>
                      </a:r>
                      <a:endParaRPr lang="en-US" dirty="0"/>
                    </a:p>
                  </a:txBody>
                  <a:tcPr anchor="ctr" marL="45720" marR="45720" marT="0" marB="0">
                    <a:lnL w="0">
                      <a:noFill/>
                    </a:lnL>
                    <a:lnR w="0">
                      <a:noFill/>
                    </a:lnR>
                    <a:lnT w="0">
                      <a:noFill/>
                    </a:lnT>
                    <a:lnB w="0">
                      <a:noFill/>
                    </a:lnB>
                    <a:noFill/>
                  </a:tcPr>
                </a:tc>
                <a:tc>
                  <a:txBody>
                    <a:bodyPr/>
                    <a:lstStyle/>
                    <a:p>
                      <a:pPr algn="r"/>
                      <a:r>
                        <a:rPr lang="en-US" sz="800" b="1" i="1" dirty="0">
                          <a:solidFill>
                            <a:srgbClr val="000000"/>
                          </a:solidFill>
                        </a:rPr>
                        <a:t/>
                      </a:r>
                      <a:endParaRPr lang="en-US" dirty="0"/>
                    </a:p>
                  </a:txBody>
                  <a:tcPr anchor="ctr" marL="45720" marR="45720" marT="0" marB="0">
                    <a:lnL w="0">
                      <a:noFill/>
                    </a:lnL>
                    <a:lnR w="0">
                      <a:noFill/>
                    </a:lnR>
                    <a:lnT w="0">
                      <a:noFill/>
                    </a:lnT>
                    <a:lnB w="0">
                      <a:noFill/>
                    </a:lnB>
                    <a:noFill/>
                  </a:tcPr>
                </a:tc>
              </a:tr>
              <a:tr h="182880">
                <a:tc>
                  <a:txBody>
                    <a:bodyPr/>
                    <a:lstStyle/>
                    <a:p>
                      <a:pPr marL="137160" algn="l"/>
                      <a:r>
                        <a:rPr lang="en-US" sz="800" b="0" dirty="0">
                          <a:solidFill>
                            <a:srgbClr val="000000"/>
                          </a:solidFill>
                        </a:rPr>
                        <a:t>Product</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84,210</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76,532</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10.0%</a:t>
                      </a:r>
                      <a:endParaRPr lang="en-US" dirty="0"/>
                    </a:p>
                  </a:txBody>
                  <a:tcPr anchor="ctr" marL="45720" marR="45720" marT="0" marB="0">
                    <a:lnL w="0">
                      <a:noFill/>
                    </a:lnL>
                    <a:lnR w="0">
                      <a:noFill/>
                    </a:lnR>
                    <a:lnT w="0">
                      <a:noFill/>
                    </a:lnT>
                    <a:lnB w="0">
                      <a:noFill/>
                    </a:lnB>
                    <a:noFill/>
                  </a:tcPr>
                </a:tc>
              </a:tr>
              <a:tr h="182880">
                <a:tc>
                  <a:txBody>
                    <a:bodyPr/>
                    <a:lstStyle/>
                    <a:p>
                      <a:pPr marL="137160" algn="l"/>
                      <a:r>
                        <a:rPr lang="en-US" sz="800" b="0" dirty="0">
                          <a:solidFill>
                            <a:srgbClr val="000000"/>
                          </a:solidFill>
                        </a:rPr>
                        <a:t>Subscription</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41,880</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33,015</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26.9%</a:t>
                      </a:r>
                      <a:endParaRPr lang="en-US" dirty="0"/>
                    </a:p>
                  </a:txBody>
                  <a:tcPr anchor="ctr" marL="45720" marR="45720" marT="0" marB="0">
                    <a:lnL w="0">
                      <a:noFill/>
                    </a:lnL>
                    <a:lnR w="0">
                      <a:noFill/>
                    </a:lnR>
                    <a:lnT w="0">
                      <a:noFill/>
                    </a:lnT>
                    <a:lnB w="0">
                      <a:noFill/>
                    </a:lnB>
                    <a:noFill/>
                  </a:tcPr>
                </a:tc>
              </a:tr>
              <a:tr h="182880">
                <a:tc>
                  <a:txBody>
                    <a:bodyPr/>
                    <a:lstStyle/>
                    <a:p>
                      <a:pPr marL="137160" algn="l"/>
                      <a:r>
                        <a:rPr lang="en-US" sz="800" b="0" dirty="0">
                          <a:solidFill>
                            <a:srgbClr val="000000"/>
                          </a:solidFill>
                        </a:rPr>
                        <a:t>Services</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6,310</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8,702</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(27.5%)</a:t>
                      </a:r>
                      <a:endParaRPr lang="en-US" dirty="0"/>
                    </a:p>
                  </a:txBody>
                  <a:tcPr anchor="ctr" marL="45720" marR="45720" marT="0" marB="0">
                    <a:lnL w="0">
                      <a:noFill/>
                    </a:lnL>
                    <a:lnR w="0">
                      <a:noFill/>
                    </a:lnR>
                    <a:lnT w="0">
                      <a:noFill/>
                    </a:lnT>
                    <a:lnB w="0">
                      <a:noFill/>
                    </a:lnB>
                    <a:noFill/>
                  </a:tcPr>
                </a:tc>
              </a:tr>
              <a:tr h="182880">
                <a:tc>
                  <a:txBody>
                    <a:bodyPr/>
                    <a:lstStyle/>
                    <a:p>
                      <a:pPr marL="0" algn="l"/>
                      <a:r>
                        <a:rPr lang="en-US" sz="800" b="0" dirty="0">
                          <a:solidFill>
                            <a:srgbClr val="000000"/>
                          </a:solidFill>
                        </a:rPr>
                        <a:t>Total revenue</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132,400</a:t>
                      </a:r>
                      <a:endParaRPr lang="en-US" dirty="0"/>
                    </a:p>
                  </a:txBody>
                  <a:tcPr anchor="ctr" marL="45720" marR="45720" marT="0" marB="0">
                    <a:lnL w="0">
                      <a:noFill/>
                    </a:lnL>
                    <a:lnR w="0">
                      <a:noFill/>
                    </a:lnR>
                    <a:lnT w="9525">
                      <a:solidFill>
                        <a:srgbClr val="000000"/>
                      </a:solidFill>
                    </a:lnT>
                    <a:lnB w="0">
                      <a:noFill/>
                    </a:lnB>
                    <a:noFill/>
                  </a:tcPr>
                </a:tc>
                <a:tc>
                  <a:txBody>
                    <a:bodyPr/>
                    <a:lstStyle/>
                    <a:p>
                      <a:pPr algn="r"/>
                      <a:r>
                        <a:rPr lang="en-US" sz="800" b="0" dirty="0">
                          <a:solidFill>
                            <a:srgbClr val="000000"/>
                          </a:solidFill>
                        </a:rPr>
                        <a:t>118,249</a:t>
                      </a:r>
                      <a:endParaRPr lang="en-US" dirty="0"/>
                    </a:p>
                  </a:txBody>
                  <a:tcPr anchor="ctr" marL="45720" marR="45720" marT="0" marB="0">
                    <a:lnL w="0">
                      <a:noFill/>
                    </a:lnL>
                    <a:lnR w="0">
                      <a:noFill/>
                    </a:lnR>
                    <a:lnT w="9525">
                      <a:solidFill>
                        <a:srgbClr val="000000"/>
                      </a:solidFill>
                    </a:lnT>
                    <a:lnB w="0">
                      <a:noFill/>
                    </a:lnB>
                    <a:noFill/>
                  </a:tcPr>
                </a:tc>
                <a:tc>
                  <a:txBody>
                    <a:bodyPr/>
                    <a:lstStyle/>
                    <a:p>
                      <a:pPr algn="r"/>
                      <a:r>
                        <a:rPr lang="en-US" sz="800" b="0" dirty="0">
                          <a:solidFill>
                            <a:srgbClr val="000000"/>
                          </a:solidFill>
                        </a:rPr>
                        <a:t>12.0%</a:t>
                      </a:r>
                      <a:endParaRPr lang="en-US" dirty="0"/>
                    </a:p>
                  </a:txBody>
                  <a:tcPr anchor="ctr" marL="45720" marR="45720" marT="0" marB="0">
                    <a:lnL w="0">
                      <a:noFill/>
                    </a:lnL>
                    <a:lnR w="0">
                      <a:noFill/>
                    </a:lnR>
                    <a:lnT w="9525">
                      <a:solidFill>
                        <a:srgbClr val="000000"/>
                      </a:solidFill>
                    </a:lnT>
                    <a:lnB w="0">
                      <a:noFill/>
                    </a:lnB>
                    <a:noFill/>
                  </a:tcPr>
                </a:tc>
              </a:tr>
              <a:tr h="182880">
                <a:tc>
                  <a:txBody>
                    <a:bodyPr/>
                    <a:lstStyle/>
                    <a:p>
                      <a:pPr marL="0" algn="l"/>
                      <a:r>
                        <a:rPr lang="en-US" sz="800" b="1" i="1" u="sng" dirty="0">
                          <a:solidFill>
                            <a:srgbClr val="000000"/>
                          </a:solidFill>
                        </a:rPr>
                        <a:t>Cost of revenue</a:t>
                      </a:r>
                      <a:endParaRPr lang="en-US" dirty="0"/>
                    </a:p>
                  </a:txBody>
                  <a:tcPr anchor="ctr" marL="45720" marR="45720" marT="0" marB="0">
                    <a:lnL w="0">
                      <a:noFill/>
                    </a:lnL>
                    <a:lnR w="0">
                      <a:noFill/>
                    </a:lnR>
                    <a:lnT w="0">
                      <a:noFill/>
                    </a:lnT>
                    <a:lnB w="0">
                      <a:noFill/>
                    </a:lnB>
                    <a:noFill/>
                  </a:tcPr>
                </a:tc>
                <a:tc>
                  <a:txBody>
                    <a:bodyPr/>
                    <a:lstStyle/>
                    <a:p>
                      <a:pPr algn="r"/>
                      <a:r>
                        <a:rPr lang="en-US" sz="800" b="1" i="1" dirty="0">
                          <a:solidFill>
                            <a:srgbClr val="000000"/>
                          </a:solidFill>
                        </a:rPr>
                        <a:t/>
                      </a:r>
                      <a:endParaRPr lang="en-US" dirty="0"/>
                    </a:p>
                  </a:txBody>
                  <a:tcPr anchor="ctr" marL="45720" marR="45720" marT="0" marB="0">
                    <a:lnL w="0">
                      <a:noFill/>
                    </a:lnL>
                    <a:lnR w="0">
                      <a:noFill/>
                    </a:lnR>
                    <a:lnT w="0">
                      <a:noFill/>
                    </a:lnT>
                    <a:lnB w="0">
                      <a:noFill/>
                    </a:lnB>
                    <a:noFill/>
                  </a:tcPr>
                </a:tc>
                <a:tc>
                  <a:txBody>
                    <a:bodyPr/>
                    <a:lstStyle/>
                    <a:p>
                      <a:pPr algn="r"/>
                      <a:r>
                        <a:rPr lang="en-US" sz="800" b="1" i="1" dirty="0">
                          <a:solidFill>
                            <a:srgbClr val="000000"/>
                          </a:solidFill>
                        </a:rPr>
                        <a:t/>
                      </a:r>
                      <a:endParaRPr lang="en-US" dirty="0"/>
                    </a:p>
                  </a:txBody>
                  <a:tcPr anchor="ctr" marL="45720" marR="45720" marT="0" marB="0">
                    <a:lnL w="0">
                      <a:noFill/>
                    </a:lnL>
                    <a:lnR w="0">
                      <a:noFill/>
                    </a:lnR>
                    <a:lnT w="0">
                      <a:noFill/>
                    </a:lnT>
                    <a:lnB w="0">
                      <a:noFill/>
                    </a:lnB>
                    <a:noFill/>
                  </a:tcPr>
                </a:tc>
                <a:tc>
                  <a:txBody>
                    <a:bodyPr/>
                    <a:lstStyle/>
                    <a:p>
                      <a:pPr algn="r"/>
                      <a:r>
                        <a:rPr lang="en-US" sz="800" b="1" i="1" dirty="0">
                          <a:solidFill>
                            <a:srgbClr val="000000"/>
                          </a:solidFill>
                        </a:rPr>
                        <a:t/>
                      </a:r>
                      <a:endParaRPr lang="en-US" dirty="0"/>
                    </a:p>
                  </a:txBody>
                  <a:tcPr anchor="ctr" marL="45720" marR="45720" marT="0" marB="0">
                    <a:lnL w="0">
                      <a:noFill/>
                    </a:lnL>
                    <a:lnR w="0">
                      <a:noFill/>
                    </a:lnR>
                    <a:lnT w="0">
                      <a:noFill/>
                    </a:lnT>
                    <a:lnB w="0">
                      <a:noFill/>
                    </a:lnB>
                    <a:noFill/>
                  </a:tcPr>
                </a:tc>
              </a:tr>
              <a:tr h="182880">
                <a:tc>
                  <a:txBody>
                    <a:bodyPr/>
                    <a:lstStyle/>
                    <a:p>
                      <a:pPr marL="137160" algn="l"/>
                      <a:r>
                        <a:rPr lang="en-US" sz="800" b="0" dirty="0">
                          <a:solidFill>
                            <a:srgbClr val="000000"/>
                          </a:solidFill>
                        </a:rPr>
                        <a:t>Product</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(36,115)</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(34,020)</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(6.2%)</a:t>
                      </a:r>
                      <a:endParaRPr lang="en-US" dirty="0"/>
                    </a:p>
                  </a:txBody>
                  <a:tcPr anchor="ctr" marL="45720" marR="45720" marT="0" marB="0">
                    <a:lnL w="0">
                      <a:noFill/>
                    </a:lnL>
                    <a:lnR w="0">
                      <a:noFill/>
                    </a:lnR>
                    <a:lnT w="0">
                      <a:noFill/>
                    </a:lnT>
                    <a:lnB w="0">
                      <a:noFill/>
                    </a:lnB>
                    <a:noFill/>
                  </a:tcPr>
                </a:tc>
              </a:tr>
              <a:tr h="182880">
                <a:tc>
                  <a:txBody>
                    <a:bodyPr/>
                    <a:lstStyle/>
                    <a:p>
                      <a:pPr marL="137160" algn="l"/>
                      <a:r>
                        <a:rPr lang="en-US" sz="800" b="0" dirty="0">
                          <a:solidFill>
                            <a:srgbClr val="000000"/>
                          </a:solidFill>
                        </a:rPr>
                        <a:t>Subscription</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(12,904)</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(10,867)</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(18.7%)</a:t>
                      </a:r>
                      <a:endParaRPr lang="en-US" dirty="0"/>
                    </a:p>
                  </a:txBody>
                  <a:tcPr anchor="ctr" marL="45720" marR="45720" marT="0" marB="0">
                    <a:lnL w="0">
                      <a:noFill/>
                    </a:lnL>
                    <a:lnR w="0">
                      <a:noFill/>
                    </a:lnR>
                    <a:lnT w="0">
                      <a:noFill/>
                    </a:lnT>
                    <a:lnB w="0">
                      <a:noFill/>
                    </a:lnB>
                    <a:noFill/>
                  </a:tcPr>
                </a:tc>
              </a:tr>
              <a:tr h="182880">
                <a:tc>
                  <a:txBody>
                    <a:bodyPr/>
                    <a:lstStyle/>
                    <a:p>
                      <a:pPr marL="137160" algn="l"/>
                      <a:r>
                        <a:rPr lang="en-US" sz="800" b="0" dirty="0">
                          <a:solidFill>
                            <a:srgbClr val="000000"/>
                          </a:solidFill>
                        </a:rPr>
                        <a:t>Services</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(6,881)</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(6,413)</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(7.3%)</a:t>
                      </a:r>
                      <a:endParaRPr lang="en-US" dirty="0"/>
                    </a:p>
                  </a:txBody>
                  <a:tcPr anchor="ctr" marL="45720" marR="45720" marT="0" marB="0">
                    <a:lnL w="0">
                      <a:noFill/>
                    </a:lnL>
                    <a:lnR w="0">
                      <a:noFill/>
                    </a:lnR>
                    <a:lnT w="0">
                      <a:noFill/>
                    </a:lnT>
                    <a:lnB w="0">
                      <a:noFill/>
                    </a:lnB>
                    <a:noFill/>
                  </a:tcPr>
                </a:tc>
              </a:tr>
              <a:tr h="182880">
                <a:tc>
                  <a:txBody>
                    <a:bodyPr/>
                    <a:lstStyle/>
                    <a:p>
                      <a:pPr marL="0" algn="l"/>
                      <a:r>
                        <a:rPr lang="en-US" sz="800" b="0" dirty="0">
                          <a:solidFill>
                            <a:srgbClr val="000000"/>
                          </a:solidFill>
                        </a:rPr>
                        <a:t>Total cost of revenue</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(55,900)</a:t>
                      </a:r>
                      <a:endParaRPr lang="en-US" dirty="0"/>
                    </a:p>
                  </a:txBody>
                  <a:tcPr anchor="ctr" marL="45720" marR="45720" marT="0" marB="0">
                    <a:lnL w="0">
                      <a:noFill/>
                    </a:lnL>
                    <a:lnR w="0">
                      <a:noFill/>
                    </a:lnR>
                    <a:lnT w="9525">
                      <a:solidFill>
                        <a:srgbClr val="000000"/>
                      </a:solidFill>
                    </a:lnT>
                    <a:lnB w="0">
                      <a:noFill/>
                    </a:lnB>
                    <a:noFill/>
                  </a:tcPr>
                </a:tc>
                <a:tc>
                  <a:txBody>
                    <a:bodyPr/>
                    <a:lstStyle/>
                    <a:p>
                      <a:pPr algn="r"/>
                      <a:r>
                        <a:rPr lang="en-US" sz="800" b="0" dirty="0">
                          <a:solidFill>
                            <a:srgbClr val="C00000"/>
                          </a:solidFill>
                        </a:rPr>
                        <a:t>(51,300)</a:t>
                      </a:r>
                      <a:endParaRPr lang="en-US" dirty="0"/>
                    </a:p>
                  </a:txBody>
                  <a:tcPr anchor="ctr" marL="45720" marR="45720" marT="0" marB="0">
                    <a:lnL w="0">
                      <a:noFill/>
                    </a:lnL>
                    <a:lnR w="0">
                      <a:noFill/>
                    </a:lnR>
                    <a:lnT w="9525">
                      <a:solidFill>
                        <a:srgbClr val="000000"/>
                      </a:solidFill>
                    </a:lnT>
                    <a:lnB w="0">
                      <a:noFill/>
                    </a:lnB>
                    <a:noFill/>
                  </a:tcPr>
                </a:tc>
                <a:tc>
                  <a:txBody>
                    <a:bodyPr/>
                    <a:lstStyle/>
                    <a:p>
                      <a:pPr algn="r"/>
                      <a:r>
                        <a:rPr lang="en-US" sz="800" b="0" dirty="0">
                          <a:solidFill>
                            <a:srgbClr val="C00000"/>
                          </a:solidFill>
                        </a:rPr>
                        <a:t>(9.0%)</a:t>
                      </a:r>
                      <a:endParaRPr lang="en-US" dirty="0"/>
                    </a:p>
                  </a:txBody>
                  <a:tcPr anchor="ctr" marL="45720" marR="45720" marT="0" marB="0">
                    <a:lnL w="0">
                      <a:noFill/>
                    </a:lnL>
                    <a:lnR w="0">
                      <a:noFill/>
                    </a:lnR>
                    <a:lnT w="9525">
                      <a:solidFill>
                        <a:srgbClr val="000000"/>
                      </a:solidFill>
                    </a:lnT>
                    <a:lnB w="0">
                      <a:noFill/>
                    </a:lnB>
                    <a:noFill/>
                  </a:tcPr>
                </a:tc>
              </a:tr>
              <a:tr h="182880">
                <a:tc>
                  <a:txBody>
                    <a:bodyPr/>
                    <a:lstStyle/>
                    <a:p>
                      <a:pPr marL="0" algn="l"/>
                      <a:r>
                        <a:rPr lang="en-US" sz="800" b="1" dirty="0">
                          <a:solidFill>
                            <a:srgbClr val="000000"/>
                          </a:solidFill>
                        </a:rPr>
                        <a:t>Gross profit</a:t>
                      </a:r>
                      <a:endParaRPr lang="en-US" dirty="0"/>
                    </a:p>
                  </a:txBody>
                  <a:tcPr anchor="ctr" marL="45720" marR="45720" marT="0" marB="0">
                    <a:lnL w="0">
                      <a:noFill/>
                    </a:lnL>
                    <a:lnR w="0">
                      <a:noFill/>
                    </a:lnR>
                    <a:lnT w="0">
                      <a:noFill/>
                    </a:lnT>
                    <a:lnB w="0">
                      <a:noFill/>
                    </a:lnB>
                    <a:solidFill>
                      <a:srgbClr val="F2F2F2"/>
                    </a:solidFill>
                  </a:tcPr>
                </a:tc>
                <a:tc>
                  <a:txBody>
                    <a:bodyPr/>
                    <a:lstStyle/>
                    <a:p>
                      <a:pPr algn="r"/>
                      <a:r>
                        <a:rPr lang="en-US" sz="800" b="1" dirty="0">
                          <a:solidFill>
                            <a:srgbClr val="000000"/>
                          </a:solidFill>
                        </a:rPr>
                        <a:t>76,500</a:t>
                      </a:r>
                      <a:endParaRPr lang="en-US" dirty="0"/>
                    </a:p>
                  </a:txBody>
                  <a:tcPr anchor="ctr" marL="45720" marR="45720" marT="0" marB="0">
                    <a:lnL w="0">
                      <a:noFill/>
                    </a:lnL>
                    <a:lnR w="0">
                      <a:noFill/>
                    </a:lnR>
                    <a:lnT w="9525">
                      <a:solidFill>
                        <a:srgbClr val="000000"/>
                      </a:solidFill>
                    </a:lnT>
                    <a:lnB w="0">
                      <a:noFill/>
                    </a:lnB>
                    <a:solidFill>
                      <a:srgbClr val="F2F2F2"/>
                    </a:solidFill>
                  </a:tcPr>
                </a:tc>
                <a:tc>
                  <a:txBody>
                    <a:bodyPr/>
                    <a:lstStyle/>
                    <a:p>
                      <a:pPr algn="r"/>
                      <a:r>
                        <a:rPr lang="en-US" sz="800" b="1" dirty="0">
                          <a:solidFill>
                            <a:srgbClr val="000000"/>
                          </a:solidFill>
                        </a:rPr>
                        <a:t>66,949</a:t>
                      </a:r>
                      <a:endParaRPr lang="en-US" dirty="0"/>
                    </a:p>
                  </a:txBody>
                  <a:tcPr anchor="ctr" marL="45720" marR="45720" marT="0" marB="0">
                    <a:lnL w="0">
                      <a:noFill/>
                    </a:lnL>
                    <a:lnR w="0">
                      <a:noFill/>
                    </a:lnR>
                    <a:lnT w="9525">
                      <a:solidFill>
                        <a:srgbClr val="000000"/>
                      </a:solidFill>
                    </a:lnT>
                    <a:lnB w="0">
                      <a:noFill/>
                    </a:lnB>
                    <a:solidFill>
                      <a:srgbClr val="F2F2F2"/>
                    </a:solidFill>
                  </a:tcPr>
                </a:tc>
                <a:tc>
                  <a:txBody>
                    <a:bodyPr/>
                    <a:lstStyle/>
                    <a:p>
                      <a:pPr algn="r"/>
                      <a:r>
                        <a:rPr lang="en-US" sz="800" b="1" dirty="0">
                          <a:solidFill>
                            <a:srgbClr val="000000"/>
                          </a:solidFill>
                        </a:rPr>
                        <a:t>14.3%</a:t>
                      </a:r>
                      <a:endParaRPr lang="en-US" dirty="0"/>
                    </a:p>
                  </a:txBody>
                  <a:tcPr anchor="ctr" marL="45720" marR="45720" marT="0" marB="0">
                    <a:lnL w="0">
                      <a:noFill/>
                    </a:lnL>
                    <a:lnR w="0">
                      <a:noFill/>
                    </a:lnR>
                    <a:lnT w="9525">
                      <a:solidFill>
                        <a:srgbClr val="000000"/>
                      </a:solidFill>
                    </a:lnT>
                    <a:lnB w="0">
                      <a:noFill/>
                    </a:lnB>
                    <a:solidFill>
                      <a:srgbClr val="F2F2F2"/>
                    </a:solidFill>
                  </a:tcPr>
                </a:tc>
              </a:tr>
              <a:tr h="182880">
                <a:tc>
                  <a:txBody>
                    <a:bodyPr/>
                    <a:lstStyle/>
                    <a:p>
                      <a:pPr marL="0" algn="l"/>
                      <a:r>
                        <a:rPr lang="en-US" sz="800" b="1" i="1" u="sng" dirty="0">
                          <a:solidFill>
                            <a:srgbClr val="000000"/>
                          </a:solidFill>
                        </a:rPr>
                        <a:t>Operating expenses</a:t>
                      </a:r>
                      <a:endParaRPr lang="en-US" dirty="0"/>
                    </a:p>
                  </a:txBody>
                  <a:tcPr anchor="ctr" marL="45720" marR="45720" marT="0" marB="0">
                    <a:lnL w="0">
                      <a:noFill/>
                    </a:lnL>
                    <a:lnR w="0">
                      <a:noFill/>
                    </a:lnR>
                    <a:lnT w="0">
                      <a:noFill/>
                    </a:lnT>
                    <a:lnB w="0">
                      <a:noFill/>
                    </a:lnB>
                    <a:noFill/>
                  </a:tcPr>
                </a:tc>
                <a:tc>
                  <a:txBody>
                    <a:bodyPr/>
                    <a:lstStyle/>
                    <a:p>
                      <a:pPr algn="r"/>
                      <a:r>
                        <a:rPr lang="en-US" sz="800" b="1" i="1" dirty="0">
                          <a:solidFill>
                            <a:srgbClr val="000000"/>
                          </a:solidFill>
                        </a:rPr>
                        <a:t/>
                      </a:r>
                      <a:endParaRPr lang="en-US" dirty="0"/>
                    </a:p>
                  </a:txBody>
                  <a:tcPr anchor="ctr" marL="45720" marR="45720" marT="0" marB="0">
                    <a:lnL w="0">
                      <a:noFill/>
                    </a:lnL>
                    <a:lnR w="0">
                      <a:noFill/>
                    </a:lnR>
                    <a:lnT w="0">
                      <a:noFill/>
                    </a:lnT>
                    <a:lnB w="0">
                      <a:noFill/>
                    </a:lnB>
                    <a:noFill/>
                  </a:tcPr>
                </a:tc>
                <a:tc>
                  <a:txBody>
                    <a:bodyPr/>
                    <a:lstStyle/>
                    <a:p>
                      <a:pPr algn="r"/>
                      <a:r>
                        <a:rPr lang="en-US" sz="800" b="1" i="1" dirty="0">
                          <a:solidFill>
                            <a:srgbClr val="000000"/>
                          </a:solidFill>
                        </a:rPr>
                        <a:t/>
                      </a:r>
                      <a:endParaRPr lang="en-US" dirty="0"/>
                    </a:p>
                  </a:txBody>
                  <a:tcPr anchor="ctr" marL="45720" marR="45720" marT="0" marB="0">
                    <a:lnL w="0">
                      <a:noFill/>
                    </a:lnL>
                    <a:lnR w="0">
                      <a:noFill/>
                    </a:lnR>
                    <a:lnT w="0">
                      <a:noFill/>
                    </a:lnT>
                    <a:lnB w="0">
                      <a:noFill/>
                    </a:lnB>
                    <a:noFill/>
                  </a:tcPr>
                </a:tc>
                <a:tc>
                  <a:txBody>
                    <a:bodyPr/>
                    <a:lstStyle/>
                    <a:p>
                      <a:pPr algn="r"/>
                      <a:r>
                        <a:rPr lang="en-US" sz="800" b="1" i="1" dirty="0">
                          <a:solidFill>
                            <a:srgbClr val="000000"/>
                          </a:solidFill>
                        </a:rPr>
                        <a:t/>
                      </a:r>
                      <a:endParaRPr lang="en-US" dirty="0"/>
                    </a:p>
                  </a:txBody>
                  <a:tcPr anchor="ctr" marL="45720" marR="45720" marT="0" marB="0">
                    <a:lnL w="0">
                      <a:noFill/>
                    </a:lnL>
                    <a:lnR w="0">
                      <a:noFill/>
                    </a:lnR>
                    <a:lnT w="0">
                      <a:noFill/>
                    </a:lnT>
                    <a:lnB w="0">
                      <a:noFill/>
                    </a:lnB>
                    <a:noFill/>
                  </a:tcPr>
                </a:tc>
              </a:tr>
              <a:tr h="182880">
                <a:tc>
                  <a:txBody>
                    <a:bodyPr/>
                    <a:lstStyle/>
                    <a:p>
                      <a:pPr marL="137160" algn="l"/>
                      <a:r>
                        <a:rPr lang="en-US" sz="800" b="0" dirty="0">
                          <a:solidFill>
                            <a:srgbClr val="000000"/>
                          </a:solidFill>
                        </a:rPr>
                        <a:t>Research and development</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(18,204)</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(16,877)</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(7.9%)</a:t>
                      </a:r>
                      <a:endParaRPr lang="en-US" dirty="0"/>
                    </a:p>
                  </a:txBody>
                  <a:tcPr anchor="ctr" marL="45720" marR="45720" marT="0" marB="0">
                    <a:lnL w="0">
                      <a:noFill/>
                    </a:lnL>
                    <a:lnR w="0">
                      <a:noFill/>
                    </a:lnR>
                    <a:lnT w="0">
                      <a:noFill/>
                    </a:lnT>
                    <a:lnB w="0">
                      <a:noFill/>
                    </a:lnB>
                    <a:noFill/>
                  </a:tcPr>
                </a:tc>
              </a:tr>
              <a:tr h="182880">
                <a:tc>
                  <a:txBody>
                    <a:bodyPr/>
                    <a:lstStyle/>
                    <a:p>
                      <a:pPr marL="137160" algn="l"/>
                      <a:r>
                        <a:rPr lang="en-US" sz="800" b="0" dirty="0">
                          <a:solidFill>
                            <a:srgbClr val="000000"/>
                          </a:solidFill>
                        </a:rPr>
                        <a:t>Sales and marketing</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(15,993)</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(15,120)</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(5.8%)</a:t>
                      </a:r>
                      <a:endParaRPr lang="en-US" dirty="0"/>
                    </a:p>
                  </a:txBody>
                  <a:tcPr anchor="ctr" marL="45720" marR="45720" marT="0" marB="0">
                    <a:lnL w="0">
                      <a:noFill/>
                    </a:lnL>
                    <a:lnR w="0">
                      <a:noFill/>
                    </a:lnR>
                    <a:lnT w="0">
                      <a:noFill/>
                    </a:lnT>
                    <a:lnB w="0">
                      <a:noFill/>
                    </a:lnB>
                    <a:noFill/>
                  </a:tcPr>
                </a:tc>
              </a:tr>
              <a:tr h="182880">
                <a:tc>
                  <a:txBody>
                    <a:bodyPr/>
                    <a:lstStyle/>
                    <a:p>
                      <a:pPr marL="137160" algn="l"/>
                      <a:r>
                        <a:rPr lang="en-US" sz="800" b="0" dirty="0">
                          <a:solidFill>
                            <a:srgbClr val="000000"/>
                          </a:solidFill>
                        </a:rPr>
                        <a:t>General and administrative</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(8,603)</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(8,102)</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(6.2%)</a:t>
                      </a:r>
                      <a:endParaRPr lang="en-US" dirty="0"/>
                    </a:p>
                  </a:txBody>
                  <a:tcPr anchor="ctr" marL="45720" marR="45720" marT="0" marB="0">
                    <a:lnL w="0">
                      <a:noFill/>
                    </a:lnL>
                    <a:lnR w="0">
                      <a:noFill/>
                    </a:lnR>
                    <a:lnT w="0">
                      <a:noFill/>
                    </a:lnT>
                    <a:lnB w="0">
                      <a:noFill/>
                    </a:lnB>
                    <a:noFill/>
                  </a:tcPr>
                </a:tc>
              </a:tr>
              <a:tr h="182880">
                <a:tc>
                  <a:txBody>
                    <a:bodyPr/>
                    <a:lstStyle/>
                    <a:p>
                      <a:pPr marL="137160" algn="l"/>
                      <a:r>
                        <a:rPr lang="en-US" sz="800" b="0" dirty="0">
                          <a:solidFill>
                            <a:srgbClr val="000000"/>
                          </a:solidFill>
                        </a:rPr>
                        <a:t>Restructuring</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(1,250)</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100.0%</a:t>
                      </a:r>
                      <a:endParaRPr lang="en-US" dirty="0"/>
                    </a:p>
                  </a:txBody>
                  <a:tcPr anchor="ctr" marL="45720" marR="45720" marT="0" marB="0">
                    <a:lnL w="0">
                      <a:noFill/>
                    </a:lnL>
                    <a:lnR w="0">
                      <a:noFill/>
                    </a:lnR>
                    <a:lnT w="0">
                      <a:noFill/>
                    </a:lnT>
                    <a:lnB w="0">
                      <a:noFill/>
                    </a:lnB>
                    <a:noFill/>
                  </a:tcPr>
                </a:tc>
              </a:tr>
              <a:tr h="182880">
                <a:tc>
                  <a:txBody>
                    <a:bodyPr/>
                    <a:lstStyle/>
                    <a:p>
                      <a:pPr marL="0" algn="l"/>
                      <a:r>
                        <a:rPr lang="en-US" sz="800" b="0" dirty="0">
                          <a:solidFill>
                            <a:srgbClr val="000000"/>
                          </a:solidFill>
                        </a:rPr>
                        <a:t>Total operating expenses</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(42,800)</a:t>
                      </a:r>
                      <a:endParaRPr lang="en-US" dirty="0"/>
                    </a:p>
                  </a:txBody>
                  <a:tcPr anchor="ctr" marL="45720" marR="45720" marT="0" marB="0">
                    <a:lnL w="0">
                      <a:noFill/>
                    </a:lnL>
                    <a:lnR w="0">
                      <a:noFill/>
                    </a:lnR>
                    <a:lnT w="9525">
                      <a:solidFill>
                        <a:srgbClr val="000000"/>
                      </a:solidFill>
                    </a:lnT>
                    <a:lnB w="0">
                      <a:noFill/>
                    </a:lnB>
                    <a:noFill/>
                  </a:tcPr>
                </a:tc>
                <a:tc>
                  <a:txBody>
                    <a:bodyPr/>
                    <a:lstStyle/>
                    <a:p>
                      <a:pPr algn="r"/>
                      <a:r>
                        <a:rPr lang="en-US" sz="800" b="0" dirty="0">
                          <a:solidFill>
                            <a:srgbClr val="C00000"/>
                          </a:solidFill>
                        </a:rPr>
                        <a:t>(41,349)</a:t>
                      </a:r>
                      <a:endParaRPr lang="en-US" dirty="0"/>
                    </a:p>
                  </a:txBody>
                  <a:tcPr anchor="ctr" marL="45720" marR="45720" marT="0" marB="0">
                    <a:lnL w="0">
                      <a:noFill/>
                    </a:lnL>
                    <a:lnR w="0">
                      <a:noFill/>
                    </a:lnR>
                    <a:lnT w="9525">
                      <a:solidFill>
                        <a:srgbClr val="000000"/>
                      </a:solidFill>
                    </a:lnT>
                    <a:lnB w="0">
                      <a:noFill/>
                    </a:lnB>
                    <a:noFill/>
                  </a:tcPr>
                </a:tc>
                <a:tc>
                  <a:txBody>
                    <a:bodyPr/>
                    <a:lstStyle/>
                    <a:p>
                      <a:pPr algn="r"/>
                      <a:r>
                        <a:rPr lang="en-US" sz="800" b="0" dirty="0">
                          <a:solidFill>
                            <a:srgbClr val="C00000"/>
                          </a:solidFill>
                        </a:rPr>
                        <a:t>(3.5%)</a:t>
                      </a:r>
                      <a:endParaRPr lang="en-US" dirty="0"/>
                    </a:p>
                  </a:txBody>
                  <a:tcPr anchor="ctr" marL="45720" marR="45720" marT="0" marB="0">
                    <a:lnL w="0">
                      <a:noFill/>
                    </a:lnL>
                    <a:lnR w="0">
                      <a:noFill/>
                    </a:lnR>
                    <a:lnT w="9525">
                      <a:solidFill>
                        <a:srgbClr val="000000"/>
                      </a:solidFill>
                    </a:lnT>
                    <a:lnB w="0">
                      <a:noFill/>
                    </a:lnB>
                    <a:noFill/>
                  </a:tcPr>
                </a:tc>
              </a:tr>
              <a:tr h="182880">
                <a:tc>
                  <a:txBody>
                    <a:bodyPr/>
                    <a:lstStyle/>
                    <a:p>
                      <a:pPr marL="0" algn="l"/>
                      <a:r>
                        <a:rPr lang="en-US" sz="800" b="1" dirty="0">
                          <a:solidFill>
                            <a:srgbClr val="000000"/>
                          </a:solidFill>
                        </a:rPr>
                        <a:t>Operating income</a:t>
                      </a:r>
                      <a:endParaRPr lang="en-US" dirty="0"/>
                    </a:p>
                  </a:txBody>
                  <a:tcPr anchor="ctr" marL="45720" marR="45720" marT="0" marB="0">
                    <a:lnL w="0">
                      <a:noFill/>
                    </a:lnL>
                    <a:lnR w="0">
                      <a:noFill/>
                    </a:lnR>
                    <a:lnT w="0">
                      <a:noFill/>
                    </a:lnT>
                    <a:lnB w="0">
                      <a:noFill/>
                    </a:lnB>
                    <a:solidFill>
                      <a:srgbClr val="F2F2F2"/>
                    </a:solidFill>
                  </a:tcPr>
                </a:tc>
                <a:tc>
                  <a:txBody>
                    <a:bodyPr/>
                    <a:lstStyle/>
                    <a:p>
                      <a:pPr algn="r"/>
                      <a:r>
                        <a:rPr lang="en-US" sz="800" b="1" dirty="0">
                          <a:solidFill>
                            <a:srgbClr val="000000"/>
                          </a:solidFill>
                        </a:rPr>
                        <a:t>33,700</a:t>
                      </a:r>
                      <a:endParaRPr lang="en-US" dirty="0"/>
                    </a:p>
                  </a:txBody>
                  <a:tcPr anchor="ctr" marL="45720" marR="45720" marT="0" marB="0">
                    <a:lnL w="0">
                      <a:noFill/>
                    </a:lnL>
                    <a:lnR w="0">
                      <a:noFill/>
                    </a:lnR>
                    <a:lnT w="9525">
                      <a:solidFill>
                        <a:srgbClr val="000000"/>
                      </a:solidFill>
                    </a:lnT>
                    <a:lnB w="0">
                      <a:noFill/>
                    </a:lnB>
                    <a:solidFill>
                      <a:srgbClr val="F2F2F2"/>
                    </a:solidFill>
                  </a:tcPr>
                </a:tc>
                <a:tc>
                  <a:txBody>
                    <a:bodyPr/>
                    <a:lstStyle/>
                    <a:p>
                      <a:pPr algn="r"/>
                      <a:r>
                        <a:rPr lang="en-US" sz="800" b="1" dirty="0">
                          <a:solidFill>
                            <a:srgbClr val="000000"/>
                          </a:solidFill>
                        </a:rPr>
                        <a:t>25,600</a:t>
                      </a:r>
                      <a:endParaRPr lang="en-US" dirty="0"/>
                    </a:p>
                  </a:txBody>
                  <a:tcPr anchor="ctr" marL="45720" marR="45720" marT="0" marB="0">
                    <a:lnL w="0">
                      <a:noFill/>
                    </a:lnL>
                    <a:lnR w="0">
                      <a:noFill/>
                    </a:lnR>
                    <a:lnT w="9525">
                      <a:solidFill>
                        <a:srgbClr val="000000"/>
                      </a:solidFill>
                    </a:lnT>
                    <a:lnB w="0">
                      <a:noFill/>
                    </a:lnB>
                    <a:solidFill>
                      <a:srgbClr val="F2F2F2"/>
                    </a:solidFill>
                  </a:tcPr>
                </a:tc>
                <a:tc>
                  <a:txBody>
                    <a:bodyPr/>
                    <a:lstStyle/>
                    <a:p>
                      <a:pPr algn="r"/>
                      <a:r>
                        <a:rPr lang="en-US" sz="800" b="1" dirty="0">
                          <a:solidFill>
                            <a:srgbClr val="000000"/>
                          </a:solidFill>
                        </a:rPr>
                        <a:t>31.6%</a:t>
                      </a:r>
                      <a:endParaRPr lang="en-US" dirty="0"/>
                    </a:p>
                  </a:txBody>
                  <a:tcPr anchor="ctr" marL="45720" marR="45720" marT="0" marB="0">
                    <a:lnL w="0">
                      <a:noFill/>
                    </a:lnL>
                    <a:lnR w="0">
                      <a:noFill/>
                    </a:lnR>
                    <a:lnT w="9525">
                      <a:solidFill>
                        <a:srgbClr val="000000"/>
                      </a:solidFill>
                    </a:lnT>
                    <a:lnB w="0">
                      <a:noFill/>
                    </a:lnB>
                    <a:solidFill>
                      <a:srgbClr val="F2F2F2"/>
                    </a:solidFill>
                  </a:tcPr>
                </a:tc>
              </a:tr>
              <a:tr h="182880">
                <a:tc>
                  <a:txBody>
                    <a:bodyPr/>
                    <a:lstStyle/>
                    <a:p>
                      <a:pPr marL="137160" algn="l"/>
                      <a:r>
                        <a:rPr lang="en-US" sz="800" b="0" dirty="0">
                          <a:solidFill>
                            <a:srgbClr val="000000"/>
                          </a:solidFill>
                        </a:rPr>
                        <a:t>Interest expense, net</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(1,215)</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(1,480)</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17.9%</a:t>
                      </a:r>
                      <a:endParaRPr lang="en-US" dirty="0"/>
                    </a:p>
                  </a:txBody>
                  <a:tcPr anchor="ctr" marL="45720" marR="45720" marT="0" marB="0">
                    <a:lnL w="0">
                      <a:noFill/>
                    </a:lnL>
                    <a:lnR w="0">
                      <a:noFill/>
                    </a:lnR>
                    <a:lnT w="0">
                      <a:noFill/>
                    </a:lnT>
                    <a:lnB w="0">
                      <a:noFill/>
                    </a:lnB>
                    <a:noFill/>
                  </a:tcPr>
                </a:tc>
              </a:tr>
              <a:tr h="182880">
                <a:tc>
                  <a:txBody>
                    <a:bodyPr/>
                    <a:lstStyle/>
                    <a:p>
                      <a:pPr marL="137160" algn="l"/>
                      <a:r>
                        <a:rPr lang="en-US" sz="800" b="0" dirty="0">
                          <a:solidFill>
                            <a:srgbClr val="000000"/>
                          </a:solidFill>
                        </a:rPr>
                        <a:t>Other income (expense)</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342</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(95)</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460.0%</a:t>
                      </a:r>
                      <a:endParaRPr lang="en-US" dirty="0"/>
                    </a:p>
                  </a:txBody>
                  <a:tcPr anchor="ctr" marL="45720" marR="45720" marT="0" marB="0">
                    <a:lnL w="0">
                      <a:noFill/>
                    </a:lnL>
                    <a:lnR w="0">
                      <a:noFill/>
                    </a:lnR>
                    <a:lnT w="0">
                      <a:noFill/>
                    </a:lnT>
                    <a:lnB w="0">
                      <a:noFill/>
                    </a:lnB>
                    <a:noFill/>
                  </a:tcPr>
                </a:tc>
              </a:tr>
              <a:tr h="182880">
                <a:tc>
                  <a:txBody>
                    <a:bodyPr/>
                    <a:lstStyle/>
                    <a:p>
                      <a:pPr marL="0" algn="l"/>
                      <a:r>
                        <a:rPr lang="en-US" sz="800" b="0" dirty="0">
                          <a:solidFill>
                            <a:srgbClr val="000000"/>
                          </a:solidFill>
                        </a:rPr>
                        <a:t>Income before income taxes</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32,827</a:t>
                      </a:r>
                      <a:endParaRPr lang="en-US" dirty="0"/>
                    </a:p>
                  </a:txBody>
                  <a:tcPr anchor="ctr" marL="45720" marR="45720" marT="0" marB="0">
                    <a:lnL w="0">
                      <a:noFill/>
                    </a:lnL>
                    <a:lnR w="0">
                      <a:noFill/>
                    </a:lnR>
                    <a:lnT w="9525">
                      <a:solidFill>
                        <a:srgbClr val="000000"/>
                      </a:solidFill>
                    </a:lnT>
                    <a:lnB w="0">
                      <a:noFill/>
                    </a:lnB>
                    <a:noFill/>
                  </a:tcPr>
                </a:tc>
                <a:tc>
                  <a:txBody>
                    <a:bodyPr/>
                    <a:lstStyle/>
                    <a:p>
                      <a:pPr algn="r"/>
                      <a:r>
                        <a:rPr lang="en-US" sz="800" b="0" dirty="0">
                          <a:solidFill>
                            <a:srgbClr val="000000"/>
                          </a:solidFill>
                        </a:rPr>
                        <a:t>24,025</a:t>
                      </a:r>
                      <a:endParaRPr lang="en-US" dirty="0"/>
                    </a:p>
                  </a:txBody>
                  <a:tcPr anchor="ctr" marL="45720" marR="45720" marT="0" marB="0">
                    <a:lnL w="0">
                      <a:noFill/>
                    </a:lnL>
                    <a:lnR w="0">
                      <a:noFill/>
                    </a:lnR>
                    <a:lnT w="9525">
                      <a:solidFill>
                        <a:srgbClr val="000000"/>
                      </a:solidFill>
                    </a:lnT>
                    <a:lnB w="0">
                      <a:noFill/>
                    </a:lnB>
                    <a:noFill/>
                  </a:tcPr>
                </a:tc>
                <a:tc>
                  <a:txBody>
                    <a:bodyPr/>
                    <a:lstStyle/>
                    <a:p>
                      <a:pPr algn="r"/>
                      <a:r>
                        <a:rPr lang="en-US" sz="800" b="0" dirty="0">
                          <a:solidFill>
                            <a:srgbClr val="000000"/>
                          </a:solidFill>
                        </a:rPr>
                        <a:t>36.6%</a:t>
                      </a:r>
                      <a:endParaRPr lang="en-US" dirty="0"/>
                    </a:p>
                  </a:txBody>
                  <a:tcPr anchor="ctr" marL="45720" marR="45720" marT="0" marB="0">
                    <a:lnL w="0">
                      <a:noFill/>
                    </a:lnL>
                    <a:lnR w="0">
                      <a:noFill/>
                    </a:lnR>
                    <a:lnT w="9525">
                      <a:solidFill>
                        <a:srgbClr val="000000"/>
                      </a:solidFill>
                    </a:lnT>
                    <a:lnB w="0">
                      <a:noFill/>
                    </a:lnB>
                    <a:noFill/>
                  </a:tcPr>
                </a:tc>
              </a:tr>
              <a:tr h="182880">
                <a:tc>
                  <a:txBody>
                    <a:bodyPr/>
                    <a:lstStyle/>
                    <a:p>
                      <a:pPr marL="137160" algn="l"/>
                      <a:r>
                        <a:rPr lang="en-US" sz="800" b="0" dirty="0">
                          <a:solidFill>
                            <a:srgbClr val="000000"/>
                          </a:solidFill>
                        </a:rPr>
                        <a:t>Provision for income taxes</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(6,894)</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(4,805)</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C00000"/>
                          </a:solidFill>
                        </a:rPr>
                        <a:t>(43.5%)</a:t>
                      </a:r>
                      <a:endParaRPr lang="en-US" dirty="0"/>
                    </a:p>
                  </a:txBody>
                  <a:tcPr anchor="ctr" marL="45720" marR="45720" marT="0" marB="0">
                    <a:lnL w="0">
                      <a:noFill/>
                    </a:lnL>
                    <a:lnR w="0">
                      <a:noFill/>
                    </a:lnR>
                    <a:lnT w="0">
                      <a:noFill/>
                    </a:lnT>
                    <a:lnB w="0">
                      <a:noFill/>
                    </a:lnB>
                    <a:noFill/>
                  </a:tcPr>
                </a:tc>
              </a:tr>
              <a:tr h="182880">
                <a:tc>
                  <a:txBody>
                    <a:bodyPr/>
                    <a:lstStyle/>
                    <a:p>
                      <a:pPr marL="0" algn="l"/>
                      <a:r>
                        <a:rPr lang="en-US" sz="800" b="1" dirty="0">
                          <a:solidFill>
                            <a:srgbClr val="000000"/>
                          </a:solidFill>
                        </a:rPr>
                        <a:t>Net income</a:t>
                      </a:r>
                      <a:endParaRPr lang="en-US" dirty="0"/>
                    </a:p>
                  </a:txBody>
                  <a:tcPr anchor="ctr" marL="45720" marR="45720" marT="0" marB="0">
                    <a:lnL w="0">
                      <a:noFill/>
                    </a:lnL>
                    <a:lnR w="0">
                      <a:noFill/>
                    </a:lnR>
                    <a:lnT w="0">
                      <a:noFill/>
                    </a:lnT>
                    <a:lnB w="0">
                      <a:noFill/>
                    </a:lnB>
                    <a:noFill/>
                  </a:tcPr>
                </a:tc>
                <a:tc>
                  <a:txBody>
                    <a:bodyPr/>
                    <a:lstStyle/>
                    <a:p>
                      <a:pPr algn="r"/>
                      <a:r>
                        <a:rPr lang="en-US" sz="800" b="1" dirty="0">
                          <a:solidFill>
                            <a:srgbClr val="000000"/>
                          </a:solidFill>
                        </a:rPr>
                        <a:t>25,933</a:t>
                      </a:r>
                      <a:endParaRPr lang="en-US" dirty="0"/>
                    </a:p>
                  </a:txBody>
                  <a:tcPr anchor="ctr" marL="45720" marR="45720" marT="0" marB="0">
                    <a:lnL w="0">
                      <a:noFill/>
                    </a:lnL>
                    <a:lnR w="0">
                      <a:noFill/>
                    </a:lnR>
                    <a:lnT w="9525">
                      <a:solidFill>
                        <a:srgbClr val="000000"/>
                      </a:solidFill>
                    </a:lnT>
                    <a:lnB w="28575" cmpd="dbl">
                      <a:solidFill>
                        <a:srgbClr val="000000"/>
                      </a:solidFill>
                    </a:lnB>
                    <a:noFill/>
                  </a:tcPr>
                </a:tc>
                <a:tc>
                  <a:txBody>
                    <a:bodyPr/>
                    <a:lstStyle/>
                    <a:p>
                      <a:pPr algn="r"/>
                      <a:r>
                        <a:rPr lang="en-US" sz="800" b="1" dirty="0">
                          <a:solidFill>
                            <a:srgbClr val="000000"/>
                          </a:solidFill>
                        </a:rPr>
                        <a:t>19,220</a:t>
                      </a:r>
                      <a:endParaRPr lang="en-US" dirty="0"/>
                    </a:p>
                  </a:txBody>
                  <a:tcPr anchor="ctr" marL="45720" marR="45720" marT="0" marB="0">
                    <a:lnL w="0">
                      <a:noFill/>
                    </a:lnL>
                    <a:lnR w="0">
                      <a:noFill/>
                    </a:lnR>
                    <a:lnT w="9525">
                      <a:solidFill>
                        <a:srgbClr val="000000"/>
                      </a:solidFill>
                    </a:lnT>
                    <a:lnB w="28575" cmpd="dbl">
                      <a:solidFill>
                        <a:srgbClr val="000000"/>
                      </a:solidFill>
                    </a:lnB>
                    <a:noFill/>
                  </a:tcPr>
                </a:tc>
                <a:tc>
                  <a:txBody>
                    <a:bodyPr/>
                    <a:lstStyle/>
                    <a:p>
                      <a:pPr algn="r"/>
                      <a:r>
                        <a:rPr lang="en-US" sz="800" b="1" dirty="0">
                          <a:solidFill>
                            <a:srgbClr val="000000"/>
                          </a:solidFill>
                        </a:rPr>
                        <a:t>34.9%</a:t>
                      </a:r>
                      <a:endParaRPr lang="en-US" dirty="0"/>
                    </a:p>
                  </a:txBody>
                  <a:tcPr anchor="ctr" marL="45720" marR="45720" marT="0" marB="0">
                    <a:lnL w="0">
                      <a:noFill/>
                    </a:lnL>
                    <a:lnR w="0">
                      <a:noFill/>
                    </a:lnR>
                    <a:lnT w="9525">
                      <a:solidFill>
                        <a:srgbClr val="000000"/>
                      </a:solidFill>
                    </a:lnT>
                    <a:lnB w="28575" cmpd="dbl">
                      <a:solidFill>
                        <a:srgbClr val="000000"/>
                      </a:solidFill>
                    </a:lnB>
                    <a:noFill/>
                  </a:tcPr>
                </a:tc>
              </a:tr>
              <a:tr h="182880">
                <a:tc>
                  <a:txBody>
                    <a:bodyPr/>
                    <a:lstStyle/>
                    <a:p>
                      <a:pPr marL="0" algn="l"/>
                      <a:r>
                        <a:rPr lang="en-US" sz="800" b="0" dirty="0">
                          <a:solidFill>
                            <a:srgbClr val="000000"/>
                          </a:solidFill>
                        </a:rPr>
                        <a:t>Diluted EPS</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$ 1.27</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$ 0.94</a:t>
                      </a:r>
                      <a:endParaRPr lang="en-US" dirty="0"/>
                    </a:p>
                  </a:txBody>
                  <a:tcPr anchor="ctr" marL="45720" marR="45720" marT="0" marB="0">
                    <a:lnL w="0">
                      <a:noFill/>
                    </a:lnL>
                    <a:lnR w="0">
                      <a:noFill/>
                    </a:lnR>
                    <a:lnT w="0">
                      <a:noFill/>
                    </a:lnT>
                    <a:lnB w="0">
                      <a:noFill/>
                    </a:lnB>
                    <a:noFill/>
                  </a:tcPr>
                </a:tc>
                <a:tc>
                  <a:txBody>
                    <a:bodyPr/>
                    <a:lstStyle/>
                    <a:p>
                      <a:pPr algn="r"/>
                      <a:r>
                        <a:rPr lang="en-US" sz="800" b="0" dirty="0">
                          <a:solidFill>
                            <a:srgbClr val="000000"/>
                          </a:solidFill>
                        </a:rPr>
                        <a:t>35.1%</a:t>
                      </a:r>
                      <a:endParaRPr lang="en-US" dirty="0"/>
                    </a:p>
                  </a:txBody>
                  <a:tcPr anchor="ctr" marL="45720" marR="45720" marT="0" marB="0">
                    <a:lnL w="0">
                      <a:noFill/>
                    </a:lnL>
                    <a:lnR w="0">
                      <a:noFill/>
                    </a:lnR>
                    <a:lnT w="0">
                      <a:noFill/>
                    </a:lnT>
                    <a:lnB w="0">
                      <a:noFill/>
                    </a:lnB>
                    <a:noFill/>
                  </a:tcPr>
                </a:tc>
              </a:tr>
            </a:tbl>
          </a:graphicData>
        </a:graphic>
      </p:graphicFrame>
      <p:sp>
        <p:nvSpPr>
          <p:cNvPr id="6" name="Date Placeholder 6"/>
          <p:cNvSpPr>
            <a:spLocks noGrp="1"/>
          </p:cNvSpPr>
          <p:nvPr>
            <p:ph type="dt" sz="half" idx="10"/>
          </p:nvPr>
        </p:nvSpPr>
        <p:spPr/>
        <p:txBody>
          <a:bodyPr/>
          <a:lstStyle/>
          <a:p>
            <a:r>
              <a:rPr lang="en-US" dirty="0"/>
              <a:t>October 24, 2024</a:t>
            </a:r>
            <a:endParaRPr lang="en-US" dirty="0"/>
          </a:p>
        </p:txBody>
      </p:sp>
      <p:sp>
        <p:nvSpPr>
          <p:cNvPr id="7" name="Footer Placeholder 7"/>
          <p:cNvSpPr>
            <a:spLocks noGrp="1"/>
          </p:cNvSpPr>
          <p:nvPr>
            <p:ph type="ftr" sz="quarter" idx="11"/>
          </p:nvPr>
        </p:nvSpPr>
        <p:spPr/>
        <p:txBody>
          <a:bodyPr/>
          <a:lstStyle/>
          <a:p>
            <a:r>
              <a:rPr lang="en-US" dirty="0"/>
              <a:t>Northwind Analytics · Q3 FY2024</a:t>
            </a:r>
            <a:endParaRPr lang="en-US" dirty="0"/>
          </a:p>
        </p:txBody>
      </p:sp>
      <p:sp>
        <p:nvSpPr>
          <p:cNvPr id="8" name="Slide Number Placeholder 8"/>
          <p:cNvSpPr>
            <a:spLocks noGrp="1"/>
          </p:cNvSpPr>
          <p:nvPr>
            <p:ph type="sldNum" sz="quarter" idx="12"/>
          </p:nvPr>
        </p:nvSpPr>
        <p:spPr/>
        <p:txBody>
          <a:bodyPr/>
          <a:lstStyle/>
          <a:p>
            <a:fld id="{FBF4F23F-4CB5-5B5D-B11A-E8B122F8DB6E}" type="slidenum">
              <a:rPr lang="en-US" dirty="0"/>
              <a:t>5</a:t>
            </a:fld>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Segment performance</a:t>
            </a:r>
          </a:p>
        </p:txBody>
      </p:sp>
      <p:sp>
        <p:nvSpPr>
          <p:cNvPr id="3" name="Top bar"/>
          <p:cNvSpPr/>
          <p:nvPr/>
        </p:nvSpPr>
        <p:spPr>
          <a:xfrm>
            <a:off x="0" y="0"/>
            <a:ext cx="12191695" cy="109728"/>
          </a:xfrm>
          <a:prstGeom prst="rect">
            <a:avLst/>
          </a:prstGeom>
          <a:solidFill>
            <a:srgbClr val="1F4E79"/>
          </a:solidFill>
        </p:spPr>
      </p:sp>
      <p:pic>
        <p:nvPicPr>
          <p:cNvPr id="4" name="Logo" descr="Logo"/>
          <p:cNvPicPr>
            <a:picLocks noChangeAspect="1"/>
          </p:cNvPicPr>
          <p:nvPr/>
        </p:nvPicPr>
        <p:blipFill rotWithShape="1">
          <a:blip r:embed="rId2"/>
          <a:stretch>
            <a:fillRect/>
          </a:stretch>
        </p:blipFill>
        <p:spPr>
          <a:xfrm>
            <a:off x="11384280" y="6172200"/>
            <a:ext cx="502920" cy="502920"/>
          </a:xfrm>
          <a:prstGeom prst="rect">
            <a:avLst/>
          </a:prstGeom>
        </p:spPr>
      </p:pic>
      <p:graphicFrame>
        <p:nvGraphicFramePr>
          <p:cNvPr id="5" name="Chart 4"/>
          <p:cNvGraphicFramePr>
            <a:graphicFrameLocks noGrp="1"/>
          </p:cNvGraphicFramePr>
          <p:nvPr/>
        </p:nvGraphicFramePr>
        <p:xfrm>
          <a:off x="548640" y="1280160"/>
          <a:ext cx="4754880" cy="4572000"/>
        </p:xfrm>
        <a:graphic>
          <a:graphicData uri="http://schemas.openxmlformats.org/drawingml/2006/chart">
            <c:chart xmlns:c="http://schemas.openxmlformats.org/drawingml/2006/chart" r:id="rId3"/>
          </a:graphicData>
        </a:graphic>
      </p:graphicFrame>
      <p:graphicFrame>
        <p:nvGraphicFramePr>
          <p:cNvPr id="6" name="Table 5"/>
          <p:cNvGraphicFramePr>
            <a:graphicFrameLocks noGrp="1"/>
          </p:cNvGraphicFramePr>
          <p:nvPr/>
        </p:nvGraphicFramePr>
        <p:xfrm>
          <a:off x="5760720" y="1737360"/>
          <a:ext cx="5852160" cy="2194560"/>
        </p:xfrm>
        <a:graphic>
          <a:graphicData uri="http://schemas.openxmlformats.org/drawingml/2006/table">
            <a:tbl>
              <a:tblPr firstRow="1" bandRow="1">
                <a:tableStyleId>{073A0DAA-6AF3-43AB-8588-CEC1D06C72B9}</a:tableStyleId>
              </a:tblPr>
              <a:tblGrid>
                <a:gridCol w="1463040"/>
                <a:gridCol w="1463040"/>
                <a:gridCol w="1463040"/>
                <a:gridCol w="1463040"/>
              </a:tblGrid>
              <a:tr h="548640">
                <a:tc>
                  <a:txBody>
                    <a:bodyPr/>
                    <a:lstStyle/>
                    <a:p>
                      <a:pPr algn="l"/>
                      <a:r>
                        <a:rPr lang="en-US" sz="1400" dirty="0"/>
                        <a:t>Segment</a:t>
                      </a:r>
                      <a:endParaRPr lang="en-US" dirty="0"/>
                    </a:p>
                  </a:txBody>
                  <a:tcPr/>
                </a:tc>
                <a:tc>
                  <a:txBody>
                    <a:bodyPr/>
                    <a:lstStyle/>
                    <a:p>
                      <a:pPr algn="r"/>
                      <a:r>
                        <a:rPr lang="en-US" sz="1400" dirty="0"/>
                        <a:t>Revenue</a:t>
                      </a:r>
                      <a:endParaRPr lang="en-US" dirty="0"/>
                    </a:p>
                  </a:txBody>
                  <a:tcPr/>
                </a:tc>
                <a:tc>
                  <a:txBody>
                    <a:bodyPr/>
                    <a:lstStyle/>
                    <a:p>
                      <a:pPr algn="r"/>
                      <a:r>
                        <a:rPr lang="en-US" sz="1400" dirty="0"/>
                        <a:t>YoY</a:t>
                      </a:r>
                      <a:endParaRPr lang="en-US" dirty="0"/>
                    </a:p>
                  </a:txBody>
                  <a:tcPr/>
                </a:tc>
                <a:tc>
                  <a:txBody>
                    <a:bodyPr/>
                    <a:lstStyle/>
                    <a:p>
                      <a:pPr algn="r"/>
                      <a:r>
                        <a:rPr lang="en-US" sz="1400" dirty="0"/>
                        <a:t>Margin</a:t>
                      </a:r>
                      <a:endParaRPr lang="en-US" dirty="0"/>
                    </a:p>
                  </a:txBody>
                  <a:tcPr/>
                </a:tc>
              </a:tr>
              <a:tr h="548640">
                <a:tc>
                  <a:txBody>
                    <a:bodyPr/>
                    <a:lstStyle/>
                    <a:p>
                      <a:pPr algn="l"/>
                      <a:r>
                        <a:rPr lang="en-US" sz="1400" dirty="0"/>
                        <a:t>Product</a:t>
                      </a:r>
                      <a:endParaRPr lang="en-US" dirty="0"/>
                    </a:p>
                  </a:txBody>
                  <a:tcPr/>
                </a:tc>
                <a:tc>
                  <a:txBody>
                    <a:bodyPr/>
                    <a:lstStyle/>
                    <a:p>
                      <a:pPr algn="r"/>
                      <a:r>
                        <a:rPr lang="en-US" sz="1400" dirty="0"/>
                        <a:t>84.2</a:t>
                      </a:r>
                      <a:endParaRPr lang="en-US" dirty="0"/>
                    </a:p>
                  </a:txBody>
                  <a:tcPr/>
                </a:tc>
                <a:tc>
                  <a:txBody>
                    <a:bodyPr/>
                    <a:lstStyle/>
                    <a:p>
                      <a:pPr algn="r"/>
                      <a:r>
                        <a:rPr lang="en-US" sz="1400" dirty="0"/>
                        <a:t>10.0%</a:t>
                      </a:r>
                      <a:endParaRPr lang="en-US" dirty="0"/>
                    </a:p>
                  </a:txBody>
                  <a:tcPr/>
                </a:tc>
                <a:tc>
                  <a:txBody>
                    <a:bodyPr/>
                    <a:lstStyle/>
                    <a:p>
                      <a:pPr algn="r"/>
                      <a:r>
                        <a:rPr lang="en-US" sz="1400" dirty="0"/>
                        <a:t>57%</a:t>
                      </a:r>
                      <a:endParaRPr lang="en-US" dirty="0"/>
                    </a:p>
                  </a:txBody>
                  <a:tcPr/>
                </a:tc>
              </a:tr>
              <a:tr h="548640">
                <a:tc>
                  <a:txBody>
                    <a:bodyPr/>
                    <a:lstStyle/>
                    <a:p>
                      <a:pPr algn="l"/>
                      <a:r>
                        <a:rPr lang="en-US" sz="1400" dirty="0"/>
                        <a:t>Subscription</a:t>
                      </a:r>
                      <a:endParaRPr lang="en-US" dirty="0"/>
                    </a:p>
                  </a:txBody>
                  <a:tcPr/>
                </a:tc>
                <a:tc>
                  <a:txBody>
                    <a:bodyPr/>
                    <a:lstStyle/>
                    <a:p>
                      <a:pPr algn="r"/>
                      <a:r>
                        <a:rPr lang="en-US" sz="1400" dirty="0"/>
                        <a:t>41.9</a:t>
                      </a:r>
                      <a:endParaRPr lang="en-US" dirty="0"/>
                    </a:p>
                  </a:txBody>
                  <a:tcPr/>
                </a:tc>
                <a:tc>
                  <a:txBody>
                    <a:bodyPr/>
                    <a:lstStyle/>
                    <a:p>
                      <a:pPr algn="r"/>
                      <a:r>
                        <a:rPr lang="en-US" sz="1400" dirty="0"/>
                        <a:t>26.9%</a:t>
                      </a:r>
                      <a:endParaRPr lang="en-US" dirty="0"/>
                    </a:p>
                  </a:txBody>
                  <a:tcPr/>
                </a:tc>
                <a:tc>
                  <a:txBody>
                    <a:bodyPr/>
                    <a:lstStyle/>
                    <a:p>
                      <a:pPr algn="r"/>
                      <a:r>
                        <a:rPr lang="en-US" sz="1400" dirty="0"/>
                        <a:t>81%</a:t>
                      </a:r>
                      <a:endParaRPr lang="en-US" dirty="0"/>
                    </a:p>
                  </a:txBody>
                  <a:tcPr/>
                </a:tc>
              </a:tr>
              <a:tr h="548640">
                <a:tc>
                  <a:txBody>
                    <a:bodyPr/>
                    <a:lstStyle/>
                    <a:p>
                      <a:pPr algn="l"/>
                      <a:r>
                        <a:rPr lang="en-US" sz="1400" dirty="0"/>
                        <a:t>Services</a:t>
                      </a:r>
                      <a:endParaRPr lang="en-US" dirty="0"/>
                    </a:p>
                  </a:txBody>
                  <a:tcPr/>
                </a:tc>
                <a:tc>
                  <a:txBody>
                    <a:bodyPr/>
                    <a:lstStyle/>
                    <a:p>
                      <a:pPr algn="r"/>
                      <a:r>
                        <a:rPr lang="en-US" sz="1400" dirty="0"/>
                        <a:t>6.3</a:t>
                      </a:r>
                      <a:endParaRPr lang="en-US" dirty="0"/>
                    </a:p>
                  </a:txBody>
                  <a:tcPr/>
                </a:tc>
                <a:tc>
                  <a:txBody>
                    <a:bodyPr/>
                    <a:lstStyle/>
                    <a:p>
                      <a:pPr algn="r"/>
                      <a:r>
                        <a:rPr lang="en-US" sz="1400" dirty="0">
                          <a:solidFill>
                            <a:srgbClr val="C00000"/>
                          </a:solidFill>
                        </a:rPr>
                        <a:t>(27.5%)</a:t>
                      </a:r>
                      <a:endParaRPr lang="en-US" dirty="0"/>
                    </a:p>
                  </a:txBody>
                  <a:tcPr/>
                </a:tc>
                <a:tc>
                  <a:txBody>
                    <a:bodyPr/>
                    <a:lstStyle/>
                    <a:p>
                      <a:pPr algn="r"/>
                      <a:r>
                        <a:rPr lang="en-US" sz="1400" dirty="0">
                          <a:solidFill>
                            <a:srgbClr val="C00000"/>
                          </a:solidFill>
                        </a:rPr>
                        <a:t>(9%)</a:t>
                      </a:r>
                      <a:endParaRPr lang="en-US" dirty="0"/>
                    </a:p>
                  </a:txBody>
                  <a:tcPr/>
                </a:tc>
              </a:tr>
            </a:tbl>
          </a:graphicData>
        </a:graphic>
      </p:graphicFrame>
      <p:sp>
        <p:nvSpPr>
          <p:cNvPr id="7" name="Date Placeholder 7"/>
          <p:cNvSpPr>
            <a:spLocks noGrp="1"/>
          </p:cNvSpPr>
          <p:nvPr>
            <p:ph type="dt" sz="half" idx="10"/>
          </p:nvPr>
        </p:nvSpPr>
        <p:spPr/>
        <p:txBody>
          <a:bodyPr/>
          <a:lstStyle/>
          <a:p>
            <a:r>
              <a:rPr lang="en-US" dirty="0"/>
              <a:t>October 24, 2024</a:t>
            </a:r>
            <a:endParaRPr lang="en-US" dirty="0"/>
          </a:p>
        </p:txBody>
      </p:sp>
      <p:sp>
        <p:nvSpPr>
          <p:cNvPr id="8" name="Footer Placeholder 8"/>
          <p:cNvSpPr>
            <a:spLocks noGrp="1"/>
          </p:cNvSpPr>
          <p:nvPr>
            <p:ph type="ftr" sz="quarter" idx="11"/>
          </p:nvPr>
        </p:nvSpPr>
        <p:spPr/>
        <p:txBody>
          <a:bodyPr/>
          <a:lstStyle/>
          <a:p>
            <a:r>
              <a:rPr lang="en-US" dirty="0"/>
              <a:t>Northwind Analytics · Q3 FY2024</a:t>
            </a:r>
            <a:endParaRPr lang="en-US" dirty="0"/>
          </a:p>
        </p:txBody>
      </p:sp>
      <p:sp>
        <p:nvSpPr>
          <p:cNvPr id="9" name="Slide Number Placeholder 9"/>
          <p:cNvSpPr>
            <a:spLocks noGrp="1"/>
          </p:cNvSpPr>
          <p:nvPr>
            <p:ph type="sldNum" sz="quarter" idx="12"/>
          </p:nvPr>
        </p:nvSpPr>
        <p:spPr/>
        <p:txBody>
          <a:bodyPr/>
          <a:lstStyle/>
          <a:p>
            <a:fld id="{FBF4F23F-4CB5-5B5D-B11A-E8B122F8DB6E}" type="slidenum">
              <a:rPr lang="en-US" dirty="0"/>
              <a:t>6</a:t>
            </a:fld>
            <a:endParaRPr lang="en-U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EBITDA bridge</a:t>
            </a:r>
          </a:p>
        </p:txBody>
      </p:sp>
      <p:sp>
        <p:nvSpPr>
          <p:cNvPr id="3" name="Top bar"/>
          <p:cNvSpPr/>
          <p:nvPr/>
        </p:nvSpPr>
        <p:spPr>
          <a:xfrm>
            <a:off x="0" y="0"/>
            <a:ext cx="12191695" cy="109728"/>
          </a:xfrm>
          <a:prstGeom prst="rect">
            <a:avLst/>
          </a:prstGeom>
          <a:solidFill>
            <a:srgbClr val="1F4E79"/>
          </a:solidFill>
        </p:spPr>
      </p:sp>
      <p:pic>
        <p:nvPicPr>
          <p:cNvPr id="4" name="Logo" descr="Logo"/>
          <p:cNvPicPr>
            <a:picLocks noChangeAspect="1"/>
          </p:cNvPicPr>
          <p:nvPr/>
        </p:nvPicPr>
        <p:blipFill rotWithShape="1">
          <a:blip r:embed="rId2"/>
          <a:stretch>
            <a:fillRect/>
          </a:stretch>
        </p:blipFill>
        <p:spPr>
          <a:xfrm>
            <a:off x="11384280" y="6172200"/>
            <a:ext cx="502920" cy="502920"/>
          </a:xfrm>
          <a:prstGeom prst="rect">
            <a:avLst/>
          </a:prstGeom>
        </p:spPr>
      </p:pic>
      <p:graphicFrame>
        <p:nvGraphicFramePr>
          <p:cNvPr id="5" name="Chart 4"/>
          <p:cNvGraphicFramePr>
            <a:graphicFrameLocks noGrp="1"/>
          </p:cNvGraphicFramePr>
          <p:nvPr/>
        </p:nvGraphicFramePr>
        <p:xfrm>
          <a:off x="548640" y="1280160"/>
          <a:ext cx="10972800" cy="4572000"/>
        </p:xfrm>
        <a:graphic>
          <a:graphicData uri="http://schemas.openxmlformats.org/drawingml/2006/chart">
            <c:chart xmlns:c="http://schemas.openxmlformats.org/drawingml/2006/chart" r:id="rId3"/>
          </a:graphicData>
        </a:graphic>
      </p:graphicFrame>
      <p:sp>
        <p:nvSpPr>
          <p:cNvPr id="6" name="Date Placeholder 6"/>
          <p:cNvSpPr>
            <a:spLocks noGrp="1"/>
          </p:cNvSpPr>
          <p:nvPr>
            <p:ph type="dt" sz="half" idx="10"/>
          </p:nvPr>
        </p:nvSpPr>
        <p:spPr/>
        <p:txBody>
          <a:bodyPr/>
          <a:lstStyle/>
          <a:p>
            <a:r>
              <a:rPr lang="en-US" dirty="0"/>
              <a:t>October 24, 2024</a:t>
            </a:r>
            <a:endParaRPr lang="en-US" dirty="0"/>
          </a:p>
        </p:txBody>
      </p:sp>
      <p:sp>
        <p:nvSpPr>
          <p:cNvPr id="7" name="Footer Placeholder 7"/>
          <p:cNvSpPr>
            <a:spLocks noGrp="1"/>
          </p:cNvSpPr>
          <p:nvPr>
            <p:ph type="ftr" sz="quarter" idx="11"/>
          </p:nvPr>
        </p:nvSpPr>
        <p:spPr/>
        <p:txBody>
          <a:bodyPr/>
          <a:lstStyle/>
          <a:p>
            <a:r>
              <a:rPr lang="en-US" dirty="0"/>
              <a:t>Northwind Analytics · Q3 FY2024</a:t>
            </a:r>
            <a:endParaRPr lang="en-US" dirty="0"/>
          </a:p>
        </p:txBody>
      </p:sp>
      <p:sp>
        <p:nvSpPr>
          <p:cNvPr id="8" name="Slide Number Placeholder 8"/>
          <p:cNvSpPr>
            <a:spLocks noGrp="1"/>
          </p:cNvSpPr>
          <p:nvPr>
            <p:ph type="sldNum" sz="quarter" idx="12"/>
          </p:nvPr>
        </p:nvSpPr>
        <p:spPr/>
        <p:txBody>
          <a:bodyPr/>
          <a:lstStyle/>
          <a:p>
            <a:fld id="{FBF4F23F-4CB5-5B5D-B11A-E8B122F8DB6E}" type="slidenum">
              <a:rPr lang="en-US" dirty="0"/>
              <a:t>7</a:t>
            </a:fld>
            <a:endParaRPr lang="en-US"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a:t>Notes and disclaimers</a:t>
            </a:r>
          </a:p>
        </p:txBody>
      </p:sp>
      <p:sp>
        <p:nvSpPr>
          <p:cNvPr id="3" name="Top bar"/>
          <p:cNvSpPr/>
          <p:nvPr/>
        </p:nvSpPr>
        <p:spPr>
          <a:xfrm>
            <a:off x="0" y="0"/>
            <a:ext cx="12191695" cy="109728"/>
          </a:xfrm>
          <a:prstGeom prst="rect">
            <a:avLst/>
          </a:prstGeom>
          <a:solidFill>
            <a:srgbClr val="1F4E79"/>
          </a:solidFill>
        </p:spPr>
      </p:sp>
      <p:pic>
        <p:nvPicPr>
          <p:cNvPr id="4" name="Logo" descr="Logo"/>
          <p:cNvPicPr>
            <a:picLocks noChangeAspect="1"/>
          </p:cNvPicPr>
          <p:nvPr/>
        </p:nvPicPr>
        <p:blipFill rotWithShape="1">
          <a:blip r:embed="rId2"/>
          <a:stretch>
            <a:fillRect/>
          </a:stretch>
        </p:blipFill>
        <p:spPr>
          <a:xfrm>
            <a:off x="11384280" y="6172200"/>
            <a:ext cx="502920" cy="502920"/>
          </a:xfrm>
          <a:prstGeom prst="rect">
            <a:avLst/>
          </a:prstGeom>
        </p:spPr>
      </p:pic>
      <p:sp>
        <p:nvSpPr>
          <p:cNvPr id="5" name="TextBox 5"/>
          <p:cNvSpPr txBox="1"/>
          <p:nvPr/>
        </p:nvSpPr>
        <p:spPr>
          <a:xfrm>
            <a:off x="548640" y="1371600"/>
            <a:ext cx="11064240" cy="4389120"/>
          </a:xfrm>
          <a:prstGeom prst="rect">
            <a:avLst/>
          </a:prstGeom>
          <a:ln w="6350">
            <a:solidFill>
              <a:srgbClr val="BFBFBF"/>
            </a:solidFill>
          </a:ln>
        </p:spPr>
        <p:txBody>
          <a:bodyPr wrap="square" lIns="137160" tIns="91440" rIns="137160" bIns="91440"/>
          <a:lstStyle/>
          <a:p>
            <a:pPr>
              <a:spcAft>
                <a:spcPts val="400"/>
              </a:spcAft>
            </a:pPr>
            <a:r>
              <a:rPr lang="en-US" sz="800" dirty="0">
                <a:solidFill>
                  <a:srgbClr val="404040"/>
                </a:solidFill>
              </a:rPr>
              <a:t>(1) Non-GAAP measures exclude stock-based compensation, amortization of acquired intangibles and restructuring.</a:t>
            </a:r>
            <a:endParaRPr lang="en-US" dirty="0"/>
          </a:p>
          <a:p>
            <a:pPr>
              <a:spcAft>
                <a:spcPts val="400"/>
              </a:spcAft>
            </a:pPr>
            <a:r>
              <a:rPr lang="en-US" sz="800" dirty="0">
                <a:solidFill>
                  <a:srgbClr val="404040"/>
                </a:solidFill>
              </a:rPr>
              <a:t>(2) Free cash flow is net cash provided by operating activities less capital expenditures.</a:t>
            </a:r>
            <a:endParaRPr lang="en-US" dirty="0"/>
          </a:p>
          <a:p>
            <a:pPr>
              <a:spcAft>
                <a:spcPts val="400"/>
              </a:spcAft>
            </a:pPr>
            <a:r>
              <a:rPr lang="en-US" sz="800" dirty="0">
                <a:solidFill>
                  <a:srgbClr val="404040"/>
                </a:solidFill>
              </a:rPr>
              <a:t>(3) Segment margins are before unallocated corporate costs.</a:t>
            </a:r>
            <a:endParaRPr lang="en-US" dirty="0"/>
          </a:p>
          <a:p>
            <a:pPr>
              <a:spcAft>
                <a:spcPts val="400"/>
              </a:spcAft>
            </a:pPr>
            <a:r>
              <a:rPr lang="en-US" sz="800" dirty="0">
                <a:solidFill>
                  <a:srgbClr val="404040"/>
                </a:solidFill>
              </a:rPr>
              <a:t>(4) Prior periods were reclassified to conform to the current presentation.</a:t>
            </a:r>
            <a:endParaRPr lang="en-US" dirty="0"/>
          </a:p>
          <a:p>
            <a:pPr>
              <a:spcAft>
                <a:spcPts val="400"/>
              </a:spcAft>
            </a:pPr>
            <a:r>
              <a:rPr lang="en-US" sz="800" dirty="0">
                <a:solidFill>
                  <a:srgbClr val="404040"/>
                </a:solidFill>
              </a:rPr>
              <a:t>(5) All figures are fictional and exist only to exercise rendering of small type.</a:t>
            </a:r>
            <a:endParaRPr lang="en-US" dirty="0"/>
          </a:p>
        </p:txBody>
      </p:sp>
      <p:sp>
        <p:nvSpPr>
          <p:cNvPr id="6" name="Date Placeholder 6"/>
          <p:cNvSpPr>
            <a:spLocks noGrp="1"/>
          </p:cNvSpPr>
          <p:nvPr>
            <p:ph type="dt" sz="half" idx="10"/>
          </p:nvPr>
        </p:nvSpPr>
        <p:spPr/>
        <p:txBody>
          <a:bodyPr/>
          <a:lstStyle/>
          <a:p>
            <a:r>
              <a:rPr lang="en-US" dirty="0"/>
              <a:t>October 24, 2024</a:t>
            </a:r>
            <a:endParaRPr lang="en-US" dirty="0"/>
          </a:p>
        </p:txBody>
      </p:sp>
      <p:sp>
        <p:nvSpPr>
          <p:cNvPr id="7" name="Footer Placeholder 7"/>
          <p:cNvSpPr>
            <a:spLocks noGrp="1"/>
          </p:cNvSpPr>
          <p:nvPr>
            <p:ph type="ftr" sz="quarter" idx="11"/>
          </p:nvPr>
        </p:nvSpPr>
        <p:spPr/>
        <p:txBody>
          <a:bodyPr/>
          <a:lstStyle/>
          <a:p>
            <a:r>
              <a:rPr lang="en-US" dirty="0"/>
              <a:t>Northwind Analytics · Q3 FY2024</a:t>
            </a:r>
            <a:endParaRPr lang="en-US" dirty="0"/>
          </a:p>
        </p:txBody>
      </p:sp>
      <p:sp>
        <p:nvSpPr>
          <p:cNvPr id="8" name="Slide Number Placeholder 8"/>
          <p:cNvSpPr>
            <a:spLocks noGrp="1"/>
          </p:cNvSpPr>
          <p:nvPr>
            <p:ph type="sldNum" sz="quarter" idx="12"/>
          </p:nvPr>
        </p:nvSpPr>
        <p:spPr/>
        <p:txBody>
          <a:bodyPr/>
          <a:lstStyle/>
          <a:p>
            <a:fld id="{FBF4F23F-4CB5-5B5D-B11A-E8B122F8DB6E}" type="slidenum">
              <a:rPr lang="en-US" dirty="0"/>
              <a:t>8</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Application>pptx_engine corpus generator (python-pptx 1.0.2)</Application>
  <PresentationFormat>Widescreen</PresentationFormat>
  <Slides>8</Slides>
  <Notes>0</Notes>
  <HiddenSlides>0</HiddenSlides>
  <MMClips>0</MMClip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Kitchen sink: 16:9 quarterly financial review deck</dc:title>
  <dc:subject>pptx_engine test corpus</dc:subject>
  <dc:creator>pptx_engine corpus generator</dc:creator>
  <cp:keywords>kitchen-sink, 16:9, chart, table, kpi-cards, footer, financial-table</cp:keywords>
  <dc:description>A realistic 16:9 earnings-style deck for a fictional company: title slide with logo, agenda, KPI cards with deltas and shadows, combo revenue chart, income statement table, segment doughnut, EBITDA waterfall, 8pt footnotes, and footers with slide numbers on every slide.</dc:description>
  <cp:lastModifiedBy>pptx_engine corpus generator</cp:lastModifiedBy>
  <cp:revision>1</cp:revision>
  <dcterms:created xsi:type="dcterms:W3CDTF">2024-01-01T00:00:00Z</dcterms:created>
  <dcterms:modified xsi:type="dcterms:W3CDTF">2024-01-01T00:00:00Z</dcterms:modified>
</cp:coreProperties>
</file>