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Typefaces: regular, bold, italic, bold italic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371600"/>
            <a:ext cx="8412480" cy="512064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lang="en-US" sz="1100" b="1" dirty="0">
                <a:solidFill>
                  <a:srgbClr val="7F7F7F"/>
                </a:solidFill>
                <a:latin typeface="Arial"/>
              </a:rPr>
              <a:t>Calibri:  </a:t>
            </a:r>
            <a:r>
              <a:rPr lang="en-US" sz="1800" dirty="0">
                <a:latin typeface="Calibri"/>
              </a:rPr>
              <a:t>Quick fox 0123 </a:t>
            </a:r>
            <a:r>
              <a:rPr lang="en-US" sz="1800" b="1" dirty="0">
                <a:latin typeface="Calibri"/>
              </a:rPr>
              <a:t>Bold </a:t>
            </a:r>
            <a:r>
              <a:rPr lang="en-US" sz="1800" i="1" dirty="0">
                <a:latin typeface="Calibri"/>
              </a:rPr>
              <a:t>Italic </a:t>
            </a:r>
            <a:r>
              <a:rPr lang="en-US" sz="1800" b="1" i="1" dirty="0">
                <a:latin typeface="Calibri"/>
              </a:rPr>
              <a:t>Bold Italic</a:t>
            </a:r>
            <a:endParaRPr lang="en-US" dirty="0"/>
          </a:p>
          <a:p>
            <a:pPr>
              <a:spcAft>
                <a:spcPts val="800"/>
              </a:spcAft>
            </a:pPr>
            <a:r>
              <a:rPr lang="en-US" sz="1100" b="1" dirty="0">
                <a:solidFill>
                  <a:srgbClr val="7F7F7F"/>
                </a:solidFill>
                <a:latin typeface="Arial"/>
              </a:rPr>
              <a:t>Cambria:  </a:t>
            </a:r>
            <a:r>
              <a:rPr lang="en-US" sz="1800" dirty="0">
                <a:latin typeface="Cambria"/>
              </a:rPr>
              <a:t>Quick fox 0123 </a:t>
            </a:r>
            <a:r>
              <a:rPr lang="en-US" sz="1800" b="1" dirty="0">
                <a:latin typeface="Cambria"/>
              </a:rPr>
              <a:t>Bold </a:t>
            </a:r>
            <a:r>
              <a:rPr lang="en-US" sz="1800" i="1" dirty="0">
                <a:latin typeface="Cambria"/>
              </a:rPr>
              <a:t>Italic </a:t>
            </a:r>
            <a:r>
              <a:rPr lang="en-US" sz="1800" b="1" i="1" dirty="0">
                <a:latin typeface="Cambria"/>
              </a:rPr>
              <a:t>Bold Italic</a:t>
            </a:r>
            <a:endParaRPr lang="en-US" dirty="0"/>
          </a:p>
          <a:p>
            <a:pPr>
              <a:spcAft>
                <a:spcPts val="800"/>
              </a:spcAft>
            </a:pPr>
            <a:r>
              <a:rPr lang="en-US" sz="1100" b="1" dirty="0">
                <a:solidFill>
                  <a:srgbClr val="7F7F7F"/>
                </a:solidFill>
                <a:latin typeface="Arial"/>
              </a:rPr>
              <a:t>Arial:  </a:t>
            </a:r>
            <a:r>
              <a:rPr lang="en-US" sz="1800" dirty="0">
                <a:latin typeface="Arial"/>
              </a:rPr>
              <a:t>Quick fox 0123 </a:t>
            </a:r>
            <a:r>
              <a:rPr lang="en-US" sz="1800" b="1" dirty="0">
                <a:latin typeface="Arial"/>
              </a:rPr>
              <a:t>Bold </a:t>
            </a:r>
            <a:r>
              <a:rPr lang="en-US" sz="1800" i="1" dirty="0">
                <a:latin typeface="Arial"/>
              </a:rPr>
              <a:t>Italic </a:t>
            </a:r>
            <a:r>
              <a:rPr lang="en-US" sz="1800" b="1" i="1" dirty="0">
                <a:latin typeface="Arial"/>
              </a:rPr>
              <a:t>Bold Italic</a:t>
            </a:r>
            <a:endParaRPr lang="en-US" dirty="0"/>
          </a:p>
          <a:p>
            <a:pPr>
              <a:spcAft>
                <a:spcPts val="800"/>
              </a:spcAft>
            </a:pPr>
            <a:r>
              <a:rPr lang="en-US" sz="1100" b="1" dirty="0">
                <a:solidFill>
                  <a:srgbClr val="7F7F7F"/>
                </a:solidFill>
                <a:latin typeface="Arial"/>
              </a:rPr>
              <a:t>Times New Roman:  </a:t>
            </a:r>
            <a:r>
              <a:rPr lang="en-US" sz="1800" dirty="0">
                <a:latin typeface="Times New Roman"/>
              </a:rPr>
              <a:t>Quick fox 0123 </a:t>
            </a:r>
            <a:r>
              <a:rPr lang="en-US" sz="1800" b="1" dirty="0">
                <a:latin typeface="Times New Roman"/>
              </a:rPr>
              <a:t>Bold </a:t>
            </a:r>
            <a:r>
              <a:rPr lang="en-US" sz="1800" i="1" dirty="0">
                <a:latin typeface="Times New Roman"/>
              </a:rPr>
              <a:t>Italic </a:t>
            </a:r>
            <a:r>
              <a:rPr lang="en-US" sz="1800" b="1" i="1" dirty="0">
                <a:latin typeface="Times New Roman"/>
              </a:rPr>
              <a:t>Bold Italic</a:t>
            </a:r>
            <a:endParaRPr lang="en-US" dirty="0"/>
          </a:p>
          <a:p>
            <a:pPr>
              <a:spcAft>
                <a:spcPts val="800"/>
              </a:spcAft>
            </a:pPr>
            <a:r>
              <a:rPr lang="en-US" sz="1100" b="1" dirty="0">
                <a:solidFill>
                  <a:srgbClr val="7F7F7F"/>
                </a:solidFill>
                <a:latin typeface="Arial"/>
              </a:rPr>
              <a:t>Courier New:  </a:t>
            </a:r>
            <a:r>
              <a:rPr lang="en-US" sz="1800" dirty="0">
                <a:latin typeface="Courier New"/>
              </a:rPr>
              <a:t>Quick fox 0123 </a:t>
            </a:r>
            <a:r>
              <a:rPr lang="en-US" sz="1800" b="1" dirty="0">
                <a:latin typeface="Courier New"/>
              </a:rPr>
              <a:t>Bold </a:t>
            </a:r>
            <a:r>
              <a:rPr lang="en-US" sz="1800" i="1" dirty="0">
                <a:latin typeface="Courier New"/>
              </a:rPr>
              <a:t>Italic </a:t>
            </a:r>
            <a:r>
              <a:rPr lang="en-US" sz="1800" b="1" i="1" dirty="0">
                <a:latin typeface="Courier New"/>
              </a:rPr>
              <a:t>Bold Italic</a:t>
            </a:r>
            <a:endParaRPr lang="en-US" dirty="0"/>
          </a:p>
          <a:p>
            <a:pPr>
              <a:spcAft>
                <a:spcPts val="800"/>
              </a:spcAft>
            </a:pPr>
            <a:r>
              <a:rPr lang="en-US" sz="1100" b="1" dirty="0">
                <a:solidFill>
                  <a:srgbClr val="7F7F7F"/>
                </a:solidFill>
                <a:latin typeface="Arial"/>
              </a:rPr>
              <a:t>+mj-lt:  </a:t>
            </a:r>
            <a:r>
              <a:rPr lang="en-US" sz="1800" dirty="0">
                <a:latin typeface="+mj-lt"/>
              </a:rPr>
              <a:t>Quick fox 0123 </a:t>
            </a:r>
            <a:r>
              <a:rPr lang="en-US" sz="1800" b="1" dirty="0">
                <a:latin typeface="+mj-lt"/>
              </a:rPr>
              <a:t>Bold </a:t>
            </a:r>
            <a:r>
              <a:rPr lang="en-US" sz="1800" i="1" dirty="0">
                <a:latin typeface="+mj-lt"/>
              </a:rPr>
              <a:t>Italic </a:t>
            </a:r>
            <a:r>
              <a:rPr lang="en-US" sz="1800" b="1" i="1" dirty="0">
                <a:latin typeface="+mj-lt"/>
              </a:rPr>
              <a:t>Bold Italic</a:t>
            </a:r>
            <a:endParaRPr lang="en-US" dirty="0"/>
          </a:p>
          <a:p>
            <a:pPr>
              <a:spcAft>
                <a:spcPts val="800"/>
              </a:spcAft>
            </a:pPr>
            <a:r>
              <a:rPr lang="en-US" sz="1100" b="1" dirty="0">
                <a:solidFill>
                  <a:srgbClr val="7F7F7F"/>
                </a:solidFill>
                <a:latin typeface="Arial"/>
              </a:rPr>
              <a:t>+mn-lt:  </a:t>
            </a:r>
            <a:r>
              <a:rPr lang="en-US" sz="1800" dirty="0">
                <a:latin typeface="+mn-lt"/>
              </a:rPr>
              <a:t>Quick fox 0123 </a:t>
            </a:r>
            <a:r>
              <a:rPr lang="en-US" sz="1800" b="1" dirty="0">
                <a:latin typeface="+mn-lt"/>
              </a:rPr>
              <a:t>Bold </a:t>
            </a:r>
            <a:r>
              <a:rPr lang="en-US" sz="1800" i="1" dirty="0">
                <a:latin typeface="+mn-lt"/>
              </a:rPr>
              <a:t>Italic </a:t>
            </a:r>
            <a:r>
              <a:rPr lang="en-US" sz="1800" b="1" i="1" dirty="0">
                <a:latin typeface="+mn-lt"/>
              </a:rPr>
              <a:t>Bold Italic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Sizes 8-24 pt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5394960"/>
          </a:xfrm>
          <a:prstGeom prst="rect">
            <a:avLst/>
          </a:prstGeom>
          <a:ln w="9525">
            <a:solidFill>
              <a:srgbClr val="BFBFBF"/>
            </a:solidFill>
            <a:prstDash val="dash"/>
          </a:ln>
        </p:spPr>
        <p:txBody>
          <a:bodyPr wrap="square"/>
          <a:lstStyle/>
          <a:p>
            <a:r>
              <a:rPr lang="en-US" sz="800" dirty="0">
                <a:solidFill>
                  <a:srgbClr val="C00000"/>
                </a:solidFill>
              </a:rPr>
              <a:t>8 pt  </a:t>
            </a:r>
            <a:r>
              <a:rPr lang="en-US" sz="800" dirty="0"/>
              <a:t>Agxy Budget 2024</a:t>
            </a:r>
            <a:endParaRPr lang="en-US" dirty="0"/>
          </a:p>
          <a:p>
            <a:r>
              <a:rPr lang="en-US" sz="900" dirty="0">
                <a:solidFill>
                  <a:srgbClr val="C00000"/>
                </a:solidFill>
              </a:rPr>
              <a:t>9 pt  </a:t>
            </a:r>
            <a:r>
              <a:rPr lang="en-US" sz="900" dirty="0"/>
              <a:t>Agxy Budget 2024</a:t>
            </a:r>
            <a:endParaRPr lang="en-US" dirty="0"/>
          </a:p>
          <a:p>
            <a:r>
              <a:rPr lang="en-US" sz="1000" dirty="0">
                <a:solidFill>
                  <a:srgbClr val="C00000"/>
                </a:solidFill>
              </a:rPr>
              <a:t>10 pt  </a:t>
            </a:r>
            <a:r>
              <a:rPr lang="en-US" sz="1000" dirty="0"/>
              <a:t>Agxy Budget 2024</a:t>
            </a:r>
            <a:endParaRPr lang="en-US" dirty="0"/>
          </a:p>
          <a:p>
            <a:r>
              <a:rPr lang="en-US" sz="1100" dirty="0">
                <a:solidFill>
                  <a:srgbClr val="C00000"/>
                </a:solidFill>
              </a:rPr>
              <a:t>11 pt  </a:t>
            </a:r>
            <a:r>
              <a:rPr lang="en-US" sz="1100" dirty="0"/>
              <a:t>Agxy Budget 2024</a:t>
            </a:r>
            <a:endParaRPr lang="en-US" dirty="0"/>
          </a:p>
          <a:p>
            <a:r>
              <a:rPr lang="en-US" sz="1200" dirty="0">
                <a:solidFill>
                  <a:srgbClr val="C00000"/>
                </a:solidFill>
              </a:rPr>
              <a:t>12 pt  </a:t>
            </a:r>
            <a:r>
              <a:rPr lang="en-US" sz="1200" dirty="0"/>
              <a:t>Agxy Budget 2024</a:t>
            </a:r>
            <a:endParaRPr lang="en-US" dirty="0"/>
          </a:p>
          <a:p>
            <a:r>
              <a:rPr lang="en-US" sz="1400" dirty="0">
                <a:solidFill>
                  <a:srgbClr val="C00000"/>
                </a:solidFill>
              </a:rPr>
              <a:t>14 pt  </a:t>
            </a:r>
            <a:r>
              <a:rPr lang="en-US" sz="1400" dirty="0"/>
              <a:t>Agxy Budget 2024</a:t>
            </a:r>
            <a:endParaRPr lang="en-US" dirty="0"/>
          </a:p>
          <a:p>
            <a:r>
              <a:rPr lang="en-US" sz="1600" dirty="0">
                <a:solidFill>
                  <a:srgbClr val="C00000"/>
                </a:solidFill>
              </a:rPr>
              <a:t>16 pt  </a:t>
            </a:r>
            <a:r>
              <a:rPr lang="en-US" sz="1600" dirty="0"/>
              <a:t>Agxy Budget 2024</a:t>
            </a:r>
            <a:endParaRPr lang="en-US" dirty="0"/>
          </a:p>
          <a:p>
            <a:r>
              <a:rPr lang="en-US" sz="1800" dirty="0">
                <a:solidFill>
                  <a:srgbClr val="C00000"/>
                </a:solidFill>
              </a:rPr>
              <a:t>18 pt  </a:t>
            </a:r>
            <a:r>
              <a:rPr lang="en-US" sz="1800" dirty="0"/>
              <a:t>Agxy Budget 2024</a:t>
            </a:r>
            <a:endParaRPr lang="en-US" dirty="0"/>
          </a:p>
          <a:p>
            <a:r>
              <a:rPr lang="en-US" sz="2000" dirty="0">
                <a:solidFill>
                  <a:srgbClr val="C00000"/>
                </a:solidFill>
              </a:rPr>
              <a:t>20 pt  </a:t>
            </a:r>
            <a:r>
              <a:rPr lang="en-US" sz="2000" dirty="0"/>
              <a:t>Agxy Budget 2024</a:t>
            </a:r>
            <a:endParaRPr lang="en-US" dirty="0"/>
          </a:p>
          <a:p>
            <a:r>
              <a:rPr lang="en-US" sz="2400" dirty="0">
                <a:solidFill>
                  <a:srgbClr val="C00000"/>
                </a:solidFill>
              </a:rPr>
              <a:t>24 pt  </a:t>
            </a:r>
            <a:r>
              <a:rPr lang="en-US" sz="2400" dirty="0"/>
              <a:t>Agxy Budget 2024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Sizes 28-44 pt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5394960"/>
          </a:xfrm>
          <a:prstGeom prst="rect">
            <a:avLst/>
          </a:prstGeom>
          <a:ln w="9525">
            <a:solidFill>
              <a:srgbClr val="BFBFBF"/>
            </a:solidFill>
            <a:prstDash val="dash"/>
          </a:ln>
        </p:spPr>
        <p:txBody>
          <a:bodyPr wrap="square"/>
          <a:lstStyle/>
          <a:p>
            <a:r>
              <a:rPr lang="en-US" sz="2800" dirty="0">
                <a:solidFill>
                  <a:srgbClr val="C00000"/>
                </a:solidFill>
              </a:rPr>
              <a:t>28 pt  </a:t>
            </a:r>
            <a:r>
              <a:rPr lang="en-US" sz="2800" dirty="0"/>
              <a:t>Agxy Budget 2024</a:t>
            </a:r>
            <a:endParaRPr lang="en-US" dirty="0"/>
          </a:p>
          <a:p>
            <a:r>
              <a:rPr lang="en-US" sz="3200" dirty="0">
                <a:solidFill>
                  <a:srgbClr val="C00000"/>
                </a:solidFill>
              </a:rPr>
              <a:t>32 pt  </a:t>
            </a:r>
            <a:r>
              <a:rPr lang="en-US" sz="3200" dirty="0"/>
              <a:t>Agxy Budget 2024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36 pt  </a:t>
            </a:r>
            <a:r>
              <a:rPr lang="en-US" sz="3600" dirty="0"/>
              <a:t>Agxy Budget 2024</a:t>
            </a:r>
            <a:endParaRPr lang="en-US" dirty="0"/>
          </a:p>
          <a:p>
            <a:r>
              <a:rPr lang="en-US" sz="4000" dirty="0">
                <a:solidFill>
                  <a:srgbClr val="C00000"/>
                </a:solidFill>
              </a:rPr>
              <a:t>40 pt  </a:t>
            </a:r>
            <a:r>
              <a:rPr lang="en-US" sz="4000" dirty="0"/>
              <a:t>Agxy Budget 2024</a:t>
            </a:r>
            <a:endParaRPr lang="en-US" dirty="0"/>
          </a:p>
          <a:p>
            <a:r>
              <a:rPr lang="en-US" sz="4400" dirty="0">
                <a:solidFill>
                  <a:srgbClr val="C00000"/>
                </a:solidFill>
              </a:rPr>
              <a:t>44 pt  </a:t>
            </a:r>
            <a:r>
              <a:rPr lang="en-US" sz="4400" dirty="0"/>
              <a:t>Agxy Budget 2024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Sizes 48-60 pt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5394960"/>
          </a:xfrm>
          <a:prstGeom prst="rect">
            <a:avLst/>
          </a:prstGeom>
          <a:ln w="9525">
            <a:solidFill>
              <a:srgbClr val="BFBFBF"/>
            </a:solidFill>
            <a:prstDash val="dash"/>
          </a:ln>
        </p:spPr>
        <p:txBody>
          <a:bodyPr wrap="square"/>
          <a:lstStyle/>
          <a:p>
            <a:r>
              <a:rPr lang="en-US" sz="4800" dirty="0">
                <a:solidFill>
                  <a:srgbClr val="C00000"/>
                </a:solidFill>
              </a:rPr>
              <a:t>48 pt  </a:t>
            </a:r>
            <a:r>
              <a:rPr lang="en-US" sz="4800" dirty="0"/>
              <a:t>Agxy Budget 2024</a:t>
            </a:r>
            <a:endParaRPr lang="en-US" dirty="0"/>
          </a:p>
          <a:p>
            <a:r>
              <a:rPr lang="en-US" sz="5400" dirty="0">
                <a:solidFill>
                  <a:srgbClr val="C00000"/>
                </a:solidFill>
              </a:rPr>
              <a:t>54 pt  </a:t>
            </a:r>
            <a:r>
              <a:rPr lang="en-US" sz="5400" dirty="0"/>
              <a:t>Agxy Budget 2024</a:t>
            </a:r>
            <a:endParaRPr lang="en-US" dirty="0"/>
          </a:p>
          <a:p>
            <a:r>
              <a:rPr lang="en-US" sz="6000" dirty="0">
                <a:solidFill>
                  <a:srgbClr val="C00000"/>
                </a:solidFill>
              </a:rPr>
              <a:t>60 pt  </a:t>
            </a:r>
            <a:r>
              <a:rPr lang="en-US" sz="6000" dirty="0"/>
              <a:t>Agxy Budget 2024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Underline and strike styles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4320" y="1280160"/>
            <a:ext cx="4206240" cy="539496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u=sng: </a:t>
            </a:r>
            <a:r>
              <a:rPr lang="en-US" sz="1600" u="sng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u=dbl: </a:t>
            </a:r>
            <a:r>
              <a:rPr lang="en-US" sz="1600" u="dbl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u=heavy: </a:t>
            </a:r>
            <a:r>
              <a:rPr lang="en-US" sz="1600" u="heavy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u=dotted: </a:t>
            </a:r>
            <a:r>
              <a:rPr lang="en-US" sz="1600" u="dotted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u=dottedHeavy: </a:t>
            </a:r>
            <a:r>
              <a:rPr lang="en-US" sz="1600" u="dottedHeavy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u=dash: </a:t>
            </a:r>
            <a:r>
              <a:rPr lang="en-US" sz="1600" u="dash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u=dashHeavy: </a:t>
            </a:r>
            <a:r>
              <a:rPr lang="en-US" sz="1600" u="dashHeavy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u=dashLong: </a:t>
            </a:r>
            <a:r>
              <a:rPr lang="en-US" sz="1600" u="dashLong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u=dashLongHeavy: </a:t>
            </a:r>
            <a:r>
              <a:rPr lang="en-US" sz="1600" u="dashLongHeavy" dirty="0"/>
              <a:t>Underlined text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4572000" y="1280160"/>
            <a:ext cx="4389120" cy="539496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u=dotDash: </a:t>
            </a:r>
            <a:r>
              <a:rPr lang="en-US" sz="1600" u="dotDash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u=dotDashHeavy: </a:t>
            </a:r>
            <a:r>
              <a:rPr lang="en-US" sz="1600" u="dotDashHeavy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u=dotDotDash: </a:t>
            </a:r>
            <a:r>
              <a:rPr lang="en-US" sz="1600" u="dotDotDash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u=dotDotDashHeavy: </a:t>
            </a:r>
            <a:r>
              <a:rPr lang="en-US" sz="1600" u="dotDotDashHeavy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u=wavy: </a:t>
            </a:r>
            <a:r>
              <a:rPr lang="en-US" sz="1600" u="wavy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u=wavyHeavy: </a:t>
            </a:r>
            <a:r>
              <a:rPr lang="en-US" sz="1600" u="wavyHeavy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u=wavyDbl: </a:t>
            </a:r>
            <a:r>
              <a:rPr lang="en-US" sz="1600" u="wavyDbl" dirty="0"/>
              <a:t>Underlined text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7F7F7F"/>
                </a:solidFill>
              </a:rPr>
              <a:t>u=words: </a:t>
            </a:r>
            <a:r>
              <a:rPr lang="en-US" sz="1600" u="words" dirty="0"/>
              <a:t>Underlined text</a:t>
            </a:r>
            <a:endParaRPr lang="en-US" dirty="0"/>
          </a:p>
          <a:p>
            <a:r>
              <a:rPr lang="en-US" sz="1100" dirty="0">
                <a:solidFill>
                  <a:srgbClr val="7F7F7F"/>
                </a:solidFill>
              </a:rPr>
              <a:t>strike=sngStrike: </a:t>
            </a:r>
            <a:r>
              <a:rPr lang="en-US" sz="1600" strike="sngStrike" dirty="0"/>
              <a:t>Struck text</a:t>
            </a:r>
            <a:endParaRPr lang="en-US" dirty="0"/>
          </a:p>
          <a:p>
            <a:r>
              <a:rPr lang="en-US" sz="1100" dirty="0">
                <a:solidFill>
                  <a:srgbClr val="7F7F7F"/>
                </a:solidFill>
              </a:rPr>
              <a:t>strike=dblStrike: </a:t>
            </a:r>
            <a:r>
              <a:rPr lang="en-US" sz="1600" strike="dblStrike" dirty="0"/>
              <a:t>Struck text</a:t>
            </a:r>
            <a:endParaRPr lang="en-US" dirty="0"/>
          </a:p>
          <a:p>
            <a:r>
              <a:rPr lang="en-US" sz="1100" dirty="0">
                <a:solidFill>
                  <a:srgbClr val="7F7F7F"/>
                </a:solidFill>
              </a:rPr>
              <a:t>u=sng + uFill red: </a:t>
            </a:r>
            <a:r>
              <a:rPr lang="en-US" sz="1600" u="sng" dirty="0">
                <a:uLn w="19050">
                  <a:solidFill>
                    <a:srgbClr val="FF0000"/>
                  </a:solidFill>
                </a:uLn>
                <a:uFill>
                  <a:solidFill>
                    <a:srgbClr val="FF0000"/>
                  </a:solidFill>
                </a:uFill>
              </a:rPr>
              <a:t>Colored underline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5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Text: typefaces, sizes, bold/italic/underline/strike</dc:title>
  <dc:subject>pptx_engine test corpus</dc:subject>
  <dc:creator>pptx_engine corpus generator</dc:creator>
  <cp:keywords>text, fonts, font-sizes, underline-styles, strike, theme-fonts</cp:keywords>
  <dc:description>Latin typefaces (Calibri, Cambria, Arial, Times New Roman, Courier New, theme +mj-lt/+mn-lt) in four styles, point sizes 8-60, all underline styles and strike types.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