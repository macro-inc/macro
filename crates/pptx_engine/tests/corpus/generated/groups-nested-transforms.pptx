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Nested groups with child coordinate scaling</a:t>
            </a:r>
          </a:p>
        </p:txBody>
      </p:sp>
      <p:grpSp>
        <p:nvGrpSpPr>
          <p:cNvPr id="9" name="Level 1 group"/>
          <p:cNvGrpSpPr/>
          <p:nvPr/>
        </p:nvGrpSpPr>
        <p:grpSpPr>
          <a:xfrm>
            <a:off x="457200" y="1463040"/>
            <a:ext cx="5029200" cy="3749040"/>
            <a:chOff x="0" y="0"/>
            <a:chExt cx="3657600" cy="2743200"/>
          </a:xfrm>
        </p:grpSpPr>
        <p:grpSp>
          <p:nvGrpSpPr>
            <p:cNvPr id="6" name="Level 2 group"/>
            <p:cNvGrpSpPr/>
            <p:nvPr/>
          </p:nvGrpSpPr>
          <p:grpSpPr>
            <a:xfrm>
              <a:off x="0" y="0"/>
              <a:ext cx="3657600" cy="2743200"/>
              <a:chOff x="0" y="0"/>
              <a:chExt cx="3657600" cy="2743200"/>
            </a:xfrm>
          </p:grpSpPr>
          <p:sp>
            <p:nvSpPr>
              <p:cNvPr id="7" name="L2 rect"/>
              <p:cNvSpPr/>
              <p:nvPr/>
            </p:nvSpPr>
            <p:spPr>
              <a:xfrm>
                <a:off x="0" y="0"/>
                <a:ext cx="1828800" cy="1371600"/>
              </a:xfrm>
              <a:prstGeom prst="rect">
                <a:avLst/>
              </a:prstGeom>
              <a:solidFill>
                <a:srgbClr val="A9D18E"/>
              </a:solidFill>
              <a:ln w="12700">
                <a:solidFill>
                  <a:srgbClr val="40404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1200" dirty="0"/>
                  <a:t>L2</a:t>
                </a:r>
                <a:endParaRPr lang="en-US" dirty="0"/>
              </a:p>
            </p:txBody>
          </p:sp>
          <p:grpSp>
            <p:nvGrpSpPr>
              <p:cNvPr id="3" name="Level 3 group"/>
              <p:cNvGrpSpPr/>
              <p:nvPr/>
            </p:nvGrpSpPr>
            <p:grpSpPr>
              <a:xfrm>
                <a:off x="1828800" y="1828800"/>
                <a:ext cx="1828800" cy="914400"/>
                <a:chOff x="0" y="0"/>
                <a:chExt cx="3657600" cy="1828800"/>
              </a:xfrm>
            </p:grpSpPr>
            <p:sp>
              <p:nvSpPr>
                <p:cNvPr id="4" name="L3 a"/>
                <p:cNvSpPr/>
                <p:nvPr/>
              </p:nvSpPr>
              <p:spPr>
                <a:xfrm>
                  <a:off x="0" y="0"/>
                  <a:ext cx="1828800" cy="1828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rgbClr val="404040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sz="1200" dirty="0"/>
                    <a:t>L3 (x0.5)</a:t>
                  </a:r>
                  <a:endParaRPr lang="en-US" dirty="0"/>
                </a:p>
              </p:txBody>
            </p:sp>
            <p:sp>
              <p:nvSpPr>
                <p:cNvPr id="5" name="L3 b"/>
                <p:cNvSpPr/>
                <p:nvPr/>
              </p:nvSpPr>
              <p:spPr>
                <a:xfrm>
                  <a:off x="1828800" y="0"/>
                  <a:ext cx="1828800" cy="1828800"/>
                </a:xfrm>
                <a:prstGeom prst="triangle">
                  <a:avLst/>
                </a:prstGeom>
                <a:solidFill>
                  <a:srgbClr val="ED7D31"/>
                </a:solidFill>
                <a:ln w="12700">
                  <a:solidFill>
                    <a:srgbClr val="404040"/>
                  </a:solidFill>
                </a:ln>
              </p:spPr>
              <p:txBody>
                <a:bodyPr anchor="ctr"/>
                <a:lstStyle/>
                <a:p>
                  <a:pPr algn="ctr"/>
                  <a:r>
                    <a:rPr lang="en-US" sz="1200" dirty="0"/>
                    <a:t>L3</a:t>
                  </a:r>
                  <a:endParaRPr lang="en-US" dirty="0"/>
                </a:p>
              </p:txBody>
            </p:sp>
          </p:grpSp>
          <p:sp>
            <p:nvSpPr>
              <p:cNvPr id="8" name="L2 star"/>
              <p:cNvSpPr/>
              <p:nvPr/>
            </p:nvSpPr>
            <p:spPr>
              <a:xfrm>
                <a:off x="0" y="1463040"/>
                <a:ext cx="1645920" cy="1188720"/>
              </a:xfrm>
              <a:prstGeom prst="star5">
                <a:avLst/>
              </a:prstGeom>
              <a:solidFill>
                <a:srgbClr val="9DC3E6"/>
              </a:solidFill>
              <a:ln w="12700">
                <a:solidFill>
                  <a:srgbClr val="40404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1200" dirty="0"/>
                  <a:t>L2</a:t>
                </a:r>
                <a:endParaRPr lang="en-US" dirty="0"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457200" y="5394960"/>
            <a:ext cx="50292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Outer group ext 5.5x4.1in, chExt 4x3in (x1.375); level-3 chExt is 2x its ext</a:t>
            </a:r>
            <a:endParaRPr lang="en-US" dirty="0"/>
          </a:p>
        </p:txBody>
      </p:sp>
      <p:grpSp>
        <p:nvGrpSpPr>
          <p:cNvPr id="11" name="Non-uniform group"/>
          <p:cNvGrpSpPr/>
          <p:nvPr/>
        </p:nvGrpSpPr>
        <p:grpSpPr>
          <a:xfrm>
            <a:off x="5852160" y="1463040"/>
            <a:ext cx="2926080" cy="3749040"/>
            <a:chOff x="0" y="0"/>
            <a:chExt cx="1828800" cy="1828800"/>
          </a:xfrm>
        </p:grpSpPr>
        <p:sp>
          <p:nvSpPr>
            <p:cNvPr id="12" name="circle in stretched group"/>
            <p:cNvSpPr/>
            <p:nvPr/>
          </p:nvSpPr>
          <p:spPr>
            <a:xfrm>
              <a:off x="0" y="0"/>
              <a:ext cx="1828800" cy="1828800"/>
            </a:xfrm>
            <a:prstGeom prst="ellipse">
              <a:avLst/>
            </a:prstGeom>
            <a:solidFill>
              <a:srgbClr val="C9C9C9"/>
            </a:solidFill>
            <a:ln w="12700">
              <a:solidFill>
                <a:srgbClr val="404040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Stretched circle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Rotated and flipped groups</a:t>
            </a:r>
          </a:p>
        </p:txBody>
      </p:sp>
      <p:grpSp>
        <p:nvGrpSpPr>
          <p:cNvPr id="5" name="group 0"/>
          <p:cNvGrpSpPr/>
          <p:nvPr/>
        </p:nvGrpSpPr>
        <p:grpSpPr>
          <a:xfrm>
            <a:off x="457200" y="1463040"/>
            <a:ext cx="2194560" cy="1828800"/>
            <a:chOff x="0" y="0"/>
            <a:chExt cx="1828800" cy="1554480"/>
          </a:xfrm>
        </p:grpSpPr>
        <p:sp>
          <p:nvSpPr>
            <p:cNvPr id="3" name="arrow"/>
            <p:cNvSpPr/>
            <p:nvPr/>
          </p:nvSpPr>
          <p:spPr>
            <a:xfrm>
              <a:off x="0" y="0"/>
              <a:ext cx="1828800" cy="914400"/>
            </a:xfrm>
            <a:prstGeom prst="rightArrow">
              <a:avLst/>
            </a:prstGeom>
            <a:solidFill>
              <a:srgbClr val="5B9BD5"/>
            </a:solidFill>
            <a:ln w="12700">
              <a:solidFill>
                <a:srgbClr val="1F4E79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rot 0 </a:t>
              </a:r>
              <a:endParaRPr lang="en-US" dirty="0"/>
            </a:p>
          </p:txBody>
        </p:sp>
        <p:sp>
          <p:nvSpPr>
            <p:cNvPr id="4" name="tag"/>
            <p:cNvSpPr/>
            <p:nvPr/>
          </p:nvSpPr>
          <p:spPr>
            <a:xfrm rot="900000">
              <a:off x="91440" y="1005840"/>
              <a:ext cx="822960" cy="548640"/>
            </a:xfrm>
            <a:prstGeom prst="rect">
              <a:avLst/>
            </a:prstGeom>
            <a:solidFill>
              <a:srgbClr val="FFC000"/>
            </a:solidFill>
          </p:spPr>
          <p:txBody>
            <a:bodyPr anchor="ctr"/>
            <a:lstStyle/>
            <a:p>
              <a:pPr algn="ctr"/>
              <a:r>
                <a:rPr lang="en-US" sz="800" dirty="0"/>
                <a:t>child rot 15</a:t>
              </a:r>
              <a:endParaRPr lang="en-US" dirty="0"/>
            </a:p>
          </p:txBody>
        </p:sp>
      </p:grpSp>
      <p:grpSp>
        <p:nvGrpSpPr>
          <p:cNvPr id="8" name="group 1"/>
          <p:cNvGrpSpPr/>
          <p:nvPr/>
        </p:nvGrpSpPr>
        <p:grpSpPr>
          <a:xfrm rot="1800000">
            <a:off x="3291840" y="1463040"/>
            <a:ext cx="2194560" cy="1828800"/>
            <a:chOff x="0" y="0"/>
            <a:chExt cx="1828800" cy="1554480"/>
          </a:xfrm>
        </p:grpSpPr>
        <p:sp>
          <p:nvSpPr>
            <p:cNvPr id="6" name="arrow"/>
            <p:cNvSpPr/>
            <p:nvPr/>
          </p:nvSpPr>
          <p:spPr>
            <a:xfrm>
              <a:off x="0" y="0"/>
              <a:ext cx="1828800" cy="914400"/>
            </a:xfrm>
            <a:prstGeom prst="rightArrow">
              <a:avLst/>
            </a:prstGeom>
            <a:solidFill>
              <a:srgbClr val="5B9BD5"/>
            </a:solidFill>
            <a:ln w="12700">
              <a:solidFill>
                <a:srgbClr val="1F4E79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rot 30 </a:t>
              </a:r>
              <a:endParaRPr lang="en-US" dirty="0"/>
            </a:p>
          </p:txBody>
        </p:sp>
        <p:sp>
          <p:nvSpPr>
            <p:cNvPr id="7" name="tag"/>
            <p:cNvSpPr/>
            <p:nvPr/>
          </p:nvSpPr>
          <p:spPr>
            <a:xfrm rot="900000">
              <a:off x="91440" y="1005840"/>
              <a:ext cx="822960" cy="548640"/>
            </a:xfrm>
            <a:prstGeom prst="rect">
              <a:avLst/>
            </a:prstGeom>
            <a:solidFill>
              <a:srgbClr val="FFC000"/>
            </a:solidFill>
          </p:spPr>
          <p:txBody>
            <a:bodyPr anchor="ctr"/>
            <a:lstStyle/>
            <a:p>
              <a:pPr algn="ctr"/>
              <a:r>
                <a:rPr lang="en-US" sz="800" dirty="0"/>
                <a:t>child rot 15</a:t>
              </a:r>
              <a:endParaRPr lang="en-US" dirty="0"/>
            </a:p>
          </p:txBody>
        </p:sp>
      </p:grpSp>
      <p:grpSp>
        <p:nvGrpSpPr>
          <p:cNvPr id="11" name="group 2"/>
          <p:cNvGrpSpPr/>
          <p:nvPr/>
        </p:nvGrpSpPr>
        <p:grpSpPr>
          <a:xfrm flipH="1">
            <a:off x="6126480" y="1463040"/>
            <a:ext cx="2194560" cy="1828800"/>
            <a:chOff x="0" y="0"/>
            <a:chExt cx="1828800" cy="1554480"/>
          </a:xfrm>
        </p:grpSpPr>
        <p:sp>
          <p:nvSpPr>
            <p:cNvPr id="9" name="arrow"/>
            <p:cNvSpPr/>
            <p:nvPr/>
          </p:nvSpPr>
          <p:spPr>
            <a:xfrm>
              <a:off x="0" y="0"/>
              <a:ext cx="1828800" cy="914400"/>
            </a:xfrm>
            <a:prstGeom prst="rightArrow">
              <a:avLst/>
            </a:prstGeom>
            <a:solidFill>
              <a:srgbClr val="5B9BD5"/>
            </a:solidFill>
            <a:ln w="12700">
              <a:solidFill>
                <a:srgbClr val="1F4E79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rot 0 H</a:t>
              </a:r>
              <a:endParaRPr lang="en-US" dirty="0"/>
            </a:p>
          </p:txBody>
        </p:sp>
        <p:sp>
          <p:nvSpPr>
            <p:cNvPr id="10" name="tag"/>
            <p:cNvSpPr/>
            <p:nvPr/>
          </p:nvSpPr>
          <p:spPr>
            <a:xfrm rot="900000">
              <a:off x="91440" y="1005840"/>
              <a:ext cx="822960" cy="548640"/>
            </a:xfrm>
            <a:prstGeom prst="rect">
              <a:avLst/>
            </a:prstGeom>
            <a:solidFill>
              <a:srgbClr val="FFC000"/>
            </a:solidFill>
          </p:spPr>
          <p:txBody>
            <a:bodyPr anchor="ctr"/>
            <a:lstStyle/>
            <a:p>
              <a:pPr algn="ctr"/>
              <a:r>
                <a:rPr lang="en-US" sz="800" dirty="0"/>
                <a:t>child rot 15</a:t>
              </a:r>
              <a:endParaRPr lang="en-US" dirty="0"/>
            </a:p>
          </p:txBody>
        </p:sp>
      </p:grpSp>
      <p:grpSp>
        <p:nvGrpSpPr>
          <p:cNvPr id="14" name="group 3"/>
          <p:cNvGrpSpPr/>
          <p:nvPr/>
        </p:nvGrpSpPr>
        <p:grpSpPr>
          <a:xfrm flipV="1">
            <a:off x="457200" y="4114800"/>
            <a:ext cx="2194560" cy="1828800"/>
            <a:chOff x="0" y="0"/>
            <a:chExt cx="1828800" cy="1554480"/>
          </a:xfrm>
        </p:grpSpPr>
        <p:sp>
          <p:nvSpPr>
            <p:cNvPr id="12" name="arrow"/>
            <p:cNvSpPr/>
            <p:nvPr/>
          </p:nvSpPr>
          <p:spPr>
            <a:xfrm>
              <a:off x="0" y="0"/>
              <a:ext cx="1828800" cy="914400"/>
            </a:xfrm>
            <a:prstGeom prst="rightArrow">
              <a:avLst/>
            </a:prstGeom>
            <a:solidFill>
              <a:srgbClr val="5B9BD5"/>
            </a:solidFill>
            <a:ln w="12700">
              <a:solidFill>
                <a:srgbClr val="1F4E79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rot 0 V</a:t>
              </a:r>
              <a:endParaRPr lang="en-US" dirty="0"/>
            </a:p>
          </p:txBody>
        </p:sp>
        <p:sp>
          <p:nvSpPr>
            <p:cNvPr id="13" name="tag"/>
            <p:cNvSpPr/>
            <p:nvPr/>
          </p:nvSpPr>
          <p:spPr>
            <a:xfrm rot="900000">
              <a:off x="91440" y="1005840"/>
              <a:ext cx="822960" cy="548640"/>
            </a:xfrm>
            <a:prstGeom prst="rect">
              <a:avLst/>
            </a:prstGeom>
            <a:solidFill>
              <a:srgbClr val="FFC000"/>
            </a:solidFill>
          </p:spPr>
          <p:txBody>
            <a:bodyPr anchor="ctr"/>
            <a:lstStyle/>
            <a:p>
              <a:pPr algn="ctr"/>
              <a:r>
                <a:rPr lang="en-US" sz="800" dirty="0"/>
                <a:t>child rot 15</a:t>
              </a:r>
              <a:endParaRPr lang="en-US" dirty="0"/>
            </a:p>
          </p:txBody>
        </p:sp>
      </p:grpSp>
      <p:grpSp>
        <p:nvGrpSpPr>
          <p:cNvPr id="17" name="group 4"/>
          <p:cNvGrpSpPr/>
          <p:nvPr/>
        </p:nvGrpSpPr>
        <p:grpSpPr>
          <a:xfrm rot="12000000" flipH="1">
            <a:off x="3291840" y="4114800"/>
            <a:ext cx="2194560" cy="1828800"/>
            <a:chOff x="0" y="0"/>
            <a:chExt cx="1828800" cy="1554480"/>
          </a:xfrm>
        </p:grpSpPr>
        <p:sp>
          <p:nvSpPr>
            <p:cNvPr id="15" name="arrow"/>
            <p:cNvSpPr/>
            <p:nvPr/>
          </p:nvSpPr>
          <p:spPr>
            <a:xfrm>
              <a:off x="0" y="0"/>
              <a:ext cx="1828800" cy="914400"/>
            </a:xfrm>
            <a:prstGeom prst="rightArrow">
              <a:avLst/>
            </a:prstGeom>
            <a:solidFill>
              <a:srgbClr val="5B9BD5"/>
            </a:solidFill>
            <a:ln w="12700">
              <a:solidFill>
                <a:srgbClr val="1F4E79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rot 200 H</a:t>
              </a:r>
              <a:endParaRPr lang="en-US" dirty="0"/>
            </a:p>
          </p:txBody>
        </p:sp>
        <p:sp>
          <p:nvSpPr>
            <p:cNvPr id="16" name="tag"/>
            <p:cNvSpPr/>
            <p:nvPr/>
          </p:nvSpPr>
          <p:spPr>
            <a:xfrm rot="900000">
              <a:off x="91440" y="1005840"/>
              <a:ext cx="822960" cy="548640"/>
            </a:xfrm>
            <a:prstGeom prst="rect">
              <a:avLst/>
            </a:prstGeom>
            <a:solidFill>
              <a:srgbClr val="FFC000"/>
            </a:solidFill>
          </p:spPr>
          <p:txBody>
            <a:bodyPr anchor="ctr"/>
            <a:lstStyle/>
            <a:p>
              <a:pPr algn="ctr"/>
              <a:r>
                <a:rPr lang="en-US" sz="800" dirty="0"/>
                <a:t>child rot 15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Group of picture, connector and text</a:t>
            </a:r>
          </a:p>
        </p:txBody>
      </p:sp>
      <p:grpSp>
        <p:nvGrpSpPr>
          <p:cNvPr id="7" name="mixed group"/>
          <p:cNvGrpSpPr/>
          <p:nvPr/>
        </p:nvGrpSpPr>
        <p:grpSpPr>
          <a:xfrm>
            <a:off x="914400" y="1828800"/>
            <a:ext cx="5760720" cy="3291840"/>
            <a:chOff x="0" y="0"/>
            <a:chExt cx="3840480" cy="2194560"/>
          </a:xfrm>
        </p:grpSpPr>
        <p:sp>
          <p:nvSpPr>
            <p:cNvPr id="3" name="node A"/>
            <p:cNvSpPr/>
            <p:nvPr/>
          </p:nvSpPr>
          <p:spPr>
            <a:xfrm>
              <a:off x="0" y="0"/>
              <a:ext cx="1097280" cy="731520"/>
            </a:xfrm>
            <a:prstGeom prst="roundRect">
              <a:avLst/>
            </a:prstGeom>
            <a:solidFill>
              <a:srgbClr val="DEEBF7"/>
            </a:solidFill>
            <a:ln w="12700">
              <a:solidFill>
                <a:srgbClr val="2F5597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Node A</a:t>
              </a:r>
              <a:endParaRPr lang="en-US" dirty="0"/>
            </a:p>
          </p:txBody>
        </p:sp>
        <p:sp>
          <p:nvSpPr>
            <p:cNvPr id="4" name="node B"/>
            <p:cNvSpPr/>
            <p:nvPr/>
          </p:nvSpPr>
          <p:spPr>
            <a:xfrm>
              <a:off x="2743200" y="1371600"/>
              <a:ext cx="1097280" cy="731520"/>
            </a:xfrm>
            <a:prstGeom prst="roundRect">
              <a:avLst/>
            </a:prstGeom>
            <a:solidFill>
              <a:srgbClr val="DEEBF7"/>
            </a:solidFill>
            <a:ln w="12700">
              <a:solidFill>
                <a:srgbClr val="2F5597"/>
              </a:solidFill>
            </a:ln>
          </p:spPr>
          <p:txBody>
            <a:bodyPr anchor="ctr"/>
            <a:lstStyle/>
            <a:p>
              <a:pPr algn="ctr"/>
              <a:r>
                <a:rPr lang="en-US" sz="1200" dirty="0"/>
                <a:t>Node B</a:t>
              </a:r>
              <a:endParaRPr lang="en-US" dirty="0"/>
            </a:p>
          </p:txBody>
        </p:sp>
        <p:cxnSp>
          <p:nvCxnSpPr>
            <p:cNvPr id="5" name="link"/>
            <p:cNvCxnSpPr>
              <a:stCxn id="3" idx="3"/>
              <a:endCxn id="4" idx="1"/>
            </p:cNvCxnSpPr>
            <p:nvPr/>
          </p:nvCxnSpPr>
          <p:spPr>
            <a:xfrm>
              <a:off x="1097280" y="365760"/>
              <a:ext cx="1645920" cy="1371600"/>
            </a:xfrm>
            <a:prstGeom prst="bentConnector3">
              <a:avLst/>
            </a:prstGeom>
            <a:ln w="25400">
              <a:solidFill>
                <a:srgbClr val="2F5597"/>
              </a:solidFill>
              <a:tailEnd type="triangle"/>
            </a:ln>
          </p:spPr>
        </p:cxnSp>
        <p:pic>
          <p:nvPicPr>
            <p:cNvPr id="6" name="logo" descr="logo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371600" y="1463040"/>
              <a:ext cx="731520" cy="7315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Groups: nesting, child scaling, rotation and flips</dc:title>
  <dc:subject>pptx_engine test corpus</dc:subject>
  <dc:creator>pptx_engine corpus generator</dc:creator>
  <cp:keywords>group, nested-group, group-scaling, rotation, flip</cp:keywords>
  <dc:description>Groups nested three levels deep whose chOff/chExt differ from off/ext (scaling children; text is not scaled), rotated groups with rotated children, flipped groups (text stays readable), non-uniform group scaling, and a group of a picture, connector and text.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