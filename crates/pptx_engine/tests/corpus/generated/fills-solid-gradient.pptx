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Solid fills and alpha</a:t>
            </a:r>
          </a:p>
        </p:txBody>
      </p:sp>
      <p:sp>
        <p:nvSpPr>
          <p:cNvPr id="3" name="ellipse 3"/>
          <p:cNvSpPr/>
          <p:nvPr/>
        </p:nvSpPr>
        <p:spPr>
          <a:xfrm>
            <a:off x="731520" y="1645920"/>
            <a:ext cx="2377440" cy="2377440"/>
          </a:xfrm>
          <a:prstGeom prst="ellipse">
            <a:avLst/>
          </a:prstGeom>
          <a:solidFill>
            <a:srgbClr val="C00000">
              <a:alpha val="100000"/>
            </a:srgbClr>
          </a:solidFill>
          <a:ln w="12700">
            <a:solidFill>
              <a:srgbClr val="C00000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31520" y="4114800"/>
            <a:ext cx="23774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alpha 100%</a:t>
            </a:r>
            <a:endParaRPr lang="en-US" dirty="0"/>
          </a:p>
        </p:txBody>
      </p:sp>
      <p:sp>
        <p:nvSpPr>
          <p:cNvPr id="5" name="ellipse 5"/>
          <p:cNvSpPr/>
          <p:nvPr/>
        </p:nvSpPr>
        <p:spPr>
          <a:xfrm>
            <a:off x="1920240" y="2103120"/>
            <a:ext cx="2377440" cy="2377440"/>
          </a:xfrm>
          <a:prstGeom prst="ellipse">
            <a:avLst/>
          </a:prstGeom>
          <a:solidFill>
            <a:srgbClr val="0070C0">
              <a:alpha val="75000"/>
            </a:srgbClr>
          </a:solidFill>
          <a:ln w="12700">
            <a:solidFill>
              <a:srgbClr val="0070C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920240" y="4572000"/>
            <a:ext cx="23774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alpha 75%</a:t>
            </a:r>
            <a:endParaRPr lang="en-US" dirty="0"/>
          </a:p>
        </p:txBody>
      </p:sp>
      <p:sp>
        <p:nvSpPr>
          <p:cNvPr id="7" name="ellipse 7"/>
          <p:cNvSpPr/>
          <p:nvPr/>
        </p:nvSpPr>
        <p:spPr>
          <a:xfrm>
            <a:off x="3108960" y="2560320"/>
            <a:ext cx="2377440" cy="2377440"/>
          </a:xfrm>
          <a:prstGeom prst="ellipse">
            <a:avLst/>
          </a:prstGeom>
          <a:solidFill>
            <a:srgbClr val="00B050">
              <a:alpha val="50000"/>
            </a:srgbClr>
          </a:solidFill>
          <a:ln w="12700">
            <a:solidFill>
              <a:srgbClr val="00B05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108960" y="5029200"/>
            <a:ext cx="23774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alpha 50%</a:t>
            </a:r>
            <a:endParaRPr lang="en-US" dirty="0"/>
          </a:p>
        </p:txBody>
      </p:sp>
      <p:sp>
        <p:nvSpPr>
          <p:cNvPr id="9" name="ellipse 9"/>
          <p:cNvSpPr/>
          <p:nvPr/>
        </p:nvSpPr>
        <p:spPr>
          <a:xfrm>
            <a:off x="4297680" y="3017520"/>
            <a:ext cx="2377440" cy="2377440"/>
          </a:xfrm>
          <a:prstGeom prst="ellipse">
            <a:avLst/>
          </a:prstGeom>
          <a:solidFill>
            <a:srgbClr val="FFC000">
              <a:alpha val="25000"/>
            </a:srgbClr>
          </a:solidFill>
          <a:ln w="12700">
            <a:solidFill>
              <a:srgbClr val="FFC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297680" y="5486400"/>
            <a:ext cx="23774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alpha 25%</a:t>
            </a:r>
            <a:endParaRPr lang="en-US" dirty="0"/>
          </a:p>
        </p:txBody>
      </p:sp>
      <p:sp>
        <p:nvSpPr>
          <p:cNvPr id="11" name="rect 11"/>
          <p:cNvSpPr/>
          <p:nvPr/>
        </p:nvSpPr>
        <p:spPr>
          <a:xfrm>
            <a:off x="5852160" y="1463040"/>
            <a:ext cx="2743200" cy="4937760"/>
          </a:xfrm>
          <a:prstGeom prst="rect">
            <a:avLst/>
          </a:prstGeom>
          <a:pattFill prst="smCheck">
            <a:fgClr>
              <a:srgbClr val="BFBFBF"/>
            </a:fgClr>
            <a:bgClr>
              <a:srgbClr val="FFFFFF"/>
            </a:bgClr>
          </a:pattFill>
        </p:spPr>
      </p:sp>
      <p:sp>
        <p:nvSpPr>
          <p:cNvPr id="12" name="rect 12"/>
          <p:cNvSpPr/>
          <p:nvPr/>
        </p:nvSpPr>
        <p:spPr>
          <a:xfrm>
            <a:off x="6035040" y="1645920"/>
            <a:ext cx="2377440" cy="914400"/>
          </a:xfrm>
          <a:prstGeom prst="rect">
            <a:avLst/>
          </a:prstGeom>
          <a:solidFill>
            <a:schemeClr val="accent1">
              <a:alpha val="90000"/>
            </a:schemeClr>
          </a:solidFill>
        </p:spPr>
        <p:txBody>
          <a:bodyPr anchor="ctr"/>
          <a:lstStyle/>
          <a:p>
            <a:pPr algn="ctr"/>
            <a:r>
              <a:rPr lang="en-US" sz="1200" dirty="0"/>
              <a:t>accent1 alpha 90%</a:t>
            </a:r>
            <a:endParaRPr lang="en-US" dirty="0"/>
          </a:p>
        </p:txBody>
      </p:sp>
      <p:sp>
        <p:nvSpPr>
          <p:cNvPr id="13" name="rect 13"/>
          <p:cNvSpPr/>
          <p:nvPr/>
        </p:nvSpPr>
        <p:spPr>
          <a:xfrm>
            <a:off x="6035040" y="2834640"/>
            <a:ext cx="2377440" cy="91440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txBody>
          <a:bodyPr anchor="ctr"/>
          <a:lstStyle/>
          <a:p>
            <a:pPr algn="ctr"/>
            <a:r>
              <a:rPr lang="en-US" sz="1200" dirty="0"/>
              <a:t>accent1 alpha 60%</a:t>
            </a:r>
            <a:endParaRPr lang="en-US" dirty="0"/>
          </a:p>
        </p:txBody>
      </p:sp>
      <p:sp>
        <p:nvSpPr>
          <p:cNvPr id="14" name="rect 14"/>
          <p:cNvSpPr/>
          <p:nvPr/>
        </p:nvSpPr>
        <p:spPr>
          <a:xfrm>
            <a:off x="6035040" y="4023360"/>
            <a:ext cx="2377440" cy="914400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txBody>
          <a:bodyPr anchor="ctr"/>
          <a:lstStyle/>
          <a:p>
            <a:pPr algn="ctr"/>
            <a:r>
              <a:rPr lang="en-US" sz="1200" dirty="0"/>
              <a:t>accent1 alpha 30%</a:t>
            </a:r>
            <a:endParaRPr lang="en-US" dirty="0"/>
          </a:p>
        </p:txBody>
      </p:sp>
      <p:sp>
        <p:nvSpPr>
          <p:cNvPr id="15" name="rect 15"/>
          <p:cNvSpPr/>
          <p:nvPr/>
        </p:nvSpPr>
        <p:spPr>
          <a:xfrm>
            <a:off x="6035040" y="5212080"/>
            <a:ext cx="2377440" cy="914400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txBody>
          <a:bodyPr anchor="ctr"/>
          <a:lstStyle/>
          <a:p>
            <a:pPr algn="ctr"/>
            <a:r>
              <a:rPr lang="en-US" sz="1200" dirty="0"/>
              <a:t>accent1 alpha 10%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Linear gradients: angles and stops</a:t>
            </a:r>
          </a:p>
        </p:txBody>
      </p:sp>
      <p:sp>
        <p:nvSpPr>
          <p:cNvPr id="3" name="rect 3"/>
          <p:cNvSpPr/>
          <p:nvPr/>
        </p:nvSpPr>
        <p:spPr>
          <a:xfrm>
            <a:off x="365760" y="1371600"/>
            <a:ext cx="1920240" cy="1097280"/>
          </a:xfrm>
          <a:prstGeom prst="rect">
            <a:avLst/>
          </a:prstGeom>
          <a:gradFill>
            <a:gsLst>
              <a:gs pos="0">
                <a:srgbClr val="1F4E79"/>
              </a:gs>
              <a:gs pos="100000">
                <a:srgbClr val="BDD7EE"/>
              </a:gs>
            </a:gsLst>
            <a:lin ang="0"/>
          </a:gradFill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lin 0°</a:t>
            </a:r>
            <a:endParaRPr lang="en-US" dirty="0"/>
          </a:p>
        </p:txBody>
      </p:sp>
      <p:sp>
        <p:nvSpPr>
          <p:cNvPr id="4" name="rect 4"/>
          <p:cNvSpPr/>
          <p:nvPr/>
        </p:nvSpPr>
        <p:spPr>
          <a:xfrm>
            <a:off x="2514600" y="1371600"/>
            <a:ext cx="1920240" cy="1097280"/>
          </a:xfrm>
          <a:prstGeom prst="rect">
            <a:avLst/>
          </a:prstGeom>
          <a:gradFill>
            <a:gsLst>
              <a:gs pos="0">
                <a:srgbClr val="1F4E79"/>
              </a:gs>
              <a:gs pos="100000">
                <a:srgbClr val="BDD7EE"/>
              </a:gs>
            </a:gsLst>
            <a:lin ang="2700000"/>
          </a:gradFill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lin 45°</a:t>
            </a:r>
            <a:endParaRPr lang="en-US" dirty="0"/>
          </a:p>
        </p:txBody>
      </p:sp>
      <p:sp>
        <p:nvSpPr>
          <p:cNvPr id="5" name="rect 5"/>
          <p:cNvSpPr/>
          <p:nvPr/>
        </p:nvSpPr>
        <p:spPr>
          <a:xfrm>
            <a:off x="4663440" y="1371600"/>
            <a:ext cx="1920240" cy="1097280"/>
          </a:xfrm>
          <a:prstGeom prst="rect">
            <a:avLst/>
          </a:prstGeom>
          <a:gradFill>
            <a:gsLst>
              <a:gs pos="0">
                <a:srgbClr val="1F4E79"/>
              </a:gs>
              <a:gs pos="100000">
                <a:srgbClr val="BDD7EE"/>
              </a:gs>
            </a:gsLst>
            <a:lin ang="5400000"/>
          </a:gradFill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lin 90°</a:t>
            </a:r>
            <a:endParaRPr lang="en-US" dirty="0"/>
          </a:p>
        </p:txBody>
      </p:sp>
      <p:sp>
        <p:nvSpPr>
          <p:cNvPr id="6" name="rect 6"/>
          <p:cNvSpPr/>
          <p:nvPr/>
        </p:nvSpPr>
        <p:spPr>
          <a:xfrm>
            <a:off x="6812280" y="1371600"/>
            <a:ext cx="1920240" cy="1097280"/>
          </a:xfrm>
          <a:prstGeom prst="rect">
            <a:avLst/>
          </a:prstGeom>
          <a:gradFill>
            <a:gsLst>
              <a:gs pos="0">
                <a:srgbClr val="1F4E79"/>
              </a:gs>
              <a:gs pos="100000">
                <a:srgbClr val="BDD7EE"/>
              </a:gs>
            </a:gsLst>
            <a:lin ang="8100000"/>
          </a:gradFill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lin 135°</a:t>
            </a:r>
            <a:endParaRPr lang="en-US" dirty="0"/>
          </a:p>
        </p:txBody>
      </p:sp>
      <p:sp>
        <p:nvSpPr>
          <p:cNvPr id="7" name="rect 7"/>
          <p:cNvSpPr/>
          <p:nvPr/>
        </p:nvSpPr>
        <p:spPr>
          <a:xfrm>
            <a:off x="365760" y="2788920"/>
            <a:ext cx="1920240" cy="1097280"/>
          </a:xfrm>
          <a:prstGeom prst="rect">
            <a:avLst/>
          </a:prstGeom>
          <a:gradFill>
            <a:gsLst>
              <a:gs pos="0">
                <a:srgbClr val="1F4E79"/>
              </a:gs>
              <a:gs pos="100000">
                <a:srgbClr val="BDD7EE"/>
              </a:gs>
            </a:gsLst>
            <a:lin ang="10800000"/>
          </a:gradFill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lin 180°</a:t>
            </a:r>
            <a:endParaRPr lang="en-US" dirty="0"/>
          </a:p>
        </p:txBody>
      </p:sp>
      <p:sp>
        <p:nvSpPr>
          <p:cNvPr id="8" name="rect 8"/>
          <p:cNvSpPr/>
          <p:nvPr/>
        </p:nvSpPr>
        <p:spPr>
          <a:xfrm>
            <a:off x="2514600" y="2788920"/>
            <a:ext cx="1920240" cy="1097280"/>
          </a:xfrm>
          <a:prstGeom prst="rect">
            <a:avLst/>
          </a:prstGeom>
          <a:gradFill>
            <a:gsLst>
              <a:gs pos="0">
                <a:srgbClr val="1F4E79"/>
              </a:gs>
              <a:gs pos="100000">
                <a:srgbClr val="BDD7EE"/>
              </a:gs>
            </a:gsLst>
            <a:lin ang="13500000"/>
          </a:gradFill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lin 225°</a:t>
            </a:r>
            <a:endParaRPr lang="en-US" dirty="0"/>
          </a:p>
        </p:txBody>
      </p:sp>
      <p:sp>
        <p:nvSpPr>
          <p:cNvPr id="9" name="rect 9"/>
          <p:cNvSpPr/>
          <p:nvPr/>
        </p:nvSpPr>
        <p:spPr>
          <a:xfrm>
            <a:off x="4663440" y="2788920"/>
            <a:ext cx="1920240" cy="1097280"/>
          </a:xfrm>
          <a:prstGeom prst="rect">
            <a:avLst/>
          </a:prstGeom>
          <a:gradFill>
            <a:gsLst>
              <a:gs pos="0">
                <a:srgbClr val="1F4E79"/>
              </a:gs>
              <a:gs pos="100000">
                <a:srgbClr val="BDD7EE"/>
              </a:gs>
            </a:gsLst>
            <a:lin ang="16200000"/>
          </a:gradFill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lin 270°</a:t>
            </a:r>
            <a:endParaRPr lang="en-US" dirty="0"/>
          </a:p>
        </p:txBody>
      </p:sp>
      <p:sp>
        <p:nvSpPr>
          <p:cNvPr id="10" name="rect 10"/>
          <p:cNvSpPr/>
          <p:nvPr/>
        </p:nvSpPr>
        <p:spPr>
          <a:xfrm>
            <a:off x="6812280" y="2788920"/>
            <a:ext cx="1920240" cy="1097280"/>
          </a:xfrm>
          <a:prstGeom prst="rect">
            <a:avLst/>
          </a:prstGeom>
          <a:gradFill>
            <a:gsLst>
              <a:gs pos="0">
                <a:srgbClr val="1F4E79"/>
              </a:gs>
              <a:gs pos="100000">
                <a:srgbClr val="BDD7EE"/>
              </a:gs>
            </a:gsLst>
            <a:lin ang="18900000"/>
          </a:gradFill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lin 315°</a:t>
            </a:r>
            <a:endParaRPr lang="en-US" dirty="0"/>
          </a:p>
        </p:txBody>
      </p:sp>
      <p:sp>
        <p:nvSpPr>
          <p:cNvPr id="11" name="rect 11"/>
          <p:cNvSpPr/>
          <p:nvPr/>
        </p:nvSpPr>
        <p:spPr>
          <a:xfrm>
            <a:off x="365760" y="4297680"/>
            <a:ext cx="2651760" cy="1005840"/>
          </a:xfrm>
          <a:prstGeom prst="rect">
            <a:avLst/>
          </a:prstGeom>
          <a:gradFill>
            <a:gsLst>
              <a:gs pos="0">
                <a:srgbClr val="C00000"/>
              </a:gs>
              <a:gs pos="50000">
                <a:srgbClr val="FFFF00"/>
              </a:gs>
              <a:gs pos="100000">
                <a:srgbClr val="00B050"/>
              </a:gs>
            </a:gsLst>
            <a:lin ang="0"/>
          </a:gradFill>
        </p:spPr>
        <p:txBody>
          <a:bodyPr anchor="ctr"/>
          <a:lstStyle/>
          <a:p>
            <a:pPr algn="ctr"/>
            <a:r>
              <a:rPr lang="en-US" sz="1200" dirty="0"/>
              <a:t>3 stops</a:t>
            </a:r>
            <a:endParaRPr lang="en-US" dirty="0"/>
          </a:p>
        </p:txBody>
      </p:sp>
      <p:sp>
        <p:nvSpPr>
          <p:cNvPr id="12" name="rect 12"/>
          <p:cNvSpPr/>
          <p:nvPr/>
        </p:nvSpPr>
        <p:spPr>
          <a:xfrm>
            <a:off x="3200400" y="4297680"/>
            <a:ext cx="2651760" cy="1005840"/>
          </a:xfrm>
          <a:prstGeom prst="rect">
            <a:avLst/>
          </a:prstGeom>
          <a:gradFill>
            <a:gsLst>
              <a:gs pos="0">
                <a:srgbClr val="7030A0"/>
              </a:gs>
              <a:gs pos="25000">
                <a:srgbClr val="0070C0"/>
              </a:gs>
              <a:gs pos="50000">
                <a:srgbClr val="00B050"/>
              </a:gs>
              <a:gs pos="75000">
                <a:srgbClr val="FFC000"/>
              </a:gs>
              <a:gs pos="100000">
                <a:srgbClr val="C00000"/>
              </a:gs>
            </a:gsLst>
            <a:lin ang="0"/>
          </a:gradFill>
        </p:spPr>
        <p:txBody>
          <a:bodyPr anchor="ctr"/>
          <a:lstStyle/>
          <a:p>
            <a:pPr algn="ctr"/>
            <a:r>
              <a:rPr lang="en-US" sz="1200" dirty="0"/>
              <a:t>5 stops</a:t>
            </a:r>
            <a:endParaRPr lang="en-US" dirty="0"/>
          </a:p>
        </p:txBody>
      </p:sp>
      <p:sp>
        <p:nvSpPr>
          <p:cNvPr id="13" name="rect 13"/>
          <p:cNvSpPr/>
          <p:nvPr/>
        </p:nvSpPr>
        <p:spPr>
          <a:xfrm>
            <a:off x="6035040" y="4297680"/>
            <a:ext cx="2651760" cy="1005840"/>
          </a:xfrm>
          <a:prstGeom prst="rect">
            <a:avLst/>
          </a:prstGeom>
          <a:gradFill>
            <a:gsLst>
              <a:gs pos="0">
                <a:srgbClr val="000000"/>
              </a:gs>
              <a:gs pos="30000">
                <a:srgbClr val="FFFFFF"/>
              </a:gs>
              <a:gs pos="31000">
                <a:srgbClr val="C00000"/>
              </a:gs>
              <a:gs pos="100000">
                <a:srgbClr val="C00000"/>
              </a:gs>
            </a:gsLst>
            <a:lin ang="0"/>
          </a:gradFill>
        </p:spPr>
        <p:txBody>
          <a:bodyPr anchor="ctr"/>
          <a:lstStyle/>
          <a:p>
            <a:pPr algn="ctr"/>
            <a:r>
              <a:rPr lang="en-US" sz="1200" dirty="0"/>
              <a:t>hard stop</a:t>
            </a:r>
            <a:endParaRPr lang="en-US" dirty="0"/>
          </a:p>
        </p:txBody>
      </p:sp>
      <p:sp>
        <p:nvSpPr>
          <p:cNvPr id="14" name="rect 14"/>
          <p:cNvSpPr/>
          <p:nvPr/>
        </p:nvSpPr>
        <p:spPr>
          <a:xfrm>
            <a:off x="365760" y="5486400"/>
            <a:ext cx="4023360" cy="1097280"/>
          </a:xfrm>
          <a:prstGeom prst="rect">
            <a:avLst/>
          </a:prstGeom>
          <a:gradFill>
            <a:gsLst>
              <a:gs pos="0">
                <a:srgbClr val="C00000"/>
              </a:gs>
              <a:gs pos="50000">
                <a:srgbClr val="FFFF00"/>
              </a:gs>
              <a:gs pos="100000">
                <a:srgbClr val="00B050"/>
              </a:gs>
            </a:gsLst>
            <a:lin ang="2700000" scaled="1"/>
          </a:gradFill>
        </p:spPr>
        <p:txBody>
          <a:bodyPr anchor="ctr"/>
          <a:lstStyle/>
          <a:p>
            <a:pPr algn="ctr"/>
            <a:r>
              <a:rPr lang="en-US" sz="1200" dirty="0"/>
              <a:t>45° scaled=1 on wide box</a:t>
            </a:r>
            <a:endParaRPr lang="en-US" dirty="0"/>
          </a:p>
        </p:txBody>
      </p:sp>
      <p:sp>
        <p:nvSpPr>
          <p:cNvPr id="15" name="rect 15"/>
          <p:cNvSpPr/>
          <p:nvPr/>
        </p:nvSpPr>
        <p:spPr>
          <a:xfrm>
            <a:off x="4663440" y="5486400"/>
            <a:ext cx="4023360" cy="1097280"/>
          </a:xfrm>
          <a:prstGeom prst="rect">
            <a:avLst/>
          </a:prstGeom>
          <a:gradFill>
            <a:gsLst>
              <a:gs pos="0">
                <a:srgbClr val="C00000"/>
              </a:gs>
              <a:gs pos="50000">
                <a:srgbClr val="FFFF00"/>
              </a:gs>
              <a:gs pos="100000">
                <a:srgbClr val="00B050"/>
              </a:gs>
            </a:gsLst>
            <a:lin ang="2700000" scaled="0"/>
          </a:gradFill>
        </p:spPr>
        <p:txBody>
          <a:bodyPr anchor="ctr"/>
          <a:lstStyle/>
          <a:p>
            <a:pPr algn="ctr"/>
            <a:r>
              <a:rPr lang="en-US" sz="1200" dirty="0"/>
              <a:t>45° scaled=0 on wide box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Path gradients and rotWithShape</a:t>
            </a:r>
          </a:p>
        </p:txBody>
      </p:sp>
      <p:sp>
        <p:nvSpPr>
          <p:cNvPr id="3" name="rect 3"/>
          <p:cNvSpPr/>
          <p:nvPr/>
        </p:nvSpPr>
        <p:spPr>
          <a:xfrm>
            <a:off x="365760" y="1371600"/>
            <a:ext cx="2712720" cy="1485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2F5597"/>
              </a:gs>
            </a:gsLst>
            <a:path path="circle">
              <a:fillToRect l="50000" t="50000" r="50000" b="50000"/>
            </a:path>
          </a:gradFill>
        </p:spPr>
        <p:txBody>
          <a:bodyPr anchor="b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circle center</a:t>
            </a:r>
            <a:endParaRPr lang="en-US" dirty="0"/>
          </a:p>
        </p:txBody>
      </p:sp>
      <p:sp>
        <p:nvSpPr>
          <p:cNvPr id="4" name="rect 4"/>
          <p:cNvSpPr/>
          <p:nvPr/>
        </p:nvSpPr>
        <p:spPr>
          <a:xfrm>
            <a:off x="3215640" y="1371600"/>
            <a:ext cx="2712720" cy="1485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2F5597"/>
              </a:gs>
            </a:gsLst>
            <a:path path="circle">
              <a:fillToRect l="0" t="0" r="100000" b="100000"/>
            </a:path>
          </a:gradFill>
        </p:spPr>
        <p:txBody>
          <a:bodyPr anchor="b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circle top-left</a:t>
            </a:r>
            <a:endParaRPr lang="en-US" dirty="0"/>
          </a:p>
        </p:txBody>
      </p:sp>
      <p:sp>
        <p:nvSpPr>
          <p:cNvPr id="5" name="rect 5"/>
          <p:cNvSpPr/>
          <p:nvPr/>
        </p:nvSpPr>
        <p:spPr>
          <a:xfrm>
            <a:off x="6065520" y="1371600"/>
            <a:ext cx="2712720" cy="1485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2F5597"/>
              </a:gs>
            </a:gsLst>
            <a:path path="rect">
              <a:fillToRect l="50000" t="50000" r="50000" b="50000"/>
            </a:path>
          </a:gradFill>
        </p:spPr>
        <p:txBody>
          <a:bodyPr anchor="b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rect center</a:t>
            </a:r>
            <a:endParaRPr lang="en-US" dirty="0"/>
          </a:p>
        </p:txBody>
      </p:sp>
      <p:sp>
        <p:nvSpPr>
          <p:cNvPr id="6" name="rect 6"/>
          <p:cNvSpPr/>
          <p:nvPr/>
        </p:nvSpPr>
        <p:spPr>
          <a:xfrm>
            <a:off x="365760" y="2994660"/>
            <a:ext cx="2712720" cy="1485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2F5597"/>
              </a:gs>
            </a:gsLst>
            <a:path path="rect">
              <a:fillToRect l="100000" t="100000" r="0" b="0"/>
            </a:path>
          </a:gradFill>
        </p:spPr>
        <p:txBody>
          <a:bodyPr anchor="b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rect bottom-right</a:t>
            </a:r>
            <a:endParaRPr lang="en-US" dirty="0"/>
          </a:p>
        </p:txBody>
      </p:sp>
      <p:sp>
        <p:nvSpPr>
          <p:cNvPr id="7" name="star7 7"/>
          <p:cNvSpPr/>
          <p:nvPr/>
        </p:nvSpPr>
        <p:spPr>
          <a:xfrm>
            <a:off x="3215640" y="2994660"/>
            <a:ext cx="2712720" cy="1485900"/>
          </a:xfrm>
          <a:prstGeom prst="star7">
            <a:avLst/>
          </a:prstGeom>
          <a:gradFill>
            <a:gsLst>
              <a:gs pos="0">
                <a:srgbClr val="FFFFFF"/>
              </a:gs>
              <a:gs pos="100000">
                <a:srgbClr val="2F5597"/>
              </a:gs>
            </a:gsLst>
            <a:path path="shape">
              <a:fillToRect l="50000" t="50000" r="50000" b="50000"/>
            </a:path>
          </a:gradFill>
        </p:spPr>
        <p:txBody>
          <a:bodyPr anchor="b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shape</a:t>
            </a:r>
            <a:endParaRPr lang="en-US" dirty="0"/>
          </a:p>
        </p:txBody>
      </p:sp>
      <p:sp>
        <p:nvSpPr>
          <p:cNvPr id="8" name="rect 8"/>
          <p:cNvSpPr/>
          <p:nvPr/>
        </p:nvSpPr>
        <p:spPr>
          <a:xfrm>
            <a:off x="6065520" y="2994660"/>
            <a:ext cx="2712720" cy="1485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2F5597"/>
              </a:gs>
            </a:gsLst>
            <a:path path="circle">
              <a:fillToRect l="-30000" t="-30000" r="-30000" b="-30000"/>
            </a:path>
          </a:gradFill>
        </p:spPr>
        <p:txBody>
          <a:bodyPr anchor="b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circle wide ftr</a:t>
            </a:r>
            <a:endParaRPr lang="en-US" dirty="0"/>
          </a:p>
        </p:txBody>
      </p:sp>
      <p:sp>
        <p:nvSpPr>
          <p:cNvPr id="9" name="rect 9"/>
          <p:cNvSpPr/>
          <p:nvPr/>
        </p:nvSpPr>
        <p:spPr>
          <a:xfrm rot="2400000">
            <a:off x="1280160" y="5120640"/>
            <a:ext cx="2194560" cy="1097280"/>
          </a:xfrm>
          <a:prstGeom prst="rect">
            <a:avLst/>
          </a:prstGeom>
          <a:gradFill rotWithShape="1">
            <a:gsLst>
              <a:gs pos="0">
                <a:srgbClr val="C00000"/>
              </a:gs>
              <a:gs pos="100000">
                <a:srgbClr val="FFC000"/>
              </a:gs>
            </a:gsLst>
            <a:lin ang="0"/>
          </a:gradFill>
        </p:spPr>
        <p:txBody>
          <a:bodyPr anchor="ctr"/>
          <a:lstStyle/>
          <a:p>
            <a:pPr algn="ctr"/>
            <a:r>
              <a:rPr lang="en-US" sz="1100" dirty="0"/>
              <a:t>rot 40, rotWithShape=1</a:t>
            </a:r>
            <a:endParaRPr lang="en-US" dirty="0"/>
          </a:p>
        </p:txBody>
      </p:sp>
      <p:sp>
        <p:nvSpPr>
          <p:cNvPr id="10" name="rect 10"/>
          <p:cNvSpPr/>
          <p:nvPr/>
        </p:nvSpPr>
        <p:spPr>
          <a:xfrm rot="2400000">
            <a:off x="5303520" y="5120640"/>
            <a:ext cx="2194560" cy="1097280"/>
          </a:xfrm>
          <a:prstGeom prst="rect">
            <a:avLst/>
          </a:prstGeom>
          <a:gradFill rotWithShape="0">
            <a:gsLst>
              <a:gs pos="0">
                <a:srgbClr val="C00000"/>
              </a:gs>
              <a:gs pos="100000">
                <a:srgbClr val="FFC000"/>
              </a:gs>
            </a:gsLst>
            <a:lin ang="0"/>
          </a:gradFill>
        </p:spPr>
        <p:txBody>
          <a:bodyPr anchor="ctr"/>
          <a:lstStyle/>
          <a:p>
            <a:pPr algn="ctr"/>
            <a:r>
              <a:rPr lang="en-US" sz="1100" dirty="0"/>
              <a:t>rot 40, rotWithShape=0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Gradients with transparency and tileRect</a:t>
            </a:r>
          </a:p>
        </p:txBody>
      </p:sp>
      <p:sp>
        <p:nvSpPr>
          <p:cNvPr id="3" name="rect 3"/>
          <p:cNvSpPr/>
          <p:nvPr/>
        </p:nvSpPr>
        <p:spPr>
          <a:xfrm>
            <a:off x="365760" y="1371600"/>
            <a:ext cx="8412480" cy="5120640"/>
          </a:xfrm>
          <a:prstGeom prst="rect">
            <a:avLst/>
          </a:prstGeom>
          <a:pattFill prst="lgCheck">
            <a:fgClr>
              <a:srgbClr val="D9D9D9"/>
            </a:fgClr>
            <a:bgClr>
              <a:srgbClr val="FFFFFF"/>
            </a:bgClr>
          </a:pattFill>
        </p:spPr>
      </p:sp>
      <p:sp>
        <p:nvSpPr>
          <p:cNvPr id="4" name="rect 4"/>
          <p:cNvSpPr/>
          <p:nvPr/>
        </p:nvSpPr>
        <p:spPr>
          <a:xfrm>
            <a:off x="731520" y="1737360"/>
            <a:ext cx="3657600" cy="2011680"/>
          </a:xfrm>
          <a:prstGeom prst="rect">
            <a:avLst/>
          </a:prstGeom>
          <a:gradFill>
            <a:gsLst>
              <a:gs pos="0">
                <a:srgbClr val="0070C0"/>
              </a:gs>
              <a:gs pos="100000">
                <a:srgbClr val="0070C0">
                  <a:alpha val="0"/>
                </a:srgbClr>
              </a:gs>
            </a:gsLst>
            <a:lin ang="0"/>
          </a:gradFill>
        </p:spPr>
        <p:txBody>
          <a:bodyPr anchor="ctr"/>
          <a:lstStyle/>
          <a:p>
            <a:pPr algn="ctr"/>
            <a:r>
              <a:rPr lang="en-US" sz="1400" dirty="0"/>
              <a:t>opaque → transparent</a:t>
            </a:r>
            <a:endParaRPr lang="en-US" dirty="0"/>
          </a:p>
        </p:txBody>
      </p:sp>
      <p:sp>
        <p:nvSpPr>
          <p:cNvPr id="5" name="ellipse 5"/>
          <p:cNvSpPr/>
          <p:nvPr/>
        </p:nvSpPr>
        <p:spPr>
          <a:xfrm>
            <a:off x="4754880" y="1737360"/>
            <a:ext cx="3657600" cy="2011680"/>
          </a:xfrm>
          <a:prstGeom prst="ellipse">
            <a:avLst/>
          </a:prstGeom>
          <a:gradFill>
            <a:gsLst>
              <a:gs pos="0">
                <a:srgbClr val="FFFFFF">
                  <a:alpha val="100000"/>
                </a:srgbClr>
              </a:gs>
              <a:gs pos="100000">
                <a:srgbClr val="C00000">
                  <a:alpha val="2000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anchor="ctr"/>
          <a:lstStyle/>
          <a:p>
            <a:pPr algn="ctr"/>
            <a:r>
              <a:rPr lang="en-US" sz="1400" dirty="0"/>
              <a:t>radial alpha</a:t>
            </a:r>
            <a:endParaRPr lang="en-US" dirty="0"/>
          </a:p>
        </p:txBody>
      </p:sp>
      <p:sp>
        <p:nvSpPr>
          <p:cNvPr id="6" name="rect 6"/>
          <p:cNvSpPr/>
          <p:nvPr/>
        </p:nvSpPr>
        <p:spPr>
          <a:xfrm>
            <a:off x="731520" y="4114800"/>
            <a:ext cx="3657600" cy="2011680"/>
          </a:xfrm>
          <a:prstGeom prst="rect">
            <a:avLst/>
          </a:prstGeom>
          <a:gradFill flip="x">
            <a:gsLst>
              <a:gs pos="0">
                <a:srgbClr val="00B050"/>
              </a:gs>
              <a:gs pos="100000">
                <a:srgbClr val="002060"/>
              </a:gs>
            </a:gsLst>
            <a:lin ang="5400000"/>
            <a:tileRect l="0" t="0" r="-100000" b="0"/>
          </a:gradFill>
        </p:spPr>
        <p:txBody>
          <a:bodyPr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tileRect r=-100% flip=x</a:t>
            </a:r>
            <a:endParaRPr lang="en-US" dirty="0"/>
          </a:p>
        </p:txBody>
      </p:sp>
      <p:sp>
        <p:nvSpPr>
          <p:cNvPr id="7" name="rect 7"/>
          <p:cNvSpPr/>
          <p:nvPr/>
        </p:nvSpPr>
        <p:spPr>
          <a:xfrm>
            <a:off x="4754880" y="4114800"/>
            <a:ext cx="3657600" cy="2011680"/>
          </a:xfrm>
          <a:prstGeom prst="rect">
            <a:avLst/>
          </a:prstGeom>
          <a:gradFill>
            <a:gsLst>
              <a:gs pos="0">
                <a:srgbClr val="FFC000"/>
              </a:gs>
              <a:gs pos="100000">
                <a:srgbClr val="7F3F00"/>
              </a:gs>
            </a:gsLst>
            <a:path path="rect">
              <a:fillToRect l="50000" t="50000" r="50000" b="50000"/>
            </a:path>
            <a:tileRect l="-50000" t="-50000" r="-50000" b="-50000"/>
          </a:gradFill>
        </p:spPr>
        <p:txBody>
          <a:bodyPr anchor="ctr"/>
          <a:lstStyle/>
          <a:p>
            <a:pPr algn="ctr"/>
            <a:r>
              <a:rPr lang="en-US" sz="1200" dirty="0"/>
              <a:t>path rect with tileRect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4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Fills: solid, alpha, linear and path gradients</dc:title>
  <dc:subject>pptx_engine test corpus</dc:subject>
  <dc:creator>pptx_engine corpus generator</dc:creator>
  <cp:keywords>fills, solid-fill, alpha, linear-gradient, path-gradient</cp:keywords>
  <dc:description>Solid fills with alpha overlap, linear gradients (2-5 stops, angles 0-315, scaled), rotWithShape, path gradients (circle/rect/shape) with fillToRect variants and tileRect, gradients with transparent stops.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