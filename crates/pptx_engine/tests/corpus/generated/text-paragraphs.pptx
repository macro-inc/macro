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Horizontal alignment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2712720" cy="253746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algn=l</a:t>
            </a:r>
            <a:endParaRPr lang="en-US" dirty="0"/>
          </a:p>
          <a:p>
            <a:pPr algn="l"/>
            <a:r>
              <a:rPr lang="en-US" sz="1400" dirty="0"/>
              <a:t>Revenue grew 12% year over year while operating costs stayed flat. Margins were steady across all regions.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215640" y="1371600"/>
            <a:ext cx="2712720" cy="253746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algn=ctr</a:t>
            </a:r>
            <a:endParaRPr lang="en-US" dirty="0"/>
          </a:p>
          <a:p>
            <a:pPr algn="ctr"/>
            <a:r>
              <a:rPr lang="en-US" sz="1400" dirty="0"/>
              <a:t>Revenue grew 12% year over year while operating costs stayed flat. Margins were steady across all regions.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065520" y="1371600"/>
            <a:ext cx="2712720" cy="253746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algn=r</a:t>
            </a:r>
            <a:endParaRPr lang="en-US" dirty="0"/>
          </a:p>
          <a:p>
            <a:pPr algn="r"/>
            <a:r>
              <a:rPr lang="en-US" sz="1400" dirty="0"/>
              <a:t>Revenue grew 12% year over year while operating costs stayed flat. Margins were steady across all regions.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365760" y="4046220"/>
            <a:ext cx="2712720" cy="253746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algn=just</a:t>
            </a:r>
            <a:endParaRPr lang="en-US" dirty="0"/>
          </a:p>
          <a:p>
            <a:pPr algn="just"/>
            <a:r>
              <a:rPr lang="en-US" sz="1400" dirty="0"/>
              <a:t>Revenue grew 12% year over year while operating costs stayed flat. Margins were steady across all regions.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3215640" y="4046220"/>
            <a:ext cx="2712720" cy="253746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algn=dist</a:t>
            </a:r>
            <a:endParaRPr lang="en-US" dirty="0"/>
          </a:p>
          <a:p>
            <a:pPr algn="dist"/>
            <a:r>
              <a:rPr lang="en-US" sz="1400" dirty="0"/>
              <a:t>Revenue grew 12% year over year while operating costs stayed flat. Margins were steady across all regions.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6065520" y="4046220"/>
            <a:ext cx="2712720" cy="253746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ctr"/>
            <a:r>
              <a:rPr lang="en-US" sz="1200" b="1" dirty="0">
                <a:solidFill>
                  <a:srgbClr val="C00000"/>
                </a:solidFill>
              </a:rPr>
              <a:t>algn=justLow</a:t>
            </a:r>
            <a:endParaRPr lang="en-US" dirty="0"/>
          </a:p>
          <a:p>
            <a:pPr algn="justLow"/>
            <a:r>
              <a:rPr lang="en-US" sz="1400" dirty="0"/>
              <a:t>Revenue grew 12% year over year while operating costs stayed flat. Margins were steady across all regions.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Vertical anchor and insets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200025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wrap="square" anchor="t" anchorCtr="0"/>
          <a:lstStyle/>
          <a:p>
            <a:pPr algn="l"/>
            <a:r>
              <a:rPr lang="en-US" sz="1400" dirty="0"/>
              <a:t>anchor=t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2503170" y="1371600"/>
            <a:ext cx="200025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wrap="square" anchor="ctr" anchorCtr="0"/>
          <a:lstStyle/>
          <a:p>
            <a:pPr algn="l"/>
            <a:r>
              <a:rPr lang="en-US" sz="1400" dirty="0"/>
              <a:t>anchor=ctr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4640580" y="1371600"/>
            <a:ext cx="200025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wrap="square" anchor="b" anchorCtr="0"/>
          <a:lstStyle/>
          <a:p>
            <a:pPr algn="l"/>
            <a:r>
              <a:rPr lang="en-US" sz="1400" dirty="0"/>
              <a:t>anchor=b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6777990" y="1371600"/>
            <a:ext cx="2000250" cy="2377440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</p:spPr>
        <p:txBody>
          <a:bodyPr wrap="square" anchor="t" anchorCtr="1"/>
          <a:lstStyle/>
          <a:p>
            <a:pPr algn="l"/>
            <a:r>
              <a:rPr lang="en-US" sz="1400" dirty="0"/>
              <a:t>anchor=t anchorCtr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365760" y="4023360"/>
            <a:ext cx="2712720" cy="2560320"/>
          </a:xfrm>
          <a:prstGeom prst="rect">
            <a:avLst/>
          </a:prstGeom>
          <a:solidFill>
            <a:srgbClr val="FFF2CC"/>
          </a:solidFill>
          <a:ln w="9525">
            <a:solidFill>
              <a:srgbClr val="C00000"/>
            </a:solidFill>
          </a:ln>
        </p:spPr>
        <p:txBody>
          <a:bodyPr wrap="square" lIns="0" tIns="0" rIns="0" bIns="0"/>
          <a:lstStyle/>
          <a:p>
            <a:r>
              <a:rPr lang="en-US" sz="1200" b="1" dirty="0"/>
              <a:t>insets l,t,r,b = (0, 0, 0, 0) in. </a:t>
            </a:r>
            <a:r>
              <a:rPr lang="en-US" sz="1200" dirty="0"/>
              <a:t>Revenue grew 12% year over year while operating costs stayed flat.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3215640" y="4023360"/>
            <a:ext cx="2712720" cy="2560320"/>
          </a:xfrm>
          <a:prstGeom prst="rect">
            <a:avLst/>
          </a:prstGeom>
          <a:solidFill>
            <a:srgbClr val="FFF2CC"/>
          </a:solidFill>
          <a:ln w="9525">
            <a:solidFill>
              <a:srgbClr val="C00000"/>
            </a:solidFill>
          </a:ln>
        </p:spPr>
        <p:txBody>
          <a:bodyPr wrap="square" lIns="91440" tIns="45720" rIns="91440" bIns="45720"/>
          <a:lstStyle/>
          <a:p>
            <a:r>
              <a:rPr lang="en-US" sz="1200" b="1" dirty="0"/>
              <a:t>insets l,t,r,b = (0.1, 0.05, 0.1, 0.05) in. </a:t>
            </a:r>
            <a:r>
              <a:rPr lang="en-US" sz="1200" dirty="0"/>
              <a:t>Revenue grew 12% year over year while operating costs stayed flat.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6065520" y="4023360"/>
            <a:ext cx="2712720" cy="2560320"/>
          </a:xfrm>
          <a:prstGeom prst="rect">
            <a:avLst/>
          </a:prstGeom>
          <a:solidFill>
            <a:srgbClr val="FFF2CC"/>
          </a:solidFill>
          <a:ln w="9525">
            <a:solidFill>
              <a:srgbClr val="C00000"/>
            </a:solidFill>
          </a:ln>
        </p:spPr>
        <p:txBody>
          <a:bodyPr wrap="square" lIns="548640" tIns="457200" rIns="182880" bIns="91440"/>
          <a:lstStyle/>
          <a:p>
            <a:r>
              <a:rPr lang="en-US" sz="1200" b="1" dirty="0"/>
              <a:t>insets l,t,r,b = (0.6, 0.5, 0.2, 0.1) in. </a:t>
            </a:r>
            <a:r>
              <a:rPr lang="en-US" sz="1200" dirty="0"/>
              <a:t>Revenue grew 12% year over year while operating costs stayed flat.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Line spacing and paragraph spacing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371600"/>
            <a:ext cx="2712720" cy="18973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spcPct 80%</a:t>
            </a:r>
            <a:endParaRPr lang="en-US" dirty="0"/>
          </a:p>
          <a:p>
            <a:pPr>
              <a:lnSpc>
                <a:spcPct val="80000"/>
              </a:lnSpc>
            </a:pPr>
            <a:r>
              <a:rPr lang="en-US" sz="1400" dirty="0"/>
              <a:t>Three lines of text show the line pitch clearly here.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215640" y="1371600"/>
            <a:ext cx="2712720" cy="18973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spcPct 100%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sz="1400" dirty="0"/>
              <a:t>Three lines of text show the line pitch clearly here.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065520" y="1371600"/>
            <a:ext cx="2712720" cy="18973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spcPct 150%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sz="1400" dirty="0"/>
              <a:t>Three lines of text show the line pitch clearly here.</a:t>
            </a:r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365760" y="3406140"/>
            <a:ext cx="2712720" cy="18973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spcPct 200%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sz="1400" dirty="0"/>
              <a:t>Three lines of text show the line pitch clearly here.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3215640" y="3406140"/>
            <a:ext cx="2712720" cy="18973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spcPts 12</a:t>
            </a:r>
            <a:endParaRPr lang="en-US" dirty="0"/>
          </a:p>
          <a:p>
            <a:pPr>
              <a:lnSpc>
                <a:spcPts val="1200"/>
              </a:lnSpc>
            </a:pPr>
            <a:r>
              <a:rPr lang="en-US" sz="1400" dirty="0"/>
              <a:t>Three lines of text show the line pitch clearly here.</a:t>
            </a:r>
            <a:endParaRPr lang="en-US" dirty="0"/>
          </a:p>
        </p:txBody>
      </p:sp>
      <p:sp>
        <p:nvSpPr>
          <p:cNvPr id="8" name="TextBox 8"/>
          <p:cNvSpPr txBox="1"/>
          <p:nvPr/>
        </p:nvSpPr>
        <p:spPr>
          <a:xfrm>
            <a:off x="6065520" y="3406140"/>
            <a:ext cx="2712720" cy="189738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100" b="1" dirty="0">
                <a:solidFill>
                  <a:srgbClr val="C00000"/>
                </a:solidFill>
              </a:rPr>
              <a:t>spcPts 30</a:t>
            </a:r>
            <a:endParaRPr lang="en-US" dirty="0"/>
          </a:p>
          <a:p>
            <a:pPr>
              <a:lnSpc>
                <a:spcPts val="3000"/>
              </a:lnSpc>
            </a:pPr>
            <a:r>
              <a:rPr lang="en-US" sz="1400" dirty="0"/>
              <a:t>Three lines of text show the line pitch clearly here.</a:t>
            </a:r>
            <a:endParaRPr lang="en-US" dirty="0"/>
          </a:p>
        </p:txBody>
      </p:sp>
      <p:sp>
        <p:nvSpPr>
          <p:cNvPr id="9" name="TextBox 9"/>
          <p:cNvSpPr txBox="1"/>
          <p:nvPr/>
        </p:nvSpPr>
        <p:spPr>
          <a:xfrm>
            <a:off x="365760" y="5486400"/>
            <a:ext cx="8412480" cy="118872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>
              <a:spcAft>
                <a:spcPts val="1200"/>
              </a:spcAft>
            </a:pPr>
            <a:r>
              <a:rPr lang="en-US" sz="1200" dirty="0"/>
              <a:t>spcBef 0 / spcAft 12pt</a:t>
            </a:r>
            <a:endParaRPr lang="en-US" dirty="0"/>
          </a:p>
          <a:p>
            <a:pPr>
              <a:spcBef>
                <a:spcPts val="1800"/>
              </a:spcBef>
            </a:pPr>
            <a:r>
              <a:rPr lang="en-US" sz="1200" dirty="0"/>
              <a:t>spcBef 18pt / spcAft 0</a:t>
            </a:r>
            <a:endParaRPr lang="en-US" dirty="0"/>
          </a:p>
          <a:p>
            <a:pPr>
              <a:spcBef>
                <a:spcPct val="50000"/>
              </a:spcBef>
            </a:pPr>
            <a:r>
              <a:rPr lang="en-US" sz="1200" dirty="0"/>
              <a:t>spcBef 50% of line (spcPct)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Indents, hanging indents and tab stops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4114800" cy="274320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r>
              <a:rPr lang="en-US" sz="1200" dirty="0"/>
              <a:t>marL 0, indent 0: Revenue grew 12% year over year while operating costs stayed flat.</a:t>
            </a:r>
            <a:endParaRPr lang="en-US" dirty="0"/>
          </a:p>
          <a:p>
            <a:pPr indent="457200"/>
            <a:r>
              <a:rPr lang="en-US" sz="1200" dirty="0"/>
              <a:t>First-line indent 0.5in: Revenue grew 12% year over year while operating costs stayed flat.</a:t>
            </a:r>
            <a:endParaRPr lang="en-US" dirty="0"/>
          </a:p>
          <a:p>
            <a:pPr marL="548640" indent="-548640"/>
            <a:r>
              <a:rPr lang="en-US" sz="1200" dirty="0"/>
              <a:t>Hanging: marL 0.6in indent -0.6in: Revenue grew 12% year over year while operating costs stayed flat.</a:t>
            </a:r>
            <a:endParaRPr lang="en-US" dirty="0"/>
          </a:p>
          <a:p>
            <a:pPr marL="1097280"/>
            <a:r>
              <a:rPr lang="en-US" sz="1200" dirty="0"/>
              <a:t>marL 1.2in: Revenue grew 12% year over year while operating costs stayed flat.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5760" y="4206240"/>
            <a:ext cx="8412480" cy="237744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>
              <a:tabLst>
                <a:tab pos="2377440" algn="l"/>
                <a:tab pos="4023360" algn="ctr"/>
                <a:tab pos="5669280" algn="r"/>
                <a:tab pos="7132320" algn="dec"/>
              </a:tabLst>
            </a:pPr>
            <a:r>
              <a:rPr lang="en-US" sz="1400" b="1" dirty="0"/>
              <a:t>Item</a:t>
            </a:r>
            <a:r>
              <a:rPr lang="en-US" sz="1400" b="1" dirty="0"/>
              <a:t>	Left</a:t>
            </a:r>
            <a:r>
              <a:rPr lang="en-US" sz="1400" b="1" dirty="0"/>
              <a:t>	Center</a:t>
            </a:r>
            <a:r>
              <a:rPr lang="en-US" sz="1400" b="1" dirty="0"/>
              <a:t>	Right</a:t>
            </a:r>
            <a:r>
              <a:rPr lang="en-US" sz="1400" b="1" dirty="0"/>
              <a:t>	Decimal</a:t>
            </a:r>
            <a:endParaRPr lang="en-US" dirty="0"/>
          </a:p>
          <a:p>
            <a:pPr>
              <a:tabLst>
                <a:tab pos="2377440" algn="l"/>
                <a:tab pos="4023360" algn="ctr"/>
                <a:tab pos="5669280" algn="r"/>
                <a:tab pos="7132320" algn="dec"/>
              </a:tabLst>
            </a:pPr>
            <a:r>
              <a:rPr lang="en-US" sz="1400" b="0" dirty="0"/>
              <a:t>Revenue</a:t>
            </a:r>
            <a:r>
              <a:rPr lang="en-US" sz="1400" b="0" dirty="0"/>
              <a:t>	North</a:t>
            </a:r>
            <a:r>
              <a:rPr lang="en-US" sz="1400" b="0" dirty="0"/>
              <a:t>	1,204</a:t>
            </a:r>
            <a:r>
              <a:rPr lang="en-US" sz="1400" b="0" dirty="0"/>
              <a:t>	12.5</a:t>
            </a:r>
            <a:r>
              <a:rPr lang="en-US" sz="1400" b="0" dirty="0"/>
              <a:t>	1,234.56</a:t>
            </a:r>
            <a:endParaRPr lang="en-US" dirty="0"/>
          </a:p>
          <a:p>
            <a:pPr>
              <a:tabLst>
                <a:tab pos="2377440" algn="l"/>
                <a:tab pos="4023360" algn="ctr"/>
                <a:tab pos="5669280" algn="r"/>
                <a:tab pos="7132320" algn="dec"/>
              </a:tabLst>
            </a:pPr>
            <a:r>
              <a:rPr lang="en-US" sz="1400" b="0" dirty="0"/>
              <a:t>Costs</a:t>
            </a:r>
            <a:r>
              <a:rPr lang="en-US" sz="1400" b="0" dirty="0"/>
              <a:t>	South</a:t>
            </a:r>
            <a:r>
              <a:rPr lang="en-US" sz="1400" b="0" dirty="0"/>
              <a:t>	98</a:t>
            </a:r>
            <a:r>
              <a:rPr lang="en-US" sz="1400" b="0" dirty="0"/>
              <a:t>	(3.75)</a:t>
            </a:r>
            <a:r>
              <a:rPr lang="en-US" sz="1400" b="0" dirty="0"/>
              <a:t>	(56.7)</a:t>
            </a:r>
            <a:endParaRPr lang="en-US" dirty="0"/>
          </a:p>
          <a:p>
            <a:pPr>
              <a:tabLst>
                <a:tab pos="2377440" algn="l"/>
                <a:tab pos="4023360" algn="ctr"/>
                <a:tab pos="5669280" algn="r"/>
                <a:tab pos="7132320" algn="dec"/>
              </a:tabLst>
            </a:pPr>
            <a:r>
              <a:rPr lang="en-US" sz="1400" b="0" dirty="0"/>
              <a:t>Margin</a:t>
            </a:r>
            <a:r>
              <a:rPr lang="en-US" sz="1400" b="0" dirty="0"/>
              <a:t>	West</a:t>
            </a:r>
            <a:r>
              <a:rPr lang="en-US" sz="1400" b="0" dirty="0"/>
              <a:t>	15,000</a:t>
            </a:r>
            <a:r>
              <a:rPr lang="en-US" sz="1400" b="0" dirty="0"/>
              <a:t>	0.5</a:t>
            </a:r>
            <a:r>
              <a:rPr lang="en-US" sz="1400" b="0" dirty="0"/>
              <a:t>	12.345</a:t>
            </a:r>
            <a:endParaRPr lang="en-US" dirty="0"/>
          </a:p>
          <a:p>
            <a:pPr defTabSz="228600"/>
            <a:r>
              <a:rPr lang="en-US" sz="1400" dirty="0"/>
              <a:t>defTabSz 0.25in:	a	b	c	d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4663440" y="1280160"/>
            <a:ext cx="4114800" cy="2743200"/>
          </a:xfrm>
          <a:prstGeom prst="rect">
            <a:avLst/>
          </a:prstGeom>
          <a:ln w="9525">
            <a:solidFill>
              <a:srgbClr val="7F7F7F"/>
            </a:solidFill>
          </a:ln>
        </p:spPr>
        <p:txBody>
          <a:bodyPr wrap="square"/>
          <a:lstStyle/>
          <a:p>
            <a:pPr algn="r" rtl="1"/>
            <a:r>
              <a:rPr lang="en-US" sz="1200" dirty="0"/>
              <a:t>RTL paragraph (rtl=1, algn=r): </a:t>
            </a:r>
            <a:r>
              <a:rPr lang="en-US" sz="1600" dirty="0">
                <a:cs typeface="Arial"/>
              </a:rPr>
              <a:t>עברית ותוכן</a:t>
            </a:r>
            <a:endParaRPr lang="en-US" dirty="0"/>
          </a:p>
          <a:p>
            <a:pPr algn="r"/>
            <a:r>
              <a:rPr lang="en-US" sz="1200" dirty="0"/>
              <a:t>Right-aligned LTR paragraph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Text: alignment, anchoring, insets, spacing, indents, tabs</dc:title>
  <dc:subject>pptx_engine test corpus</dc:subject>
  <dc:creator>pptx_engine corpus generator</dc:creator>
  <cp:keywords>text, alignment, vertical-anchor, insets, line-spacing, indents, tabs</cp:keywords>
  <dc:description>Paragraph alignment l/ctr/r/just/dist/justLow, vertical anchors with anchorCtr, insets, line spacing (80/100/150/200%, exact points), space before/after, hanging indents, tab stops (left/center/right/decimal) and long-text wrapping.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