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Bullet characters, fonts, colors and sizes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65760" y="1280160"/>
            <a:ext cx="8412480" cy="5394960"/>
          </a:xfrm>
          <a:prstGeom prst="rect">
            <a:avLst/>
          </a:prstGeom>
        </p:spPr>
        <p:txBody>
          <a:bodyPr wrap="square"/>
          <a:lstStyle/>
          <a:p>
            <a:pPr marL="320040" indent="-274320">
              <a:spcAft>
                <a:spcPts val="300"/>
              </a:spcAft>
              <a:buFont typeface="Arial"/>
              <a:buChar char="•"/>
            </a:pPr>
            <a:r>
              <a:rPr lang="en-US" sz="1400" dirty="0"/>
              <a:t>• Arial: Revenue grew 12% year over year while operating costs stayed flat.</a:t>
            </a:r>
            <a:endParaRPr lang="en-US" dirty="0"/>
          </a:p>
          <a:p>
            <a:pPr marL="320040" indent="-274320">
              <a:spcAft>
                <a:spcPts val="300"/>
              </a:spcAft>
              <a:buFont typeface="Arial"/>
              <a:buChar char="–"/>
            </a:pPr>
            <a:r>
              <a:rPr lang="en-US" sz="1400" dirty="0"/>
              <a:t>– en dash: Revenue grew 12% year over year while operating costs stayed flat.</a:t>
            </a:r>
            <a:endParaRPr lang="en-US" dirty="0"/>
          </a:p>
          <a:p>
            <a:pPr marL="320040" indent="-274320"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400" dirty="0"/>
              <a:t>Wingdings §: Revenue grew 12% year over year while operating costs stayed flat.</a:t>
            </a:r>
            <a:endParaRPr lang="en-US" dirty="0"/>
          </a:p>
          <a:p>
            <a:pPr marL="320040" indent="-274320">
              <a:spcAft>
                <a:spcPts val="300"/>
              </a:spcAft>
              <a:buFont typeface="Wingdings" pitchFamily="2" charset="2"/>
              <a:buChar char="Ø"/>
            </a:pPr>
            <a:r>
              <a:rPr lang="en-US" sz="1400" dirty="0"/>
              <a:t>Wingdings Ø: Revenue grew 12% year over year while operating costs stayed flat.</a:t>
            </a:r>
            <a:endParaRPr lang="en-US" dirty="0"/>
          </a:p>
          <a:p>
            <a:pPr marL="320040" indent="-274320">
              <a:spcAft>
                <a:spcPts val="300"/>
              </a:spcAft>
              <a:buFont typeface="Wingdings" pitchFamily="2" charset="2"/>
              <a:buChar char="ü"/>
            </a:pPr>
            <a:r>
              <a:rPr lang="en-US" sz="1400" dirty="0"/>
              <a:t>Wingdings ü (check): Revenue grew 12% year over year while operating costs stayed flat.</a:t>
            </a:r>
            <a:endParaRPr lang="en-US" dirty="0"/>
          </a:p>
          <a:p>
            <a:pPr marL="320040" indent="-274320">
              <a:spcAft>
                <a:spcPts val="300"/>
              </a:spcAft>
              <a:buFont typeface="Symbol" pitchFamily="18" charset="2"/>
              <a:buChar char="·"/>
            </a:pPr>
            <a:r>
              <a:rPr lang="en-US" sz="1400" dirty="0"/>
              <a:t>Symbol ·: Revenue grew 12% year over year while operating costs stayed flat.</a:t>
            </a:r>
            <a:endParaRPr lang="en-US" dirty="0"/>
          </a:p>
          <a:p>
            <a:pPr marL="320040" indent="-274320">
              <a:spcAft>
                <a:spcPts val="300"/>
              </a:spcAft>
              <a:buClr>
                <a:schemeClr val="accent2"/>
              </a:buClr>
              <a:buFont typeface="Arial"/>
              <a:buChar char="■"/>
            </a:pPr>
            <a:r>
              <a:rPr lang="en-US" sz="1400" dirty="0"/>
              <a:t>buClr accent2: Revenue grew 12% year over year while operating costs stayed flat.</a:t>
            </a:r>
            <a:endParaRPr lang="en-US" dirty="0"/>
          </a:p>
          <a:p>
            <a:pPr marL="320040" indent="-274320">
              <a:spcAft>
                <a:spcPts val="300"/>
              </a:spcAft>
              <a:buSzPct val="50000"/>
              <a:buFont typeface="Arial"/>
              <a:buChar char="●"/>
            </a:pPr>
            <a:r>
              <a:rPr lang="en-US" sz="1400" dirty="0"/>
              <a:t>buSzPct 50%: Revenue grew 12% year over year while operating costs stayed flat.</a:t>
            </a:r>
            <a:endParaRPr lang="en-US" dirty="0"/>
          </a:p>
          <a:p>
            <a:pPr marL="320040" indent="-274320">
              <a:spcAft>
                <a:spcPts val="300"/>
              </a:spcAft>
              <a:buClr>
                <a:srgbClr val="C00000"/>
              </a:buClr>
              <a:buSzPct val="150000"/>
              <a:buFont typeface="Arial"/>
              <a:buChar char="●"/>
            </a:pPr>
            <a:r>
              <a:rPr lang="en-US" sz="1400" dirty="0"/>
              <a:t>buSzPct 150% red: Revenue grew 12% year over year while operating costs stayed flat.</a:t>
            </a:r>
            <a:endParaRPr lang="en-US" dirty="0"/>
          </a:p>
          <a:p>
            <a:pPr marL="320040" indent="-274320">
              <a:spcAft>
                <a:spcPts val="300"/>
              </a:spcAft>
              <a:buSzPts val="2400"/>
              <a:buFont typeface="Arial"/>
              <a:buChar char="◆"/>
            </a:pPr>
            <a:r>
              <a:rPr lang="en-US" sz="1400" dirty="0"/>
              <a:t>buSzPts 24: Revenue grew 12% year over year while operating costs stayed flat.</a:t>
            </a:r>
            <a:endParaRPr lang="en-US" dirty="0"/>
          </a:p>
          <a:p>
            <a:pPr marL="320040" indent="-274320">
              <a:spcAft>
                <a:spcPts val="300"/>
              </a:spcAft>
              <a:buNone/>
            </a:pPr>
            <a:r>
              <a:rPr lang="en-US" sz="1400" dirty="0"/>
              <a:t>buNone (marL kept): Revenue grew 12% year over year while operating costs stayed flat.</a:t>
            </a:r>
            <a:endParaRPr lang="en-US" dirty="0"/>
          </a:p>
          <a:p>
            <a:pPr marL="320040" indent="-274320">
              <a:buSzPct val="120000"/>
              <a:buBlip>
                <a:blip r:embed="rId2"/>
              </a:buBlip>
            </a:pPr>
            <a:r>
              <a:rPr lang="en-US" sz="1400" dirty="0"/>
              <a:t>Picture bullet (buBlip)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Automatic numbering schemes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65760" y="1371600"/>
            <a:ext cx="2000250" cy="2491740"/>
          </a:xfrm>
          <a:prstGeom prst="rect">
            <a:avLst/>
          </a:prstGeom>
          <a:ln w="9525">
            <a:solidFill>
              <a:srgbClr val="BFBFBF"/>
            </a:solidFill>
          </a:ln>
        </p:spPr>
        <p:txBody>
          <a:bodyPr wrap="square"/>
          <a:lstStyle/>
          <a:p>
            <a:r>
              <a:rPr lang="en-US" sz="1100" b="1" dirty="0">
                <a:solidFill>
                  <a:srgbClr val="C00000"/>
                </a:solidFill>
              </a:rPr>
              <a:t>arabicPeriod</a:t>
            </a:r>
            <a:endParaRPr lang="en-US" dirty="0"/>
          </a:p>
          <a:p>
            <a:pPr marL="365760" indent="-365760">
              <a:buAutoNum type="arabicPeriod"/>
            </a:pPr>
            <a:r>
              <a:rPr lang="en-US" sz="1400" dirty="0"/>
              <a:t>Revenue</a:t>
            </a:r>
            <a:endParaRPr lang="en-US" dirty="0"/>
          </a:p>
          <a:p>
            <a:pPr marL="365760" indent="-365760">
              <a:buAutoNum type="arabicPeriod"/>
            </a:pPr>
            <a:r>
              <a:rPr lang="en-US" sz="1400" dirty="0"/>
              <a:t>Costs</a:t>
            </a:r>
            <a:endParaRPr lang="en-US" dirty="0"/>
          </a:p>
          <a:p>
            <a:pPr marL="365760" indent="-365760">
              <a:buAutoNum type="arabicPeriod"/>
            </a:pPr>
            <a:r>
              <a:rPr lang="en-US" sz="1400" dirty="0"/>
              <a:t>Profit</a:t>
            </a:r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2503170" y="1371600"/>
            <a:ext cx="2000250" cy="2491740"/>
          </a:xfrm>
          <a:prstGeom prst="rect">
            <a:avLst/>
          </a:prstGeom>
          <a:ln w="9525">
            <a:solidFill>
              <a:srgbClr val="BFBFBF"/>
            </a:solidFill>
          </a:ln>
        </p:spPr>
        <p:txBody>
          <a:bodyPr wrap="square"/>
          <a:lstStyle/>
          <a:p>
            <a:r>
              <a:rPr lang="en-US" sz="1100" b="1" dirty="0">
                <a:solidFill>
                  <a:srgbClr val="C00000"/>
                </a:solidFill>
              </a:rPr>
              <a:t>arabicParenR</a:t>
            </a:r>
            <a:endParaRPr lang="en-US" dirty="0"/>
          </a:p>
          <a:p>
            <a:pPr marL="365760" indent="-365760">
              <a:buAutoNum type="arabicParenR"/>
            </a:pPr>
            <a:r>
              <a:rPr lang="en-US" sz="1400" dirty="0"/>
              <a:t>Revenue</a:t>
            </a:r>
            <a:endParaRPr lang="en-US" dirty="0"/>
          </a:p>
          <a:p>
            <a:pPr marL="365760" indent="-365760">
              <a:buAutoNum type="arabicParenR"/>
            </a:pPr>
            <a:r>
              <a:rPr lang="en-US" sz="1400" dirty="0"/>
              <a:t>Costs</a:t>
            </a:r>
            <a:endParaRPr lang="en-US" dirty="0"/>
          </a:p>
          <a:p>
            <a:pPr marL="365760" indent="-365760">
              <a:buAutoNum type="arabicParenR"/>
            </a:pPr>
            <a:r>
              <a:rPr lang="en-US" sz="1400" dirty="0"/>
              <a:t>Profit</a:t>
            </a:r>
            <a:endParaRPr 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4640580" y="1371600"/>
            <a:ext cx="2000250" cy="2491740"/>
          </a:xfrm>
          <a:prstGeom prst="rect">
            <a:avLst/>
          </a:prstGeom>
          <a:ln w="9525">
            <a:solidFill>
              <a:srgbClr val="BFBFBF"/>
            </a:solidFill>
          </a:ln>
        </p:spPr>
        <p:txBody>
          <a:bodyPr wrap="square"/>
          <a:lstStyle/>
          <a:p>
            <a:r>
              <a:rPr lang="en-US" sz="1100" b="1" dirty="0">
                <a:solidFill>
                  <a:srgbClr val="C00000"/>
                </a:solidFill>
              </a:rPr>
              <a:t>arabicParenBoth</a:t>
            </a:r>
            <a:endParaRPr lang="en-US" dirty="0"/>
          </a:p>
          <a:p>
            <a:pPr marL="365760" indent="-365760">
              <a:buAutoNum type="arabicParenBoth"/>
            </a:pPr>
            <a:r>
              <a:rPr lang="en-US" sz="1400" dirty="0"/>
              <a:t>Revenue</a:t>
            </a:r>
            <a:endParaRPr lang="en-US" dirty="0"/>
          </a:p>
          <a:p>
            <a:pPr marL="365760" indent="-365760">
              <a:buAutoNum type="arabicParenBoth"/>
            </a:pPr>
            <a:r>
              <a:rPr lang="en-US" sz="1400" dirty="0"/>
              <a:t>Costs</a:t>
            </a:r>
            <a:endParaRPr lang="en-US" dirty="0"/>
          </a:p>
          <a:p>
            <a:pPr marL="365760" indent="-365760">
              <a:buAutoNum type="arabicParenBoth"/>
            </a:pPr>
            <a:r>
              <a:rPr lang="en-US" sz="1400" dirty="0"/>
              <a:t>Profit</a:t>
            </a:r>
            <a:endParaRPr lang="en-US" dirty="0"/>
          </a:p>
        </p:txBody>
      </p:sp>
      <p:sp>
        <p:nvSpPr>
          <p:cNvPr id="6" name="TextBox 6"/>
          <p:cNvSpPr txBox="1"/>
          <p:nvPr/>
        </p:nvSpPr>
        <p:spPr>
          <a:xfrm>
            <a:off x="6777990" y="1371600"/>
            <a:ext cx="2000250" cy="2491740"/>
          </a:xfrm>
          <a:prstGeom prst="rect">
            <a:avLst/>
          </a:prstGeom>
          <a:ln w="9525">
            <a:solidFill>
              <a:srgbClr val="BFBFBF"/>
            </a:solidFill>
          </a:ln>
        </p:spPr>
        <p:txBody>
          <a:bodyPr wrap="square"/>
          <a:lstStyle/>
          <a:p>
            <a:r>
              <a:rPr lang="en-US" sz="1100" b="1" dirty="0">
                <a:solidFill>
                  <a:srgbClr val="C00000"/>
                </a:solidFill>
              </a:rPr>
              <a:t>romanUcPeriod</a:t>
            </a:r>
            <a:endParaRPr lang="en-US" dirty="0"/>
          </a:p>
          <a:p>
            <a:pPr marL="365760" indent="-365760">
              <a:buAutoNum type="romanUcPeriod"/>
            </a:pPr>
            <a:r>
              <a:rPr lang="en-US" sz="1400" dirty="0"/>
              <a:t>Revenue</a:t>
            </a:r>
            <a:endParaRPr lang="en-US" dirty="0"/>
          </a:p>
          <a:p>
            <a:pPr marL="365760" indent="-365760">
              <a:buAutoNum type="romanUcPeriod"/>
            </a:pPr>
            <a:r>
              <a:rPr lang="en-US" sz="1400" dirty="0"/>
              <a:t>Costs</a:t>
            </a:r>
            <a:endParaRPr lang="en-US" dirty="0"/>
          </a:p>
          <a:p>
            <a:pPr marL="365760" indent="-365760">
              <a:buAutoNum type="romanUcPeriod"/>
            </a:pPr>
            <a:r>
              <a:rPr lang="en-US" sz="1400" dirty="0"/>
              <a:t>Profit</a:t>
            </a:r>
            <a:endParaRPr lang="en-US" dirty="0"/>
          </a:p>
        </p:txBody>
      </p:sp>
      <p:sp>
        <p:nvSpPr>
          <p:cNvPr id="7" name="TextBox 7"/>
          <p:cNvSpPr txBox="1"/>
          <p:nvPr/>
        </p:nvSpPr>
        <p:spPr>
          <a:xfrm>
            <a:off x="365760" y="4000500"/>
            <a:ext cx="2000250" cy="2491740"/>
          </a:xfrm>
          <a:prstGeom prst="rect">
            <a:avLst/>
          </a:prstGeom>
          <a:ln w="9525">
            <a:solidFill>
              <a:srgbClr val="BFBFBF"/>
            </a:solidFill>
          </a:ln>
        </p:spPr>
        <p:txBody>
          <a:bodyPr wrap="square"/>
          <a:lstStyle/>
          <a:p>
            <a:r>
              <a:rPr lang="en-US" sz="1100" b="1" dirty="0">
                <a:solidFill>
                  <a:srgbClr val="C00000"/>
                </a:solidFill>
              </a:rPr>
              <a:t>romanLcPeriod</a:t>
            </a:r>
            <a:endParaRPr lang="en-US" dirty="0"/>
          </a:p>
          <a:p>
            <a:pPr marL="365760" indent="-365760">
              <a:buAutoNum type="romanLcPeriod"/>
            </a:pPr>
            <a:r>
              <a:rPr lang="en-US" sz="1400" dirty="0"/>
              <a:t>Revenue</a:t>
            </a:r>
            <a:endParaRPr lang="en-US" dirty="0"/>
          </a:p>
          <a:p>
            <a:pPr marL="365760" indent="-365760">
              <a:buAutoNum type="romanLcPeriod"/>
            </a:pPr>
            <a:r>
              <a:rPr lang="en-US" sz="1400" dirty="0"/>
              <a:t>Costs</a:t>
            </a:r>
            <a:endParaRPr lang="en-US" dirty="0"/>
          </a:p>
          <a:p>
            <a:pPr marL="365760" indent="-365760">
              <a:buAutoNum type="romanLcPeriod"/>
            </a:pPr>
            <a:r>
              <a:rPr lang="en-US" sz="1400" dirty="0"/>
              <a:t>Profit</a:t>
            </a:r>
            <a:endParaRPr lang="en-US" dirty="0"/>
          </a:p>
        </p:txBody>
      </p:sp>
      <p:sp>
        <p:nvSpPr>
          <p:cNvPr id="8" name="TextBox 8"/>
          <p:cNvSpPr txBox="1"/>
          <p:nvPr/>
        </p:nvSpPr>
        <p:spPr>
          <a:xfrm>
            <a:off x="2503170" y="4000500"/>
            <a:ext cx="2000250" cy="2491740"/>
          </a:xfrm>
          <a:prstGeom prst="rect">
            <a:avLst/>
          </a:prstGeom>
          <a:ln w="9525">
            <a:solidFill>
              <a:srgbClr val="BFBFBF"/>
            </a:solidFill>
          </a:ln>
        </p:spPr>
        <p:txBody>
          <a:bodyPr wrap="square"/>
          <a:lstStyle/>
          <a:p>
            <a:r>
              <a:rPr lang="en-US" sz="1100" b="1" dirty="0">
                <a:solidFill>
                  <a:srgbClr val="C00000"/>
                </a:solidFill>
              </a:rPr>
              <a:t>alphaLcParenR</a:t>
            </a:r>
            <a:endParaRPr lang="en-US" dirty="0"/>
          </a:p>
          <a:p>
            <a:pPr marL="365760" indent="-365760">
              <a:buAutoNum type="alphaLcParenR"/>
            </a:pPr>
            <a:r>
              <a:rPr lang="en-US" sz="1400" dirty="0"/>
              <a:t>Revenue</a:t>
            </a:r>
            <a:endParaRPr lang="en-US" dirty="0"/>
          </a:p>
          <a:p>
            <a:pPr marL="365760" indent="-365760">
              <a:buAutoNum type="alphaLcParenR"/>
            </a:pPr>
            <a:r>
              <a:rPr lang="en-US" sz="1400" dirty="0"/>
              <a:t>Costs</a:t>
            </a:r>
            <a:endParaRPr lang="en-US" dirty="0"/>
          </a:p>
          <a:p>
            <a:pPr marL="365760" indent="-365760">
              <a:buAutoNum type="alphaLcParenR"/>
            </a:pPr>
            <a:r>
              <a:rPr lang="en-US" sz="1400" dirty="0"/>
              <a:t>Profit</a:t>
            </a:r>
            <a:endParaRPr lang="en-US" dirty="0"/>
          </a:p>
        </p:txBody>
      </p:sp>
      <p:sp>
        <p:nvSpPr>
          <p:cNvPr id="9" name="TextBox 9"/>
          <p:cNvSpPr txBox="1"/>
          <p:nvPr/>
        </p:nvSpPr>
        <p:spPr>
          <a:xfrm>
            <a:off x="4640580" y="4000500"/>
            <a:ext cx="2000250" cy="2491740"/>
          </a:xfrm>
          <a:prstGeom prst="rect">
            <a:avLst/>
          </a:prstGeom>
          <a:ln w="9525">
            <a:solidFill>
              <a:srgbClr val="BFBFBF"/>
            </a:solidFill>
          </a:ln>
        </p:spPr>
        <p:txBody>
          <a:bodyPr wrap="square"/>
          <a:lstStyle/>
          <a:p>
            <a:r>
              <a:rPr lang="en-US" sz="1100" b="1" dirty="0">
                <a:solidFill>
                  <a:srgbClr val="C00000"/>
                </a:solidFill>
              </a:rPr>
              <a:t>alphaUcPeriod</a:t>
            </a:r>
            <a:endParaRPr lang="en-US" dirty="0"/>
          </a:p>
          <a:p>
            <a:pPr marL="365760" indent="-365760">
              <a:buAutoNum type="alphaUcPeriod"/>
            </a:pPr>
            <a:r>
              <a:rPr lang="en-US" sz="1400" dirty="0"/>
              <a:t>Revenue</a:t>
            </a:r>
            <a:endParaRPr lang="en-US" dirty="0"/>
          </a:p>
          <a:p>
            <a:pPr marL="365760" indent="-365760">
              <a:buAutoNum type="alphaUcPeriod"/>
            </a:pPr>
            <a:r>
              <a:rPr lang="en-US" sz="1400" dirty="0"/>
              <a:t>Costs</a:t>
            </a:r>
            <a:endParaRPr lang="en-US" dirty="0"/>
          </a:p>
          <a:p>
            <a:pPr marL="365760" indent="-365760">
              <a:buAutoNum type="alphaUcPeriod"/>
            </a:pPr>
            <a:r>
              <a:rPr lang="en-US" sz="1400" dirty="0"/>
              <a:t>Profit</a:t>
            </a:r>
            <a:endParaRPr lang="en-US" dirty="0"/>
          </a:p>
        </p:txBody>
      </p:sp>
      <p:sp>
        <p:nvSpPr>
          <p:cNvPr id="10" name="TextBox 10"/>
          <p:cNvSpPr txBox="1"/>
          <p:nvPr/>
        </p:nvSpPr>
        <p:spPr>
          <a:xfrm>
            <a:off x="6777990" y="4000500"/>
            <a:ext cx="2000250" cy="2491740"/>
          </a:xfrm>
          <a:prstGeom prst="rect">
            <a:avLst/>
          </a:prstGeom>
          <a:ln w="9525">
            <a:solidFill>
              <a:srgbClr val="BFBFBF"/>
            </a:solidFill>
          </a:ln>
        </p:spPr>
        <p:txBody>
          <a:bodyPr wrap="square"/>
          <a:lstStyle/>
          <a:p>
            <a:r>
              <a:rPr lang="en-US" sz="1100" b="1" dirty="0">
                <a:solidFill>
                  <a:srgbClr val="C00000"/>
                </a:solidFill>
              </a:rPr>
              <a:t>arabicPeriod startAt=5</a:t>
            </a:r>
            <a:endParaRPr lang="en-US" dirty="0"/>
          </a:p>
          <a:p>
            <a:pPr marL="365760" indent="-365760">
              <a:buAutoNum type="arabicPeriod" startAt="5"/>
            </a:pPr>
            <a:r>
              <a:rPr lang="en-US" sz="1400" dirty="0"/>
              <a:t>Revenue</a:t>
            </a:r>
            <a:endParaRPr lang="en-US" dirty="0"/>
          </a:p>
          <a:p>
            <a:pPr marL="365760" indent="-365760">
              <a:buAutoNum type="arabicPeriod" startAt="5"/>
            </a:pPr>
            <a:r>
              <a:rPr lang="en-US" sz="1400" dirty="0"/>
              <a:t>Costs</a:t>
            </a:r>
            <a:endParaRPr lang="en-US" dirty="0"/>
          </a:p>
          <a:p>
            <a:pPr marL="365760" indent="-365760">
              <a:buAutoNum type="arabicPeriod" startAt="5"/>
            </a:pPr>
            <a:r>
              <a:rPr lang="en-US" sz="1400" dirty="0"/>
              <a:t>Profit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Five levels inherited from the master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Level 1 (master lvl1pPr)</a:t>
            </a:r>
          </a:p>
          <a:p>
            <a:pPr lvl="1"/>
            <a:r>
              <a:t>Level 2 (master lvl2pPr)</a:t>
            </a:r>
          </a:p>
          <a:p>
            <a:pPr lvl="2"/>
            <a:r>
              <a:t>Level 3 (master lvl3pPr)</a:t>
            </a:r>
          </a:p>
          <a:p>
            <a:pPr lvl="3"/>
            <a:r>
              <a:t>Level 4 (master lvl4pPr)</a:t>
            </a:r>
          </a:p>
          <a:p>
            <a:pPr lvl="4"/>
            <a:r>
              <a:t>Level 5 (master lvl5pPr)</a:t>
            </a:r>
          </a:p>
          <a:p>
            <a:r>
              <a:t>Back to level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Five levels with a custom list style and numbering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65760" y="1280160"/>
            <a:ext cx="8412480" cy="5394960"/>
          </a:xfrm>
          <a:prstGeom prst="rect">
            <a:avLst/>
          </a:prstGeom>
        </p:spPr>
        <p:txBody>
          <a:bodyPr wrap="square"/>
          <a:lstStyle>
            <a:lvl1pPr marL="320040" indent="-274320">
              <a:buClr>
                <a:srgbClr val="C00000"/>
              </a:buClr>
              <a:buAutoNum type="arabicPeriod"/>
              <a:defRPr sz="2000"/>
            </a:lvl1pPr>
            <a:lvl2pPr marL="731520" indent="-274320">
              <a:buFont typeface="Arial"/>
              <a:buChar char="–"/>
              <a:defRPr sz="1800"/>
            </a:lvl2pPr>
            <a:lvl3pPr marL="1143000" indent="-274320">
              <a:buAutoNum type="alphaLcParenR"/>
              <a:defRPr sz="1600"/>
            </a:lvl3pPr>
            <a:lvl4pPr marL="1554480" indent="-274320">
              <a:buClr>
                <a:schemeClr val="accent1"/>
              </a:buClr>
              <a:buFont typeface="Arial"/>
              <a:buChar char="»"/>
              <a:defRPr sz="1400"/>
            </a:lvl4pPr>
            <a:lvl5pPr marL="1965960" indent="-274320">
              <a:buAutoNum type="romanLcPeriod"/>
              <a:defRPr sz="1200"/>
            </a:lvl5pPr>
          </a:lstStyle>
          <a:p>
            <a:r>
              <a:rPr lang="en-US" dirty="0"/>
              <a:t>First item</a:t>
            </a:r>
            <a:endParaRPr lang="en-US" dirty="0"/>
          </a:p>
          <a:p>
            <a:pPr lvl="1"/>
            <a:r>
              <a:rPr lang="en-US" dirty="0"/>
              <a:t>Detail a</a:t>
            </a:r>
            <a:endParaRPr lang="en-US" dirty="0"/>
          </a:p>
          <a:p>
            <a:pPr lvl="1"/>
            <a:r>
              <a:rPr lang="en-US" dirty="0"/>
              <a:t>Detail b</a:t>
            </a:r>
            <a:endParaRPr lang="en-US" dirty="0"/>
          </a:p>
          <a:p>
            <a:pPr lvl="2"/>
            <a:r>
              <a:rPr lang="en-US" dirty="0"/>
              <a:t>Sub-detail</a:t>
            </a:r>
            <a:endParaRPr lang="en-US" dirty="0"/>
          </a:p>
          <a:p>
            <a:pPr lvl="2"/>
            <a:r>
              <a:rPr lang="en-US" dirty="0"/>
              <a:t>Sub-detail</a:t>
            </a:r>
            <a:endParaRPr lang="en-US" dirty="0"/>
          </a:p>
          <a:p>
            <a:pPr lvl="3"/>
            <a:r>
              <a:rPr lang="en-US" dirty="0"/>
              <a:t>Deep point</a:t>
            </a:r>
            <a:endParaRPr lang="en-US" dirty="0"/>
          </a:p>
          <a:p>
            <a:pPr lvl="4"/>
            <a:r>
              <a:rPr lang="en-US" dirty="0"/>
              <a:t>Deepest</a:t>
            </a:r>
            <a:endParaRPr lang="en-US" dirty="0"/>
          </a:p>
          <a:p>
            <a:pPr lvl="4"/>
            <a:r>
              <a:rPr lang="en-US" dirty="0"/>
              <a:t>Deepest</a:t>
            </a:r>
            <a:endParaRPr lang="en-US" dirty="0"/>
          </a:p>
          <a:p>
            <a:r>
              <a:rPr lang="en-US" dirty="0"/>
              <a:t>Second item (numbering continues)</a:t>
            </a:r>
            <a:endParaRPr lang="en-US" dirty="0"/>
          </a:p>
          <a:p>
            <a:pPr lvl="1"/>
            <a:r>
              <a:rPr lang="en-US" dirty="0"/>
              <a:t>Detail restarts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pptx_engine corpus generator (python-pptx 1.0.2)</Application>
  <PresentationFormat>On-screen Show (4:3)</PresentationFormat>
  <Slides>4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Text: bullets and automatic numbering</dc:title>
  <dc:subject>pptx_engine test corpus</dc:subject>
  <dc:creator>pptx_engine corpus generator</dc:creator>
  <cp:keywords>text, bullets, autonumber, picture-bullet, list-levels</cp:keywords>
  <dc:description>buChar with Arial/Wingdings/Symbol fonts, bullet color and size (pct/pts), buNone, picture bullet, buAutoNum schemes with startAt, and 5-level lists from the master body style and from a custom list style.</dc:description>
  <cp:lastModifiedBy>pptx_engine corpus generator</cp:lastModifiedBy>
  <cp:revision>1</cp:revision>
  <dcterms:created xsi:type="dcterms:W3CDTF">2024-01-01T00:00:00Z</dcterms:created>
  <dcterms:modified xsi:type="dcterms:W3CDTF">2024-01-01T00:00:00Z</dcterms:modified>
</cp:coreProperties>
</file>