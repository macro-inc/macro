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custGeom path commands</a:t>
            </a:r>
          </a:p>
        </p:txBody>
      </p:sp>
      <p:sp>
        <p:nvSpPr>
          <p:cNvPr id="3" name="moveTo/lnTo/close"/>
          <p:cNvSpPr/>
          <p:nvPr/>
        </p:nvSpPr>
        <p:spPr>
          <a:xfrm>
            <a:off x="365760" y="137160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50" y="0"/>
                </a:moveTo>
                <a:lnTo>
                  <a:pt x="100" y="45"/>
                </a:lnTo>
                <a:lnTo>
                  <a:pt x="85" y="45"/>
                </a:lnTo>
                <a:lnTo>
                  <a:pt x="85" y="100"/>
                </a:lnTo>
                <a:lnTo>
                  <a:pt x="15" y="100"/>
                </a:lnTo>
                <a:lnTo>
                  <a:pt x="15" y="45"/>
                </a:lnTo>
                <a:lnTo>
                  <a:pt x="0" y="45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4" name="TextBox 4"/>
          <p:cNvSpPr txBox="1"/>
          <p:nvPr/>
        </p:nvSpPr>
        <p:spPr>
          <a:xfrm>
            <a:off x="365760" y="338328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moveTo/lnTo/close</a:t>
            </a:r>
            <a:endParaRPr lang="en-US" dirty="0"/>
          </a:p>
        </p:txBody>
      </p:sp>
      <p:sp>
        <p:nvSpPr>
          <p:cNvPr id="5" name="cubicBezTo"/>
          <p:cNvSpPr/>
          <p:nvPr/>
        </p:nvSpPr>
        <p:spPr>
          <a:xfrm>
            <a:off x="2537460" y="137160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400" h="100">
                <a:moveTo>
                  <a:pt x="0" y="50"/>
                </a:moveTo>
                <a:cubicBezTo>
                  <a:pt x="100" y="-30"/>
                  <a:pt x="100" y="130"/>
                  <a:pt x="200" y="50"/>
                </a:cubicBezTo>
                <a:cubicBezTo>
                  <a:pt x="300" y="-30"/>
                  <a:pt x="300" y="130"/>
                  <a:pt x="400" y="50"/>
                </a:cubicBezTo>
                <a:lnTo>
                  <a:pt x="400" y="100"/>
                </a:lnTo>
                <a:lnTo>
                  <a:pt x="0" y="10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6" name="TextBox 6"/>
          <p:cNvSpPr txBox="1"/>
          <p:nvPr/>
        </p:nvSpPr>
        <p:spPr>
          <a:xfrm>
            <a:off x="2537460" y="338328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cubicBezTo</a:t>
            </a:r>
            <a:endParaRPr lang="en-US" dirty="0"/>
          </a:p>
        </p:txBody>
      </p:sp>
      <p:sp>
        <p:nvSpPr>
          <p:cNvPr id="7" name="quadBezTo"/>
          <p:cNvSpPr/>
          <p:nvPr/>
        </p:nvSpPr>
        <p:spPr>
          <a:xfrm>
            <a:off x="4709160" y="137160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200" h="200">
                <a:moveTo>
                  <a:pt x="0" y="200"/>
                </a:moveTo>
                <a:quadBezTo>
                  <a:pt x="100" y="-150"/>
                  <a:pt x="200" y="200"/>
                </a:quadBez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8" name="TextBox 8"/>
          <p:cNvSpPr txBox="1"/>
          <p:nvPr/>
        </p:nvSpPr>
        <p:spPr>
          <a:xfrm>
            <a:off x="4709160" y="338328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quadBezTo</a:t>
            </a:r>
            <a:endParaRPr lang="en-US" dirty="0"/>
          </a:p>
        </p:txBody>
      </p:sp>
      <p:sp>
        <p:nvSpPr>
          <p:cNvPr id="9" name="arcTo tab"/>
          <p:cNvSpPr/>
          <p:nvPr/>
        </p:nvSpPr>
        <p:spPr>
          <a:xfrm>
            <a:off x="6880860" y="137160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300" h="200">
                <a:moveTo>
                  <a:pt x="0" y="200"/>
                </a:moveTo>
                <a:lnTo>
                  <a:pt x="0" y="50"/>
                </a:lnTo>
                <a:arcTo wR="50" hR="50" stAng="10800000" swAng="5400000"/>
                <a:lnTo>
                  <a:pt x="250" y="0"/>
                </a:lnTo>
                <a:arcTo wR="50" hR="50" stAng="16200000" swAng="5400000"/>
                <a:lnTo>
                  <a:pt x="300" y="20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10" name="TextBox 10"/>
          <p:cNvSpPr txBox="1"/>
          <p:nvPr/>
        </p:nvSpPr>
        <p:spPr>
          <a:xfrm>
            <a:off x="6880860" y="338328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arcTo tab</a:t>
            </a:r>
            <a:endParaRPr lang="en-US" dirty="0"/>
          </a:p>
        </p:txBody>
      </p:sp>
      <p:sp>
        <p:nvSpPr>
          <p:cNvPr id="11" name="3 paths: plain/darken/lightenLess"/>
          <p:cNvSpPr/>
          <p:nvPr/>
        </p:nvSpPr>
        <p:spPr>
          <a:xfrm>
            <a:off x="365760" y="416052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200" h="200">
                <a:moveTo>
                  <a:pt x="100" y="100"/>
                </a:moveTo>
                <a:lnTo>
                  <a:pt x="200" y="100"/>
                </a:lnTo>
                <a:arcTo wR="100" hR="100" stAng="0" swAng="8100000"/>
                <a:close/>
              </a:path>
              <a:path w="200" h="200" fill="darken">
                <a:moveTo>
                  <a:pt x="100" y="100"/>
                </a:moveTo>
                <a:lnTo>
                  <a:pt x="29" y="171"/>
                </a:lnTo>
                <a:arcTo wR="100" hR="100" stAng="8100000" swAng="8100000"/>
                <a:close/>
              </a:path>
              <a:path w="200" h="200" fill="lightenLess">
                <a:moveTo>
                  <a:pt x="100" y="100"/>
                </a:moveTo>
                <a:lnTo>
                  <a:pt x="100" y="0"/>
                </a:lnTo>
                <a:arcTo wR="100" hR="100" stAng="16200000" swAng="5400000"/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12" name="TextBox 12"/>
          <p:cNvSpPr txBox="1"/>
          <p:nvPr/>
        </p:nvSpPr>
        <p:spPr>
          <a:xfrm>
            <a:off x="365760" y="617220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3 paths: plain/darken/lightenLess</a:t>
            </a:r>
            <a:endParaRPr lang="en-US" dirty="0"/>
          </a:p>
        </p:txBody>
      </p:sp>
      <p:sp>
        <p:nvSpPr>
          <p:cNvPr id="13" name="stroke=0 + fill=none + lighten"/>
          <p:cNvSpPr/>
          <p:nvPr/>
        </p:nvSpPr>
        <p:spPr>
          <a:xfrm>
            <a:off x="2537460" y="4160520"/>
            <a:ext cx="1897380" cy="1965960"/>
          </a:xfrm>
          <a:custGeom>
            <a:avLst/>
            <a:gdLst/>
            <a:ahLst/>
            <a:cxnLst/>
            <a:rect l="l" t="t" r="r" b="b"/>
            <a:pathLst>
              <a:path w="100" h="100" stroke="0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</a:path>
              <a:path w="100" h="100" fill="none">
                <a:moveTo>
                  <a:pt x="10" y="90"/>
                </a:moveTo>
                <a:lnTo>
                  <a:pt x="40" y="40"/>
                </a:lnTo>
                <a:lnTo>
                  <a:pt x="60" y="60"/>
                </a:lnTo>
                <a:lnTo>
                  <a:pt x="90" y="10"/>
                </a:lnTo>
              </a:path>
              <a:path w="100" h="100" fill="lighten" stroke="0">
                <a:moveTo>
                  <a:pt x="20" y="20"/>
                </a:moveTo>
                <a:lnTo>
                  <a:pt x="45" y="20"/>
                </a:lnTo>
                <a:lnTo>
                  <a:pt x="45" y="45"/>
                </a:lnTo>
                <a:lnTo>
                  <a:pt x="20" y="45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</p:sp>
      <p:sp>
        <p:nvSpPr>
          <p:cNvPr id="14" name="TextBox 14"/>
          <p:cNvSpPr txBox="1"/>
          <p:nvPr/>
        </p:nvSpPr>
        <p:spPr>
          <a:xfrm>
            <a:off x="2537460" y="617220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stroke=0 + fill=none + lighten</a:t>
            </a:r>
            <a:endParaRPr lang="en-US" dirty="0"/>
          </a:p>
        </p:txBody>
      </p:sp>
      <p:sp>
        <p:nvSpPr>
          <p:cNvPr id="15" name="guides, adj, text rect"/>
          <p:cNvSpPr/>
          <p:nvPr/>
        </p:nvSpPr>
        <p:spPr>
          <a:xfrm>
            <a:off x="4709160" y="4160520"/>
            <a:ext cx="1897380" cy="1965960"/>
          </a:xfrm>
          <a:custGeom>
            <a:avLst>
              <a:gd name="adj" fmla="val 30000"/>
            </a:avLst>
            <a:gdLst>
              <a:gd name="a" fmla="pin 0 adj 50000"/>
              <a:gd name="dx" fmla="*/ w a 100000"/>
              <a:gd name="x1" fmla="+- l dx 0"/>
              <a:gd name="x2" fmla="+- r 0 dx"/>
              <a:gd name="txL" fmla="+- x1 dx 0"/>
              <a:gd name="txR" fmla="+- x2 0 dx"/>
            </a:gdLst>
            <a:ahLst/>
            <a:cxnLst>
              <a:cxn ang="0">
                <a:pos x="x2" y="vc"/>
              </a:cxn>
              <a:cxn ang="10800000">
                <a:pos x="x1" y="vc"/>
              </a:cxn>
            </a:cxnLst>
            <a:rect l="txL" t="t" r="txR" b="b"/>
            <a:pathLst>
              <a:path>
                <a:moveTo>
                  <a:pt x="l" y="t"/>
                </a:moveTo>
                <a:lnTo>
                  <a:pt x="r" y="t"/>
                </a:lnTo>
                <a:lnTo>
                  <a:pt x="x2" y="vc"/>
                </a:lnTo>
                <a:lnTo>
                  <a:pt x="r" y="b"/>
                </a:lnTo>
                <a:lnTo>
                  <a:pt x="l" y="b"/>
                </a:lnTo>
                <a:lnTo>
                  <a:pt x="x1" y="vc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1F3864"/>
            </a:solidFill>
            <a:round/>
          </a:ln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text rect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4709160" y="6172200"/>
            <a:ext cx="189738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guides, adj, text rect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Freeform polyline (open path) and path scaling</a:t>
            </a:r>
          </a:p>
        </p:txBody>
      </p:sp>
      <p:sp>
        <p:nvSpPr>
          <p:cNvPr id="3" name="spiral freeform"/>
          <p:cNvSpPr/>
          <p:nvPr/>
        </p:nvSpPr>
        <p:spPr>
          <a:xfrm>
            <a:off x="457200" y="1463040"/>
            <a:ext cx="3840480" cy="3840480"/>
          </a:xfrm>
          <a:custGeom>
            <a:avLst/>
            <a:gdLst/>
            <a:ahLst/>
            <a:cxnLst/>
            <a:rect l="l" t="t" r="r" b="b"/>
            <a:pathLst>
              <a:path w="1000" h="1000" fill="none">
                <a:moveTo>
                  <a:pt x="950" y="500"/>
                </a:moveTo>
                <a:lnTo>
                  <a:pt x="938" y="573"/>
                </a:lnTo>
                <a:lnTo>
                  <a:pt x="914" y="643"/>
                </a:lnTo>
                <a:lnTo>
                  <a:pt x="880" y="707"/>
                </a:lnTo>
                <a:lnTo>
                  <a:pt x="835" y="764"/>
                </a:lnTo>
                <a:lnTo>
                  <a:pt x="783" y="812"/>
                </a:lnTo>
                <a:lnTo>
                  <a:pt x="724" y="850"/>
                </a:lnTo>
                <a:lnTo>
                  <a:pt x="661" y="877"/>
                </a:lnTo>
                <a:lnTo>
                  <a:pt x="595" y="893"/>
                </a:lnTo>
                <a:lnTo>
                  <a:pt x="528" y="898"/>
                </a:lnTo>
                <a:lnTo>
                  <a:pt x="462" y="891"/>
                </a:lnTo>
                <a:lnTo>
                  <a:pt x="399" y="874"/>
                </a:lnTo>
                <a:lnTo>
                  <a:pt x="340" y="847"/>
                </a:lnTo>
                <a:lnTo>
                  <a:pt x="288" y="811"/>
                </a:lnTo>
                <a:lnTo>
                  <a:pt x="243" y="768"/>
                </a:lnTo>
                <a:lnTo>
                  <a:pt x="207" y="718"/>
                </a:lnTo>
                <a:lnTo>
                  <a:pt x="179" y="664"/>
                </a:lnTo>
                <a:lnTo>
                  <a:pt x="162" y="607"/>
                </a:lnTo>
                <a:lnTo>
                  <a:pt x="154" y="549"/>
                </a:lnTo>
                <a:lnTo>
                  <a:pt x="156" y="491"/>
                </a:lnTo>
                <a:lnTo>
                  <a:pt x="168" y="435"/>
                </a:lnTo>
                <a:lnTo>
                  <a:pt x="189" y="383"/>
                </a:lnTo>
                <a:lnTo>
                  <a:pt x="217" y="336"/>
                </a:lnTo>
                <a:lnTo>
                  <a:pt x="253" y="295"/>
                </a:lnTo>
                <a:lnTo>
                  <a:pt x="294" y="261"/>
                </a:lnTo>
                <a:lnTo>
                  <a:pt x="339" y="235"/>
                </a:lnTo>
                <a:lnTo>
                  <a:pt x="387" y="217"/>
                </a:lnTo>
                <a:lnTo>
                  <a:pt x="437" y="208"/>
                </a:lnTo>
                <a:lnTo>
                  <a:pt x="486" y="207"/>
                </a:lnTo>
                <a:lnTo>
                  <a:pt x="534" y="215"/>
                </a:lnTo>
                <a:lnTo>
                  <a:pt x="579" y="230"/>
                </a:lnTo>
                <a:lnTo>
                  <a:pt x="620" y="252"/>
                </a:lnTo>
                <a:lnTo>
                  <a:pt x="657" y="280"/>
                </a:lnTo>
                <a:lnTo>
                  <a:pt x="687" y="313"/>
                </a:lnTo>
                <a:lnTo>
                  <a:pt x="711" y="350"/>
                </a:lnTo>
                <a:lnTo>
                  <a:pt x="727" y="389"/>
                </a:lnTo>
                <a:lnTo>
                  <a:pt x="737" y="430"/>
                </a:lnTo>
                <a:lnTo>
                  <a:pt x="740" y="471"/>
                </a:lnTo>
                <a:lnTo>
                  <a:pt x="735" y="511"/>
                </a:lnTo>
                <a:lnTo>
                  <a:pt x="725" y="549"/>
                </a:lnTo>
                <a:lnTo>
                  <a:pt x="708" y="584"/>
                </a:lnTo>
                <a:lnTo>
                  <a:pt x="687" y="614"/>
                </a:lnTo>
                <a:lnTo>
                  <a:pt x="661" y="640"/>
                </a:lnTo>
                <a:lnTo>
                  <a:pt x="632" y="660"/>
                </a:lnTo>
                <a:lnTo>
                  <a:pt x="600" y="675"/>
                </a:lnTo>
                <a:lnTo>
                  <a:pt x="568" y="684"/>
                </a:lnTo>
                <a:lnTo>
                  <a:pt x="535" y="687"/>
                </a:lnTo>
                <a:lnTo>
                  <a:pt x="503" y="685"/>
                </a:lnTo>
                <a:lnTo>
                  <a:pt x="473" y="678"/>
                </a:lnTo>
                <a:lnTo>
                  <a:pt x="446" y="665"/>
                </a:lnTo>
                <a:lnTo>
                  <a:pt x="422" y="649"/>
                </a:lnTo>
                <a:lnTo>
                  <a:pt x="401" y="630"/>
                </a:lnTo>
                <a:lnTo>
                  <a:pt x="385" y="608"/>
                </a:lnTo>
                <a:lnTo>
                  <a:pt x="373" y="584"/>
                </a:lnTo>
                <a:lnTo>
                  <a:pt x="366" y="560"/>
                </a:lnTo>
                <a:lnTo>
                  <a:pt x="364" y="535"/>
                </a:lnTo>
                <a:lnTo>
                  <a:pt x="365" y="512"/>
                </a:lnTo>
                <a:lnTo>
                  <a:pt x="370" y="490"/>
                </a:lnTo>
                <a:lnTo>
                  <a:pt x="379" y="470"/>
                </a:lnTo>
                <a:lnTo>
                  <a:pt x="391" y="453"/>
                </a:lnTo>
                <a:lnTo>
                  <a:pt x="405" y="438"/>
                </a:lnTo>
                <a:lnTo>
                  <a:pt x="421" y="427"/>
                </a:lnTo>
                <a:lnTo>
                  <a:pt x="437" y="420"/>
                </a:lnTo>
                <a:lnTo>
                  <a:pt x="454" y="415"/>
                </a:lnTo>
                <a:lnTo>
                  <a:pt x="470" y="414"/>
                </a:lnTo>
                <a:lnTo>
                  <a:pt x="486" y="416"/>
                </a:lnTo>
                <a:lnTo>
                  <a:pt x="500" y="421"/>
                </a:lnTo>
                <a:lnTo>
                  <a:pt x="512" y="427"/>
                </a:lnTo>
                <a:lnTo>
                  <a:pt x="522" y="436"/>
                </a:lnTo>
                <a:lnTo>
                  <a:pt x="529" y="445"/>
                </a:lnTo>
                <a:lnTo>
                  <a:pt x="534" y="455"/>
                </a:lnTo>
                <a:lnTo>
                  <a:pt x="537" y="466"/>
                </a:lnTo>
                <a:lnTo>
                  <a:pt x="537" y="475"/>
                </a:lnTo>
                <a:lnTo>
                  <a:pt x="536" y="484"/>
                </a:lnTo>
                <a:lnTo>
                  <a:pt x="532" y="492"/>
                </a:lnTo>
              </a:path>
            </a:pathLst>
          </a:custGeom>
          <a:ln w="31750" cap="rnd">
            <a:solidFill>
              <a:srgbClr val="C00000"/>
            </a:solidFill>
            <a:round/>
          </a:ln>
        </p:spPr>
      </p:sp>
      <p:sp>
        <p:nvSpPr>
          <p:cNvPr id="4" name="scaled house 0"/>
          <p:cNvSpPr/>
          <p:nvPr/>
        </p:nvSpPr>
        <p:spPr>
          <a:xfrm>
            <a:off x="4572000" y="1463040"/>
            <a:ext cx="1097280" cy="219456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50" y="0"/>
                </a:moveTo>
                <a:lnTo>
                  <a:pt x="100" y="45"/>
                </a:lnTo>
                <a:lnTo>
                  <a:pt x="85" y="45"/>
                </a:lnTo>
                <a:lnTo>
                  <a:pt x="85" y="100"/>
                </a:lnTo>
                <a:lnTo>
                  <a:pt x="15" y="100"/>
                </a:lnTo>
                <a:lnTo>
                  <a:pt x="15" y="45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C55A11"/>
              </a:gs>
            </a:gsLst>
            <a:lin ang="5400000"/>
          </a:gradFill>
          <a:ln w="12700">
            <a:solidFill>
              <a:srgbClr val="7F3F00"/>
            </a:solidFill>
          </a:ln>
        </p:spPr>
      </p:sp>
      <p:sp>
        <p:nvSpPr>
          <p:cNvPr id="5" name="scaled house 1"/>
          <p:cNvSpPr/>
          <p:nvPr/>
        </p:nvSpPr>
        <p:spPr>
          <a:xfrm>
            <a:off x="6035040" y="146304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50" y="0"/>
                </a:moveTo>
                <a:lnTo>
                  <a:pt x="100" y="45"/>
                </a:lnTo>
                <a:lnTo>
                  <a:pt x="85" y="45"/>
                </a:lnTo>
                <a:lnTo>
                  <a:pt x="85" y="100"/>
                </a:lnTo>
                <a:lnTo>
                  <a:pt x="15" y="100"/>
                </a:lnTo>
                <a:lnTo>
                  <a:pt x="15" y="45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C55A11"/>
              </a:gs>
            </a:gsLst>
            <a:lin ang="5400000"/>
          </a:gradFill>
          <a:ln w="12700">
            <a:solidFill>
              <a:srgbClr val="7F3F00"/>
            </a:solidFill>
          </a:ln>
        </p:spPr>
      </p:sp>
      <p:sp>
        <p:nvSpPr>
          <p:cNvPr id="6" name="scaled house 2"/>
          <p:cNvSpPr/>
          <p:nvPr/>
        </p:nvSpPr>
        <p:spPr>
          <a:xfrm>
            <a:off x="4572000" y="4206240"/>
            <a:ext cx="3291840" cy="73152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50" y="0"/>
                </a:moveTo>
                <a:lnTo>
                  <a:pt x="100" y="45"/>
                </a:lnTo>
                <a:lnTo>
                  <a:pt x="85" y="45"/>
                </a:lnTo>
                <a:lnTo>
                  <a:pt x="85" y="100"/>
                </a:lnTo>
                <a:lnTo>
                  <a:pt x="15" y="100"/>
                </a:lnTo>
                <a:lnTo>
                  <a:pt x="15" y="45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C55A11"/>
              </a:gs>
            </a:gsLst>
            <a:lin ang="5400000"/>
          </a:gradFill>
          <a:ln w="12700">
            <a:solidFill>
              <a:srgbClr val="7F3F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Shapes: custom geometry (custGeom paths)</dc:title>
  <dc:subject>pptx_engine test corpus</dc:subject>
  <dc:creator>pptx_engine corpus generator</dc:creator>
  <cp:keywords>shapes, custgeom, bezier, arcto</cp:keywords>
  <dc:description>custGeom with moveTo/lnTo/close, cubicBezTo, quadBezTo, arcTo, multiple sub-paths, fill=none and stroke=0 paths, path coordinate spaces differing from the shape size, guide formulas, connection sites, a custom text rectangle, darken/lighten path fills and an open freeform polyline.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