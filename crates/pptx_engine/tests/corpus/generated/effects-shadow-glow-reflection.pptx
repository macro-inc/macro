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Outer and inner shadows</a:t>
            </a:r>
          </a:p>
        </p:txBody>
      </p:sp>
      <p:sp>
        <p:nvSpPr>
          <p:cNvPr id="3" name="roundRect 3"/>
          <p:cNvSpPr/>
          <p:nvPr/>
        </p:nvSpPr>
        <p:spPr>
          <a:xfrm>
            <a:off x="457200" y="14630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blur 4 dist 3 dir 45</a:t>
            </a:r>
            <a:endParaRPr lang="en-US" dirty="0"/>
          </a:p>
        </p:txBody>
      </p:sp>
      <p:sp>
        <p:nvSpPr>
          <p:cNvPr id="4" name="roundRect 4"/>
          <p:cNvSpPr/>
          <p:nvPr/>
        </p:nvSpPr>
        <p:spPr>
          <a:xfrm>
            <a:off x="2617470" y="14630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outerShdw blurRad="0" dist="76200" dir="2700000">
              <a:srgbClr val="000000">
                <a:alpha val="6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blur 0 dist 6 dir 45</a:t>
            </a:r>
            <a:endParaRPr lang="en-US" dirty="0"/>
          </a:p>
        </p:txBody>
      </p:sp>
      <p:sp>
        <p:nvSpPr>
          <p:cNvPr id="5" name="roundRect 5"/>
          <p:cNvSpPr/>
          <p:nvPr/>
        </p:nvSpPr>
        <p:spPr>
          <a:xfrm>
            <a:off x="4777740" y="14630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outerShdw blurRad="152400" dist="101600" dir="5400000">
              <a:srgbClr val="000000">
                <a:alpha val="5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blur 12 dist 8 dir 90</a:t>
            </a:r>
            <a:endParaRPr lang="en-US" dirty="0"/>
          </a:p>
        </p:txBody>
      </p:sp>
      <p:sp>
        <p:nvSpPr>
          <p:cNvPr id="6" name="roundRect 6"/>
          <p:cNvSpPr/>
          <p:nvPr/>
        </p:nvSpPr>
        <p:spPr>
          <a:xfrm>
            <a:off x="6938010" y="14630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outerShdw blurRad="254000" dist="0" dir="0">
              <a:srgbClr val="0070C0">
                <a:alpha val="7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blur 20 dist 0 (halo)</a:t>
            </a:r>
            <a:endParaRPr lang="en-US" dirty="0"/>
          </a:p>
        </p:txBody>
      </p:sp>
      <p:sp>
        <p:nvSpPr>
          <p:cNvPr id="7" name="roundRect 7"/>
          <p:cNvSpPr/>
          <p:nvPr/>
        </p:nvSpPr>
        <p:spPr>
          <a:xfrm>
            <a:off x="457200" y="42062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outerShdw blurRad="76200" dist="76200" dir="13500000">
              <a:srgbClr val="C00000">
                <a:alpha val="6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dir 225 red</a:t>
            </a:r>
            <a:endParaRPr lang="en-US" dirty="0"/>
          </a:p>
        </p:txBody>
      </p:sp>
      <p:sp>
        <p:nvSpPr>
          <p:cNvPr id="8" name="roundRect 8"/>
          <p:cNvSpPr/>
          <p:nvPr/>
        </p:nvSpPr>
        <p:spPr>
          <a:xfrm>
            <a:off x="2617470" y="42062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outerShdw blurRad="101600" dist="76200" dir="3600000" sx="90000" sy="-30000" kx="-3600000" algn="bl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perspective sx/sy/kx</a:t>
            </a:r>
            <a:endParaRPr lang="en-US" dirty="0"/>
          </a:p>
        </p:txBody>
      </p:sp>
      <p:sp>
        <p:nvSpPr>
          <p:cNvPr id="9" name="roundRect 9"/>
          <p:cNvSpPr/>
          <p:nvPr/>
        </p:nvSpPr>
        <p:spPr>
          <a:xfrm>
            <a:off x="4777740" y="42062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innerShdw blurRad="101600" dist="63500" dir="2700000">
              <a:srgbClr val="000000">
                <a:alpha val="50000"/>
              </a:srgbClr>
            </a:innerShdw>
          </a:effectLst>
        </p:spPr>
        <p:txBody>
          <a:bodyPr anchor="ctr"/>
          <a:lstStyle/>
          <a:p>
            <a:pPr algn="ctr"/>
            <a:r>
              <a:rPr lang="en-US" sz="1100" dirty="0"/>
              <a:t>innerShdw</a:t>
            </a:r>
            <a:endParaRPr lang="en-US" dirty="0"/>
          </a:p>
        </p:txBody>
      </p:sp>
      <p:sp>
        <p:nvSpPr>
          <p:cNvPr id="10" name="roundRect 10"/>
          <p:cNvSpPr/>
          <p:nvPr/>
        </p:nvSpPr>
        <p:spPr>
          <a:xfrm>
            <a:off x="6938010" y="4206240"/>
            <a:ext cx="1748790" cy="20116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  <a:effectLst>
            <a:innerShdw blurRad="76200" dist="38100" dir="13500000">
              <a:srgbClr val="000000">
                <a:alpha val="50000"/>
              </a:srgbClr>
            </a:innerShdw>
            <a:outerShdw blurRad="63500" dist="50800" dir="270000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inner + outer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Glow and soft edges</a:t>
            </a:r>
          </a:p>
        </p:txBody>
      </p:sp>
      <p:sp>
        <p:nvSpPr>
          <p:cNvPr id="3" name="ellipse 3"/>
          <p:cNvSpPr/>
          <p:nvPr/>
        </p:nvSpPr>
        <p:spPr>
          <a:xfrm>
            <a:off x="640080" y="1645920"/>
            <a:ext cx="2103120" cy="1371600"/>
          </a:xfrm>
          <a:prstGeom prst="ellipse">
            <a:avLst/>
          </a:prstGeom>
          <a:solidFill>
            <a:srgbClr val="1F3864"/>
          </a:solidFill>
          <a:effectLst>
            <a:glow rad="50800">
              <a:srgbClr val="FFC000">
                <a:alpha val="60000"/>
              </a:srgbClr>
            </a:glow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glow 4pt</a:t>
            </a:r>
            <a:endParaRPr lang="en-US" dirty="0"/>
          </a:p>
        </p:txBody>
      </p:sp>
      <p:sp>
        <p:nvSpPr>
          <p:cNvPr id="4" name="ellipse 4"/>
          <p:cNvSpPr/>
          <p:nvPr/>
        </p:nvSpPr>
        <p:spPr>
          <a:xfrm>
            <a:off x="3474720" y="1645920"/>
            <a:ext cx="2103120" cy="1371600"/>
          </a:xfrm>
          <a:prstGeom prst="ellipse">
            <a:avLst/>
          </a:prstGeom>
          <a:solidFill>
            <a:srgbClr val="1F3864"/>
          </a:solidFill>
          <a:effectLst>
            <a:glow rad="127000">
              <a:srgbClr val="00B0F0">
                <a:alpha val="60000"/>
              </a:srgbClr>
            </a:glow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glow 10pt</a:t>
            </a:r>
            <a:endParaRPr lang="en-US" dirty="0"/>
          </a:p>
        </p:txBody>
      </p:sp>
      <p:sp>
        <p:nvSpPr>
          <p:cNvPr id="5" name="ellipse 5"/>
          <p:cNvSpPr/>
          <p:nvPr/>
        </p:nvSpPr>
        <p:spPr>
          <a:xfrm>
            <a:off x="6309360" y="1645920"/>
            <a:ext cx="2103120" cy="1371600"/>
          </a:xfrm>
          <a:prstGeom prst="ellipse">
            <a:avLst/>
          </a:prstGeom>
          <a:solidFill>
            <a:srgbClr val="1F3864"/>
          </a:solidFill>
          <a:effectLst>
            <a:glow rad="228600">
              <a:srgbClr val="FF00FF">
                <a:alpha val="60000"/>
              </a:srgbClr>
            </a:glow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glow 18pt</a:t>
            </a:r>
            <a:endParaRPr lang="en-US" dirty="0"/>
          </a:p>
        </p:txBody>
      </p:sp>
      <p:sp>
        <p:nvSpPr>
          <p:cNvPr id="6" name="rect 6"/>
          <p:cNvSpPr/>
          <p:nvPr/>
        </p:nvSpPr>
        <p:spPr>
          <a:xfrm>
            <a:off x="640080" y="3840480"/>
            <a:ext cx="2103120" cy="1371600"/>
          </a:xfrm>
          <a:prstGeom prst="rect">
            <a:avLst/>
          </a:prstGeom>
          <a:solidFill>
            <a:srgbClr val="C00000"/>
          </a:solidFill>
          <a:effectLst>
            <a:softEdge rad="31750"/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softEdge 2.5pt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3474720" y="3840480"/>
            <a:ext cx="2103120" cy="1371600"/>
          </a:xfrm>
          <a:prstGeom prst="rect">
            <a:avLst/>
          </a:prstGeom>
          <a:solidFill>
            <a:srgbClr val="C00000"/>
          </a:solidFill>
          <a:effectLst>
            <a:softEdge rad="127000"/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softEdge 10pt</a:t>
            </a:r>
            <a:endParaRPr lang="en-US" dirty="0"/>
          </a:p>
        </p:txBody>
      </p:sp>
      <p:sp>
        <p:nvSpPr>
          <p:cNvPr id="8" name="rect 8"/>
          <p:cNvSpPr/>
          <p:nvPr/>
        </p:nvSpPr>
        <p:spPr>
          <a:xfrm>
            <a:off x="6309360" y="3840480"/>
            <a:ext cx="2103120" cy="1371600"/>
          </a:xfrm>
          <a:prstGeom prst="rect">
            <a:avLst/>
          </a:prstGeom>
          <a:solidFill>
            <a:srgbClr val="C00000"/>
          </a:solidFill>
          <a:effectLst>
            <a:softEdge rad="317500"/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softEdge 25pt</a:t>
            </a:r>
            <a:endParaRPr lang="en-US" dirty="0"/>
          </a:p>
        </p:txBody>
      </p:sp>
      <p:pic>
        <p:nvPicPr>
          <p:cNvPr id="9" name="soft-edged picture" descr="soft-edged pictur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74720" y="5486400"/>
            <a:ext cx="1554480" cy="1170432"/>
          </a:xfrm>
          <a:prstGeom prst="rect">
            <a:avLst/>
          </a:prstGeom>
          <a:effectLst>
            <a:softEdge rad="1016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Reflections</a:t>
            </a:r>
          </a:p>
        </p:txBody>
      </p:sp>
      <p:sp>
        <p:nvSpPr>
          <p:cNvPr id="3" name="roundRect 3"/>
          <p:cNvSpPr/>
          <p:nvPr/>
        </p:nvSpPr>
        <p:spPr>
          <a:xfrm>
            <a:off x="731520" y="1828800"/>
            <a:ext cx="2194560" cy="1463040"/>
          </a:xfrm>
          <a:prstGeom prst="roundRect">
            <a:avLst/>
          </a:prstGeom>
          <a:gradFill>
            <a:gsLst>
              <a:gs pos="0">
                <a:srgbClr val="70AD47"/>
              </a:gs>
              <a:gs pos="100000">
                <a:srgbClr val="375623"/>
              </a:gs>
            </a:gsLst>
            <a:lin ang="5400000"/>
          </a:gradFill>
          <a:effectLst>
            <a:reflection blurRad="6350" stA="52000" endA="300" endPos="35000" dist="0" dir="5400000" sy="-100000" algn="bl" rotWithShape="0"/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tight</a:t>
            </a:r>
            <a:endParaRPr lang="en-US" dirty="0"/>
          </a:p>
        </p:txBody>
      </p:sp>
      <p:sp>
        <p:nvSpPr>
          <p:cNvPr id="4" name="roundRect 4"/>
          <p:cNvSpPr/>
          <p:nvPr/>
        </p:nvSpPr>
        <p:spPr>
          <a:xfrm>
            <a:off x="3474720" y="1828800"/>
            <a:ext cx="2194560" cy="1463040"/>
          </a:xfrm>
          <a:prstGeom prst="roundRect">
            <a:avLst/>
          </a:prstGeom>
          <a:gradFill>
            <a:gsLst>
              <a:gs pos="0">
                <a:srgbClr val="70AD47"/>
              </a:gs>
              <a:gs pos="100000">
                <a:srgbClr val="375623"/>
              </a:gs>
            </a:gsLst>
            <a:lin ang="5400000"/>
          </a:gradFill>
          <a:effectLst>
            <a:reflection blurRad="12700" stA="50000" endA="0" endPos="55000" dist="50800" dir="5400000" sy="-100000" algn="bl" rotWithShape="0"/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half, 4pt away</a:t>
            </a:r>
            <a:endParaRPr lang="en-US" dirty="0"/>
          </a:p>
        </p:txBody>
      </p:sp>
      <p:sp>
        <p:nvSpPr>
          <p:cNvPr id="5" name="roundRect 5"/>
          <p:cNvSpPr/>
          <p:nvPr/>
        </p:nvSpPr>
        <p:spPr>
          <a:xfrm>
            <a:off x="6217920" y="1828800"/>
            <a:ext cx="2194560" cy="1463040"/>
          </a:xfrm>
          <a:prstGeom prst="roundRect">
            <a:avLst/>
          </a:prstGeom>
          <a:gradFill>
            <a:gsLst>
              <a:gs pos="0">
                <a:srgbClr val="70AD47"/>
              </a:gs>
              <a:gs pos="100000">
                <a:srgbClr val="375623"/>
              </a:gs>
            </a:gsLst>
            <a:lin ang="5400000"/>
          </a:gradFill>
          <a:effectLst>
            <a:reflection blurRad="50800" stA="60000" endA="900" endPos="90000" dist="12700" dir="5400000" sy="-100000" algn="bl" rotWithShape="0"/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full, blurred</a:t>
            </a:r>
            <a:endParaRPr lang="en-US" dirty="0"/>
          </a:p>
        </p:txBody>
      </p:sp>
      <p:pic>
        <p:nvPicPr>
          <p:cNvPr id="6" name="reflected picture" descr="reflected pictur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91840" y="4389120"/>
            <a:ext cx="2194560" cy="1280160"/>
          </a:xfrm>
          <a:prstGeom prst="rect">
            <a:avLst/>
          </a:prstGeom>
          <a:effectLst>
            <a:reflection blurRad="6350" stA="50000" endA="300" endPos="40000" dist="254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Effects on text and pictures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>
                <a:solidFill>
                  <a:srgbClr val="2F5597"/>
                </a:solidFill>
                <a:effectLst>
                  <a:outerShdw blurRad="50800" dist="50800" dir="2700000">
                    <a:srgbClr val="000000">
                      <a:alpha val="45000"/>
                    </a:srgbClr>
                  </a:outerShdw>
                </a:effectLst>
              </a:rPr>
              <a:t>Shadowed heading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404040"/>
          </a:solidFill>
        </p:spPr>
        <p:txBody>
          <a:bodyPr wrap="square"/>
          <a:lstStyle/>
          <a:p>
            <a:pPr algn="ctr"/>
            <a:r>
              <a:rPr lang="en-US" sz="4000" b="1" dirty="0">
                <a:solidFill>
                  <a:srgbClr val="FFFFFF"/>
                </a:solidFill>
                <a:effectLst>
                  <a:glow rad="101600">
                    <a:srgbClr val="C00000">
                      <a:alpha val="80000"/>
                    </a:srgbClr>
                  </a:glow>
                </a:effectLst>
              </a:rPr>
              <a:t>Glowing heading</a:t>
            </a:r>
            <a:endParaRPr lang="en-US" dirty="0"/>
          </a:p>
        </p:txBody>
      </p:sp>
      <p:pic>
        <p:nvPicPr>
          <p:cNvPr id="5" name="picture effect 0" descr="picture effect 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0080" y="4114800"/>
            <a:ext cx="2194560" cy="1645920"/>
          </a:xfrm>
          <a:prstGeom prst="rect">
            <a:avLst/>
          </a:prstGeom>
          <a:ln w="38100">
            <a:solidFill>
              <a:srgbClr val="FFFFFF"/>
            </a:solidFill>
          </a:ln>
          <a:effectLst>
            <a:outerShdw blurRad="127000" dist="101600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effect 1" descr="picture effect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74720" y="4114800"/>
            <a:ext cx="2194560" cy="1645920"/>
          </a:xfrm>
          <a:prstGeom prst="rect">
            <a:avLst/>
          </a:prstGeom>
          <a:ln w="38100">
            <a:solidFill>
              <a:srgbClr val="FFFFFF"/>
            </a:solidFill>
          </a:ln>
          <a:effectLst>
            <a:glow rad="127000">
              <a:srgbClr val="FFC000">
                <a:alpha val="70000"/>
              </a:srgbClr>
            </a:glow>
          </a:effectLst>
        </p:spPr>
      </p:pic>
      <p:pic>
        <p:nvPicPr>
          <p:cNvPr id="7" name="picture effect 2" descr="picture effect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09360" y="4114800"/>
            <a:ext cx="2194560" cy="1645920"/>
          </a:xfrm>
          <a:prstGeom prst="rect">
            <a:avLst/>
          </a:prstGeom>
          <a:ln w="38100">
            <a:solidFill>
              <a:srgbClr val="FFFFFF"/>
            </a:solidFill>
          </a:ln>
          <a:effectLst>
            <a:innerShdw blurRad="152400" dist="76200" dir="2700000">
              <a:srgbClr val="000000">
                <a:alpha val="70000"/>
              </a:srgbClr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3D: bevels, extrusion, cameras, materials</a:t>
            </a:r>
          </a:p>
        </p:txBody>
      </p:sp>
      <p:sp>
        <p:nvSpPr>
          <p:cNvPr id="3" name="ellipse 3"/>
          <p:cNvSpPr/>
          <p:nvPr/>
        </p:nvSpPr>
        <p:spPr>
          <a:xfrm>
            <a:off x="640080" y="1554480"/>
            <a:ext cx="3108960" cy="1645920"/>
          </a:xfrm>
          <a:prstGeom prst="ellipse">
            <a:avLst/>
          </a:prstGeom>
          <a:solidFill>
            <a:srgbClr val="4472C4"/>
          </a:solidFill>
          <a:scene3d>
            <a:camera prst="orthographicFront"/>
            <a:lightRig rig="threePt" dir="t"/>
          </a:scene3d>
          <a:sp3d>
            <a:bevelT w="101600" h="63500"/>
          </a:sp3d>
        </p:spPr>
        <p:txBody>
          <a:bodyPr anchor="ctr"/>
          <a:lstStyle/>
          <a:p>
            <a:pPr algn="ctr"/>
            <a:r>
              <a:rPr lang="en-US" sz="1400" b="1" dirty="0"/>
              <a:t>bevel circle</a:t>
            </a:r>
            <a:endParaRPr lang="en-US" dirty="0"/>
          </a:p>
        </p:txBody>
      </p:sp>
      <p:sp>
        <p:nvSpPr>
          <p:cNvPr id="4" name="roundRect 4"/>
          <p:cNvSpPr/>
          <p:nvPr/>
        </p:nvSpPr>
        <p:spPr>
          <a:xfrm>
            <a:off x="4846320" y="1554480"/>
            <a:ext cx="3108960" cy="1645920"/>
          </a:xfrm>
          <a:prstGeom prst="roundRect">
            <a:avLst/>
          </a:prstGeom>
          <a:solidFill>
            <a:srgbClr val="ED7D31"/>
          </a:solidFill>
          <a:scene3d>
            <a:camera prst="orthographicFront"/>
            <a:lightRig rig="balanced" dir="t"/>
          </a:scene3d>
          <a:sp3d prstMaterial="softEdge">
            <a:bevelT w="152400" h="50800" prst="relaxedInset"/>
            <a:bevelB prst="softRound"/>
          </a:sp3d>
        </p:spPr>
        <p:txBody>
          <a:bodyPr anchor="ctr"/>
          <a:lstStyle/>
          <a:p>
            <a:pPr algn="ctr"/>
            <a:r>
              <a:rPr lang="en-US" sz="1400" b="1" dirty="0"/>
              <a:t>relaxedInset + softRound</a:t>
            </a:r>
            <a:endParaRPr lang="en-US" dirty="0"/>
          </a:p>
        </p:txBody>
      </p:sp>
      <p:sp>
        <p:nvSpPr>
          <p:cNvPr id="5" name="ellipse 5"/>
          <p:cNvSpPr/>
          <p:nvPr/>
        </p:nvSpPr>
        <p:spPr>
          <a:xfrm>
            <a:off x="640080" y="3931920"/>
            <a:ext cx="3108960" cy="1645920"/>
          </a:xfrm>
          <a:prstGeom prst="ellipse">
            <a:avLst/>
          </a:prstGeom>
          <a:solidFill>
            <a:srgbClr val="A5A5A5"/>
          </a:solidFill>
          <a:scene3d>
            <a:camera prst="isometricOffAxis1Right"/>
            <a:lightRig rig="threePt" dir="t"/>
          </a:scene3d>
          <a:sp3d extrusionH="381000">
            <a:extrusionClr>
              <a:srgbClr val="7F3F00"/>
            </a:extrusionClr>
          </a:sp3d>
        </p:spPr>
        <p:txBody>
          <a:bodyPr anchor="ctr"/>
          <a:lstStyle/>
          <a:p>
            <a:pPr algn="ctr"/>
            <a:r>
              <a:rPr lang="en-US" sz="1400" b="1" dirty="0"/>
              <a:t>extrusion iso</a:t>
            </a:r>
            <a:endParaRPr lang="en-US" dirty="0"/>
          </a:p>
        </p:txBody>
      </p:sp>
      <p:sp>
        <p:nvSpPr>
          <p:cNvPr id="6" name="roundRect 6"/>
          <p:cNvSpPr/>
          <p:nvPr/>
        </p:nvSpPr>
        <p:spPr>
          <a:xfrm>
            <a:off x="4846320" y="3931920"/>
            <a:ext cx="3108960" cy="1645920"/>
          </a:xfrm>
          <a:prstGeom prst="roundRect">
            <a:avLst/>
          </a:prstGeom>
          <a:solidFill>
            <a:srgbClr val="FFC000"/>
          </a:solidFill>
          <a:scene3d>
            <a:camera prst="perspectiveRelaxedModerately"/>
            <a:lightRig rig="flood" dir="t"/>
          </a:scene3d>
          <a:sp3d contourW="38100" extrusionH="190500">
            <a:bevelT prst="angle"/>
            <a:contourClr>
              <a:srgbClr val="002060"/>
            </a:contourClr>
          </a:sp3d>
        </p:spPr>
        <p:txBody>
          <a:bodyPr anchor="ctr"/>
          <a:lstStyle/>
          <a:p>
            <a:pPr algn="ctr"/>
            <a:r>
              <a:rPr lang="en-US" sz="1400" b="1" dirty="0"/>
              <a:t>perspective + contour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Default theme effect styles via effectRef 0-3</a:t>
            </a:r>
          </a:p>
        </p:txBody>
      </p:sp>
      <p:sp>
        <p:nvSpPr>
          <p:cNvPr id="3" name="effectRef 0"/>
          <p:cNvSpPr/>
          <p:nvPr/>
        </p:nvSpPr>
        <p:spPr>
          <a:xfrm>
            <a:off x="548640" y="2286000"/>
            <a:ext cx="1737360" cy="1737360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effectRef idx=0</a:t>
            </a:r>
            <a:endParaRPr lang="en-US" dirty="0"/>
          </a:p>
        </p:txBody>
      </p:sp>
      <p:sp>
        <p:nvSpPr>
          <p:cNvPr id="4" name="effectRef 1"/>
          <p:cNvSpPr/>
          <p:nvPr/>
        </p:nvSpPr>
        <p:spPr>
          <a:xfrm>
            <a:off x="2651760" y="2286000"/>
            <a:ext cx="1737360" cy="1737360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effectRef idx=1</a:t>
            </a:r>
            <a:endParaRPr lang="en-US" dirty="0"/>
          </a:p>
        </p:txBody>
      </p:sp>
      <p:sp>
        <p:nvSpPr>
          <p:cNvPr id="5" name="effectRef 2"/>
          <p:cNvSpPr/>
          <p:nvPr/>
        </p:nvSpPr>
        <p:spPr>
          <a:xfrm>
            <a:off x="4754880" y="2286000"/>
            <a:ext cx="1737360" cy="1737360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effectRef idx=2</a:t>
            </a:r>
            <a:endParaRPr lang="en-US" dirty="0"/>
          </a:p>
        </p:txBody>
      </p:sp>
      <p:sp>
        <p:nvSpPr>
          <p:cNvPr id="6" name="effectRef 3"/>
          <p:cNvSpPr/>
          <p:nvPr/>
        </p:nvSpPr>
        <p:spPr>
          <a:xfrm>
            <a:off x="6858000" y="2286000"/>
            <a:ext cx="1737360" cy="1737360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dirty="0"/>
              <a:t>effectRef idx=3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48640" y="4572000"/>
            <a:ext cx="8046720" cy="7315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200" dirty="0">
                <a:solidFill>
                  <a:srgbClr val="404040"/>
                </a:solidFill>
              </a:rPr>
              <a:t>fillRef 3 (gradient) / lnRef 1; effectRef 3 adds the theme's scene3d + bevel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6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Effects: shadows, glow, soft edges, reflection, 3D</dc:title>
  <dc:subject>pptx_engine test corpus</dc:subject>
  <dc:creator>pptx_engine corpus generator</dc:creator>
  <cp:keywords>effects, shadow, inner-shadow, glow, soft-edge, reflection, 3d, style-refs</cp:keywords>
  <dc:description>outerShdw with varied blur/distance/direction/alpha/scale/skew, innerShdw, glow radii and colors, softEdge, reflection variants, effects on text and pictures, 3D bevels/extrusion with cameras and light rigs, and the default theme's effect styles via effectRef.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